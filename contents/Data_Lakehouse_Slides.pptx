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jjFUkrm92QGx8G02DFf6a+mMbY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2" name="Google Shape;49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5" name="Google Shape;59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h7b99a9c04b46e204_1_23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h7b99a9c04b46e204_1_23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h7b99a9c04b46e204_1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4" name="Google Shape;694;h7b99a9c04b46e204_1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h7b99a9c04b46e204_1_6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9" name="Google Shape;759;h7b99a9c04b46e204_1_6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h7b99a9c04b46e204_1_1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2" name="Google Shape;812;h7b99a9c04b46e204_1_11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h7b99a9c04b46e204_1_18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7" name="Google Shape;877;h7b99a9c04b46e204_1_18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h7b99a9c04b46e204_1_22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1" name="Google Shape;921;h7b99a9c04b46e204_1_22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h7b99a9c04b46e204_1_5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6" name="Google Shape;926;h7b99a9c04b46e204_1_5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7" name="Google Shape;927;h7b99a9c04b46e204_1_5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h7b99a9c04b46e204_1_7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2" name="Google Shape;962;h7b99a9c04b46e204_1_7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3" name="Google Shape;963;h7b99a9c04b46e204_1_7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h7b99a9c04b46e204_1_5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2" name="Google Shape;1022;h7b99a9c04b46e204_1_5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3" name="Google Shape;1023;h7b99a9c04b46e204_1_5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h7b99a9c04b46e204_1_6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2" name="Google Shape;1072;h7b99a9c04b46e204_1_6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3" name="Google Shape;1073;h7b99a9c04b46e204_1_6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h7b99a9c04b46e204_1_6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9" name="Google Shape;1089;h7b99a9c04b46e204_1_6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0" name="Google Shape;1090;h7b99a9c04b46e204_1_6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h7b99a9c04b46e204_1_7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1" name="Google Shape;1141;h7b99a9c04b46e204_1_7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2" name="Google Shape;1142;h7b99a9c04b46e204_1_7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h7b99a9c04b46e204_1_7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6" name="Google Shape;1196;h7b99a9c04b46e204_1_7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7" name="Google Shape;1197;h7b99a9c04b46e204_1_7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h7b99a9c04b46e204_1_8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9" name="Google Shape;1239;h7b99a9c04b46e204_1_8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0" name="Google Shape;1240;h7b99a9c04b46e204_1_8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h7b99a9c04b46e204_1_8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2" name="Google Shape;1262;h7b99a9c04b46e204_1_8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3" name="Google Shape;1263;h7b99a9c04b46e204_1_8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h7b99a9c04b46e204_1_8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1" name="Google Shape;1281;h7b99a9c04b46e204_1_8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2" name="Google Shape;1282;h7b99a9c04b46e204_1_8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h7b99a9c04b46e204_1_9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0" name="Google Shape;1300;h7b99a9c04b46e204_1_9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1" name="Google Shape;1301;h7b99a9c04b46e204_1_9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11" Type="http://schemas.openxmlformats.org/officeDocument/2006/relationships/image" Target="../media/image21.png"/><Relationship Id="rId10" Type="http://schemas.openxmlformats.org/officeDocument/2006/relationships/image" Target="../media/image14.png"/><Relationship Id="rId9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10.png"/><Relationship Id="rId13" Type="http://schemas.openxmlformats.org/officeDocument/2006/relationships/image" Target="../media/image21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28.png"/><Relationship Id="rId13" Type="http://schemas.openxmlformats.org/officeDocument/2006/relationships/image" Target="../media/image37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46.png"/><Relationship Id="rId13" Type="http://schemas.openxmlformats.org/officeDocument/2006/relationships/image" Target="../media/image29.png"/><Relationship Id="rId1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41.png"/><Relationship Id="rId9" Type="http://schemas.openxmlformats.org/officeDocument/2006/relationships/image" Target="../media/image43.png"/><Relationship Id="rId15" Type="http://schemas.openxmlformats.org/officeDocument/2006/relationships/image" Target="../media/image30.png"/><Relationship Id="rId14" Type="http://schemas.openxmlformats.org/officeDocument/2006/relationships/image" Target="../media/image23.png"/><Relationship Id="rId17" Type="http://schemas.openxmlformats.org/officeDocument/2006/relationships/image" Target="../media/image34.png"/><Relationship Id="rId16" Type="http://schemas.openxmlformats.org/officeDocument/2006/relationships/image" Target="../media/image28.png"/><Relationship Id="rId5" Type="http://schemas.openxmlformats.org/officeDocument/2006/relationships/image" Target="../media/image42.png"/><Relationship Id="rId19" Type="http://schemas.openxmlformats.org/officeDocument/2006/relationships/image" Target="../media/image37.png"/><Relationship Id="rId6" Type="http://schemas.openxmlformats.org/officeDocument/2006/relationships/image" Target="../media/image40.png"/><Relationship Id="rId18" Type="http://schemas.openxmlformats.org/officeDocument/2006/relationships/image" Target="../media/image36.png"/><Relationship Id="rId7" Type="http://schemas.openxmlformats.org/officeDocument/2006/relationships/image" Target="../media/image39.png"/><Relationship Id="rId8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34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0.png"/><Relationship Id="rId4" Type="http://schemas.openxmlformats.org/officeDocument/2006/relationships/image" Target="../media/image54.png"/><Relationship Id="rId9" Type="http://schemas.openxmlformats.org/officeDocument/2006/relationships/image" Target="../media/image28.png"/><Relationship Id="rId5" Type="http://schemas.openxmlformats.org/officeDocument/2006/relationships/image" Target="../media/image38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Relationship Id="rId8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5" Type="http://schemas.openxmlformats.org/officeDocument/2006/relationships/image" Target="../media/image52.png"/><Relationship Id="rId6" Type="http://schemas.openxmlformats.org/officeDocument/2006/relationships/image" Target="../media/image45.png"/><Relationship Id="rId7" Type="http://schemas.openxmlformats.org/officeDocument/2006/relationships/image" Target="../media/image47.png"/><Relationship Id="rId8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3.png"/><Relationship Id="rId10" Type="http://schemas.openxmlformats.org/officeDocument/2006/relationships/image" Target="../media/image70.png"/><Relationship Id="rId13" Type="http://schemas.openxmlformats.org/officeDocument/2006/relationships/image" Target="../media/image58.png"/><Relationship Id="rId1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7.png"/><Relationship Id="rId4" Type="http://schemas.openxmlformats.org/officeDocument/2006/relationships/image" Target="../media/image61.png"/><Relationship Id="rId9" Type="http://schemas.openxmlformats.org/officeDocument/2006/relationships/image" Target="../media/image69.png"/><Relationship Id="rId14" Type="http://schemas.openxmlformats.org/officeDocument/2006/relationships/image" Target="../media/image71.png"/><Relationship Id="rId5" Type="http://schemas.openxmlformats.org/officeDocument/2006/relationships/image" Target="../media/image67.png"/><Relationship Id="rId6" Type="http://schemas.openxmlformats.org/officeDocument/2006/relationships/image" Target="../media/image56.png"/><Relationship Id="rId7" Type="http://schemas.openxmlformats.org/officeDocument/2006/relationships/image" Target="../media/image66.png"/><Relationship Id="rId8" Type="http://schemas.openxmlformats.org/officeDocument/2006/relationships/image" Target="../media/image6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5.png"/><Relationship Id="rId4" Type="http://schemas.openxmlformats.org/officeDocument/2006/relationships/image" Target="../media/image57.png"/><Relationship Id="rId5" Type="http://schemas.openxmlformats.org/officeDocument/2006/relationships/image" Target="../media/image62.png"/><Relationship Id="rId6" Type="http://schemas.openxmlformats.org/officeDocument/2006/relationships/image" Target="../media/image88.png"/><Relationship Id="rId7" Type="http://schemas.openxmlformats.org/officeDocument/2006/relationships/image" Target="../media/image60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78.png"/><Relationship Id="rId10" Type="http://schemas.openxmlformats.org/officeDocument/2006/relationships/image" Target="../media/image75.png"/><Relationship Id="rId13" Type="http://schemas.openxmlformats.org/officeDocument/2006/relationships/image" Target="../media/image98.png"/><Relationship Id="rId1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2.png"/><Relationship Id="rId4" Type="http://schemas.openxmlformats.org/officeDocument/2006/relationships/image" Target="../media/image64.png"/><Relationship Id="rId9" Type="http://schemas.openxmlformats.org/officeDocument/2006/relationships/image" Target="../media/image79.png"/><Relationship Id="rId15" Type="http://schemas.openxmlformats.org/officeDocument/2006/relationships/image" Target="../media/image60.png"/><Relationship Id="rId14" Type="http://schemas.openxmlformats.org/officeDocument/2006/relationships/image" Target="../media/image80.png"/><Relationship Id="rId16" Type="http://schemas.openxmlformats.org/officeDocument/2006/relationships/image" Target="../media/image77.png"/><Relationship Id="rId5" Type="http://schemas.openxmlformats.org/officeDocument/2006/relationships/image" Target="../media/image68.png"/><Relationship Id="rId6" Type="http://schemas.openxmlformats.org/officeDocument/2006/relationships/image" Target="../media/image74.png"/><Relationship Id="rId7" Type="http://schemas.openxmlformats.org/officeDocument/2006/relationships/image" Target="../media/image82.png"/><Relationship Id="rId8" Type="http://schemas.openxmlformats.org/officeDocument/2006/relationships/image" Target="../media/image8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56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7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6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5" Type="http://schemas.openxmlformats.org/officeDocument/2006/relationships/image" Target="../media/image26.png"/><Relationship Id="rId6" Type="http://schemas.openxmlformats.org/officeDocument/2006/relationships/image" Target="../media/image85.png"/><Relationship Id="rId7" Type="http://schemas.openxmlformats.org/officeDocument/2006/relationships/image" Target="../media/image89.png"/><Relationship Id="rId8" Type="http://schemas.openxmlformats.org/officeDocument/2006/relationships/image" Target="../media/image9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0.png"/><Relationship Id="rId4" Type="http://schemas.openxmlformats.org/officeDocument/2006/relationships/image" Target="../media/image102.png"/><Relationship Id="rId5" Type="http://schemas.openxmlformats.org/officeDocument/2006/relationships/image" Target="../media/image100.png"/><Relationship Id="rId6" Type="http://schemas.openxmlformats.org/officeDocument/2006/relationships/image" Target="../media/image9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7.png"/><Relationship Id="rId4" Type="http://schemas.openxmlformats.org/officeDocument/2006/relationships/image" Target="../media/image92.png"/><Relationship Id="rId5" Type="http://schemas.openxmlformats.org/officeDocument/2006/relationships/image" Target="../media/image9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6.png"/><Relationship Id="rId4" Type="http://schemas.openxmlformats.org/officeDocument/2006/relationships/image" Target="../media/image10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6.png"/><Relationship Id="rId4" Type="http://schemas.openxmlformats.org/officeDocument/2006/relationships/image" Target="../media/image94.png"/><Relationship Id="rId5" Type="http://schemas.openxmlformats.org/officeDocument/2006/relationships/image" Target="../media/image10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4.png"/><Relationship Id="rId4" Type="http://schemas.openxmlformats.org/officeDocument/2006/relationships/image" Target="../media/image10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29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"/>
          <p:cNvSpPr txBox="1"/>
          <p:nvPr/>
        </p:nvSpPr>
        <p:spPr>
          <a:xfrm>
            <a:off x="731520" y="5486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Data Lakehouse</a:t>
            </a:r>
            <a:endParaRPr b="0" i="0" sz="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731520" y="1234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 open, unified foundation for all your data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7F6F2"/>
          </a:solidFill>
          <a:ln cap="flat" cmpd="sng" w="12700">
            <a:solidFill>
              <a:srgbClr val="F7F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50392" y="1938528"/>
            <a:ext cx="7452360" cy="1280160"/>
          </a:xfrm>
          <a:prstGeom prst="triangle">
            <a:avLst>
              <a:gd fmla="val 50000" name="adj"/>
            </a:avLst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50392" y="3200400"/>
            <a:ext cx="7452360" cy="1965960"/>
          </a:xfrm>
          <a:prstGeom prst="rect">
            <a:avLst/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93776" y="2432304"/>
            <a:ext cx="1810512" cy="1499616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9050">
            <a:solidFill>
              <a:srgbClr val="8C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539496" y="2542032"/>
            <a:ext cx="17190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4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479"/>
                </a:solidFill>
                <a:latin typeface="Arial"/>
                <a:ea typeface="Arial"/>
                <a:cs typeface="Arial"/>
                <a:sym typeface="Arial"/>
              </a:rPr>
              <a:t>Data Science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4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479"/>
                </a:solidFill>
                <a:latin typeface="Arial"/>
                <a:ea typeface="Arial"/>
                <a:cs typeface="Arial"/>
                <a:sym typeface="Arial"/>
              </a:rPr>
              <a:t>and Artificial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4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479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rainCircuit icon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432" y="337413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2596896" y="1783080"/>
            <a:ext cx="1810512" cy="1499616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9050">
            <a:solidFill>
              <a:srgbClr val="8C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2642616" y="1892808"/>
            <a:ext cx="17190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4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479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4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479"/>
                </a:solidFill>
                <a:latin typeface="Arial"/>
                <a:ea typeface="Arial"/>
                <a:cs typeface="Arial"/>
                <a:sym typeface="Arial"/>
              </a:rPr>
              <a:t>Warehousing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base icon" id="24" name="Google Shape;2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3552" y="27249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4764024" y="1783080"/>
            <a:ext cx="1810512" cy="1499616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9050">
            <a:solidFill>
              <a:srgbClr val="8C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4809744" y="1892808"/>
            <a:ext cx="17190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4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479"/>
                </a:solidFill>
                <a:latin typeface="Arial"/>
                <a:ea typeface="Arial"/>
                <a:cs typeface="Arial"/>
                <a:sym typeface="Arial"/>
              </a:rPr>
              <a:t>Ingest, ETL,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4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479"/>
                </a:solidFill>
                <a:latin typeface="Arial"/>
                <a:ea typeface="Arial"/>
                <a:cs typeface="Arial"/>
                <a:sym typeface="Arial"/>
              </a:rPr>
              <a:t>Streaming, and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4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479"/>
                </a:solidFill>
                <a:latin typeface="Arial"/>
                <a:ea typeface="Arial"/>
                <a:cs typeface="Arial"/>
                <a:sym typeface="Arial"/>
              </a:rPr>
              <a:t>Orchestration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nSearch icon" id="27" name="Google Shape;2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0680" y="27249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/>
          <p:nvPr/>
        </p:nvSpPr>
        <p:spPr>
          <a:xfrm>
            <a:off x="6858000" y="2432304"/>
            <a:ext cx="1810512" cy="1499616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9050">
            <a:solidFill>
              <a:srgbClr val="8CA7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6903720" y="2542032"/>
            <a:ext cx="17190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4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479"/>
                </a:solidFill>
                <a:latin typeface="Arial"/>
                <a:ea typeface="Arial"/>
                <a:cs typeface="Arial"/>
                <a:sym typeface="Arial"/>
              </a:rPr>
              <a:t>Analytics and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4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479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47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479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Column icon" id="30" name="Google Shape;3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34656" y="337413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 txBox="1"/>
          <p:nvPr/>
        </p:nvSpPr>
        <p:spPr>
          <a:xfrm>
            <a:off x="2743200" y="3584448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Lakehouse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30936" y="4315968"/>
            <a:ext cx="7900416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locks icon" id="33" name="Google Shape;3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19856" y="447141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"/>
          <p:cNvSpPr txBox="1"/>
          <p:nvPr/>
        </p:nvSpPr>
        <p:spPr>
          <a:xfrm>
            <a:off x="3977640" y="4407408"/>
            <a:ext cx="2926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Unity Catalog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30936" y="5138928"/>
            <a:ext cx="7900416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iangle icon" id="36" name="Google Shape;36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91056" y="529437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"/>
          <p:cNvSpPr txBox="1"/>
          <p:nvPr/>
        </p:nvSpPr>
        <p:spPr>
          <a:xfrm>
            <a:off x="2103120" y="5230368"/>
            <a:ext cx="1828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DELTA LAKE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4160520" y="5230368"/>
            <a:ext cx="1737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ICEBERG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yers icon" id="39" name="Google Shape;39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63056" y="529437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"/>
          <p:cNvSpPr txBox="1"/>
          <p:nvPr/>
        </p:nvSpPr>
        <p:spPr>
          <a:xfrm>
            <a:off x="6629400" y="5230368"/>
            <a:ext cx="1645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Parquet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 txBox="1"/>
          <p:nvPr/>
        </p:nvSpPr>
        <p:spPr>
          <a:xfrm>
            <a:off x="1828800" y="594360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Open Data Lake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1828800" y="6309360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All Raw Data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(Logs, Texts, Audio, Video, Images)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9006840" y="1298448"/>
            <a:ext cx="246888" cy="246888"/>
          </a:xfrm>
          <a:prstGeom prst="ellipse">
            <a:avLst/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1"/>
          <p:cNvCxnSpPr/>
          <p:nvPr/>
        </p:nvCxnSpPr>
        <p:spPr>
          <a:xfrm>
            <a:off x="9130284" y="1572768"/>
            <a:ext cx="0" cy="1124712"/>
          </a:xfrm>
          <a:prstGeom prst="straightConnector1">
            <a:avLst/>
          </a:prstGeom>
          <a:noFill/>
          <a:ln cap="flat" cmpd="sng" w="12700">
            <a:solidFill>
              <a:srgbClr val="AAB7BE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5" name="Google Shape;45;p1"/>
          <p:cNvSpPr/>
          <p:nvPr/>
        </p:nvSpPr>
        <p:spPr>
          <a:xfrm>
            <a:off x="8842248" y="2697480"/>
            <a:ext cx="576072" cy="576072"/>
          </a:xfrm>
          <a:prstGeom prst="ellipse">
            <a:avLst/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955548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2020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9555480" y="169164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Databricks pioneered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lakehouse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9555480" y="274320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2023 and beyond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9555480" y="333756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74%</a:t>
            </a: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of global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enterprises have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adopted lakehouse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/>
          <p:nvPr/>
        </p:nvSpPr>
        <p:spPr>
          <a:xfrm>
            <a:off x="0" y="0"/>
            <a:ext cx="6007608" cy="6858000"/>
          </a:xfrm>
          <a:prstGeom prst="rect">
            <a:avLst/>
          </a:prstGeom>
          <a:solidFill>
            <a:srgbClr val="0F2029"/>
          </a:solidFill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731520" y="50292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Warehouses</a:t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868680" y="1463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Strengths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868680" y="1920240"/>
            <a:ext cx="48463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Purpose-built for BI and reporting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Meant to unify disparate systems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Houses structured, clean data with a standardized schema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868680" y="3749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Downsides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868680" y="4206240"/>
            <a:ext cx="48463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support for semi or unstructured data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Poor support for data science, AI and streaming use cases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Uses closed and proprietary formats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Expensive to scale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nSearch icon"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6760" y="777240"/>
            <a:ext cx="7315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ChartColumn icon" id="62" name="Google Shape;6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5480" y="7772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 txBox="1"/>
          <p:nvPr/>
        </p:nvSpPr>
        <p:spPr>
          <a:xfrm>
            <a:off x="8275320" y="155448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BI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9372600" y="155448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Reports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2"/>
          <p:cNvCxnSpPr/>
          <p:nvPr/>
        </p:nvCxnSpPr>
        <p:spPr>
          <a:xfrm rot="10800000">
            <a:off x="9326880" y="1874520"/>
            <a:ext cx="0" cy="411480"/>
          </a:xfrm>
          <a:prstGeom prst="straightConnector1">
            <a:avLst/>
          </a:prstGeom>
          <a:noFill/>
          <a:ln cap="flat" cmpd="sng" w="19050">
            <a:solidFill>
              <a:srgbClr val="2C5A7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Database icon" id="66" name="Google Shape;6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1896" y="2368296"/>
            <a:ext cx="658368" cy="658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67" name="Google Shape;6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97696" y="2368296"/>
            <a:ext cx="658368" cy="658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68" name="Google Shape;6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3496" y="2368296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 txBox="1"/>
          <p:nvPr/>
        </p:nvSpPr>
        <p:spPr>
          <a:xfrm>
            <a:off x="8229600" y="320040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Data Warehouses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70;p2"/>
          <p:cNvCxnSpPr/>
          <p:nvPr/>
        </p:nvCxnSpPr>
        <p:spPr>
          <a:xfrm rot="10800000">
            <a:off x="9326880" y="3566160"/>
            <a:ext cx="0" cy="411480"/>
          </a:xfrm>
          <a:prstGeom prst="straightConnector1">
            <a:avLst/>
          </a:prstGeom>
          <a:noFill/>
          <a:ln cap="flat" cmpd="sng" w="19050">
            <a:solidFill>
              <a:srgbClr val="2C5A7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Cpu icon" id="71" name="Google Shape;7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83980" y="404622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 txBox="1"/>
          <p:nvPr/>
        </p:nvSpPr>
        <p:spPr>
          <a:xfrm>
            <a:off x="8229600" y="480060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Transform from raw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2"/>
          <p:cNvCxnSpPr/>
          <p:nvPr/>
        </p:nvCxnSpPr>
        <p:spPr>
          <a:xfrm flipH="1" rot="10800000">
            <a:off x="8366760" y="5148072"/>
            <a:ext cx="731520" cy="338328"/>
          </a:xfrm>
          <a:prstGeom prst="straightConnector1">
            <a:avLst/>
          </a:prstGeom>
          <a:noFill/>
          <a:ln cap="flat" cmpd="sng" w="19050">
            <a:solidFill>
              <a:srgbClr val="2C5A7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" name="Google Shape;74;p2"/>
          <p:cNvCxnSpPr/>
          <p:nvPr/>
        </p:nvCxnSpPr>
        <p:spPr>
          <a:xfrm rot="10800000">
            <a:off x="9555480" y="5148072"/>
            <a:ext cx="731520" cy="338328"/>
          </a:xfrm>
          <a:prstGeom prst="straightConnector1">
            <a:avLst/>
          </a:prstGeom>
          <a:noFill/>
          <a:ln cap="flat" cmpd="sng" w="19050">
            <a:solidFill>
              <a:srgbClr val="2C5A7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Database icon" id="75" name="Google Shape;7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9560" y="55778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76" name="Google Shape;7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8200" y="55778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77" name="Google Shape;7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46920" y="55778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78" name="Google Shape;7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95560" y="55778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79" name="Google Shape;7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44200" y="55778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"/>
          <p:cNvSpPr txBox="1"/>
          <p:nvPr/>
        </p:nvSpPr>
        <p:spPr>
          <a:xfrm>
            <a:off x="7589520" y="612648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External Data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9509760" y="61264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Operational Data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>
            <a:off x="6163056" y="0"/>
            <a:ext cx="6028639" cy="6858000"/>
          </a:xfrm>
          <a:prstGeom prst="rect">
            <a:avLst/>
          </a:prstGeom>
          <a:solidFill>
            <a:srgbClr val="0F2029"/>
          </a:solidFill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1192769" y="502925"/>
            <a:ext cx="3043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Lakes</a:t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6766560" y="123444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Strengths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6766560" y="1691640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Store any kind of data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Inexpensive storage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Good starting point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Support for GenAI and streaming use cases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6766560" y="36118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Downsides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6766560" y="4069080"/>
            <a:ext cx="49377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Complex to set up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Poor BI performance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 become unreliable data swamps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Governance concerns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Warehouses still needed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Column icon" id="93" name="Google Shape;9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1207" y="1305215"/>
            <a:ext cx="566196" cy="566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inCircuit icon" id="94" name="Google Shape;9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48952" y="1305215"/>
            <a:ext cx="566196" cy="566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95" name="Google Shape;9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85805" y="1305215"/>
            <a:ext cx="566196" cy="56619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/>
          <p:nvPr/>
        </p:nvSpPr>
        <p:spPr>
          <a:xfrm>
            <a:off x="1131113" y="1942186"/>
            <a:ext cx="786384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Science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1838858" y="1942186"/>
            <a:ext cx="786384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Machine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3057754" y="1942186"/>
            <a:ext cx="1022299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Real-Time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3"/>
          <p:cNvCxnSpPr/>
          <p:nvPr/>
        </p:nvCxnSpPr>
        <p:spPr>
          <a:xfrm rot="10800000">
            <a:off x="1878178" y="2453335"/>
            <a:ext cx="0" cy="353873"/>
          </a:xfrm>
          <a:prstGeom prst="straightConnector1">
            <a:avLst/>
          </a:prstGeom>
          <a:noFill/>
          <a:ln cap="flat" cmpd="sng" w="19050">
            <a:solidFill>
              <a:srgbClr val="1B3A4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" name="Google Shape;100;p3"/>
          <p:cNvCxnSpPr/>
          <p:nvPr/>
        </p:nvCxnSpPr>
        <p:spPr>
          <a:xfrm rot="10800000">
            <a:off x="3568903" y="2453335"/>
            <a:ext cx="0" cy="353873"/>
          </a:xfrm>
          <a:prstGeom prst="straightConnector1">
            <a:avLst/>
          </a:prstGeom>
          <a:noFill/>
          <a:ln cap="flat" cmpd="sng" w="19050">
            <a:solidFill>
              <a:srgbClr val="1B3A4B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Settings icon" id="101" name="Google Shape;10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43964" y="2787548"/>
            <a:ext cx="668426" cy="668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pu icon" id="102" name="Google Shape;10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34690" y="2787548"/>
            <a:ext cx="668426" cy="668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1131113" y="3554273"/>
            <a:ext cx="1494130" cy="432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Data Prep and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3175711" y="3554273"/>
            <a:ext cx="786384" cy="235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ETL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3"/>
          <p:cNvCxnSpPr/>
          <p:nvPr/>
        </p:nvCxnSpPr>
        <p:spPr>
          <a:xfrm rot="10800000">
            <a:off x="1878178" y="4104742"/>
            <a:ext cx="0" cy="314554"/>
          </a:xfrm>
          <a:prstGeom prst="straightConnector1">
            <a:avLst/>
          </a:prstGeom>
          <a:noFill/>
          <a:ln cap="flat" cmpd="sng" w="19050">
            <a:solidFill>
              <a:srgbClr val="1B3A4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" name="Google Shape;106;p3"/>
          <p:cNvCxnSpPr/>
          <p:nvPr/>
        </p:nvCxnSpPr>
        <p:spPr>
          <a:xfrm rot="10800000">
            <a:off x="3568903" y="4104742"/>
            <a:ext cx="0" cy="314554"/>
          </a:xfrm>
          <a:prstGeom prst="straightConnector1">
            <a:avLst/>
          </a:prstGeom>
          <a:noFill/>
          <a:ln cap="flat" cmpd="sng" w="19050">
            <a:solidFill>
              <a:srgbClr val="1B3A4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" name="Google Shape;107;p3"/>
          <p:cNvSpPr txBox="1"/>
          <p:nvPr/>
        </p:nvSpPr>
        <p:spPr>
          <a:xfrm>
            <a:off x="895198" y="4458614"/>
            <a:ext cx="3696005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0  0  0  1  1  0  0  1  1  1  0  0  1  0  1  1  0  0  1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  1  1  0  0  1  1  0  1  0  1  1  0  0  1  0  1  1  0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0  1  0  1  0  0  1  0  0  1  0  1  1  0  1  0  0  1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1799539" y="4914717"/>
            <a:ext cx="1887322" cy="314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Data Lake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 rot="10800000">
            <a:off x="2743200" y="5205679"/>
            <a:ext cx="0" cy="196596"/>
          </a:xfrm>
          <a:prstGeom prst="straightConnector1">
            <a:avLst/>
          </a:prstGeom>
          <a:noFill/>
          <a:ln cap="flat" cmpd="sng" w="19050">
            <a:solidFill>
              <a:srgbClr val="1B3A4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" name="Google Shape;110;p3"/>
          <p:cNvCxnSpPr/>
          <p:nvPr/>
        </p:nvCxnSpPr>
        <p:spPr>
          <a:xfrm>
            <a:off x="895198" y="5402275"/>
            <a:ext cx="3696005" cy="0"/>
          </a:xfrm>
          <a:prstGeom prst="straightConnector1">
            <a:avLst/>
          </a:prstGeom>
          <a:noFill/>
          <a:ln cap="flat" cmpd="sng" w="19050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Database icon" id="111" name="Google Shape;11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6688" y="5555620"/>
            <a:ext cx="353873" cy="353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ra icon" id="112" name="Google Shape;112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74246" y="5555620"/>
            <a:ext cx="353873" cy="353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quarePlay icon" id="113" name="Google Shape;113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61804" y="5555620"/>
            <a:ext cx="353873" cy="353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olume2 icon" id="114" name="Google Shape;114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49362" y="5555620"/>
            <a:ext cx="353873" cy="353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 icon" id="115" name="Google Shape;115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36920" y="5555620"/>
            <a:ext cx="353873" cy="35387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855878" y="5992063"/>
            <a:ext cx="3774643" cy="432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Structured, Semi-Structured and Unstructured Data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/>
        </p:nvSpPr>
        <p:spPr>
          <a:xfrm>
            <a:off x="59436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Warehouses vs. Data Lakes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66928" y="1371600"/>
            <a:ext cx="4178808" cy="73152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Search icon" id="124" name="Google Shape;1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508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1280160" y="1444752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7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C5A70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7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C5A70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Column icon" id="126" name="Google Shape;1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1508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/>
        </p:nvSpPr>
        <p:spPr>
          <a:xfrm>
            <a:off x="3337560" y="1444752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7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C5A70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7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C5A70"/>
                </a:solidFill>
                <a:latin typeface="Arial"/>
                <a:ea typeface="Arial"/>
                <a:cs typeface="Arial"/>
                <a:sym typeface="Arial"/>
              </a:rPr>
              <a:t>Analytics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406640" y="1371600"/>
            <a:ext cx="4178808" cy="73152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etwork icon" id="129" name="Google Shape;12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3800" y="1508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8138160" y="1444752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7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C5A70"/>
                </a:solidFill>
                <a:latin typeface="Arial"/>
                <a:ea typeface="Arial"/>
                <a:cs typeface="Arial"/>
                <a:sym typeface="Arial"/>
              </a:rPr>
              <a:t>Data Science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7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C5A70"/>
                </a:solidFill>
                <a:latin typeface="Arial"/>
                <a:ea typeface="Arial"/>
                <a:cs typeface="Arial"/>
                <a:sym typeface="Arial"/>
              </a:rPr>
              <a:t>&amp; ML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nSearch icon" id="131" name="Google Shape;13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92640" y="1508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10287000" y="1444752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7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C5A7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7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C5A70"/>
                </a:solidFill>
                <a:latin typeface="Arial"/>
                <a:ea typeface="Arial"/>
                <a:cs typeface="Arial"/>
                <a:sym typeface="Arial"/>
              </a:rPr>
              <a:t>Streaming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66928" y="2779776"/>
            <a:ext cx="4178808" cy="713232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ieldCheck icon" id="134" name="Google Shape;13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688" y="29077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1664208" y="2834640"/>
            <a:ext cx="29260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7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5A70"/>
                </a:solidFill>
                <a:latin typeface="Arial"/>
                <a:ea typeface="Arial"/>
                <a:cs typeface="Arial"/>
                <a:sym typeface="Arial"/>
              </a:rPr>
              <a:t>Governance and Security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7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5A70"/>
                </a:solidFill>
                <a:latin typeface="Arial"/>
                <a:ea typeface="Arial"/>
                <a:cs typeface="Arial"/>
                <a:sym typeface="Arial"/>
              </a:rPr>
              <a:t>Table ACLs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406640" y="2779776"/>
            <a:ext cx="4178808" cy="713232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ieldCheck icon" id="137" name="Google Shape;13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72400" y="29077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 txBox="1"/>
          <p:nvPr/>
        </p:nvSpPr>
        <p:spPr>
          <a:xfrm>
            <a:off x="8503920" y="2834640"/>
            <a:ext cx="29260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7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5A70"/>
                </a:solidFill>
                <a:latin typeface="Arial"/>
                <a:ea typeface="Arial"/>
                <a:cs typeface="Arial"/>
                <a:sym typeface="Arial"/>
              </a:rPr>
              <a:t>Governance and Security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7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5A70"/>
                </a:solidFill>
                <a:latin typeface="Arial"/>
                <a:ea typeface="Arial"/>
                <a:cs typeface="Arial"/>
                <a:sym typeface="Arial"/>
              </a:rPr>
              <a:t>Files and Blobs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4"/>
          <p:cNvCxnSpPr/>
          <p:nvPr/>
        </p:nvCxnSpPr>
        <p:spPr>
          <a:xfrm rot="10800000">
            <a:off x="2651760" y="2194560"/>
            <a:ext cx="0" cy="566928"/>
          </a:xfrm>
          <a:prstGeom prst="straightConnector1">
            <a:avLst/>
          </a:prstGeom>
          <a:noFill/>
          <a:ln cap="flat" cmpd="sng" w="15875">
            <a:solidFill>
              <a:srgbClr val="7C98A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" name="Google Shape;140;p4"/>
          <p:cNvCxnSpPr/>
          <p:nvPr/>
        </p:nvCxnSpPr>
        <p:spPr>
          <a:xfrm rot="10800000">
            <a:off x="9509760" y="2194560"/>
            <a:ext cx="0" cy="566928"/>
          </a:xfrm>
          <a:prstGeom prst="straightConnector1">
            <a:avLst/>
          </a:prstGeom>
          <a:noFill/>
          <a:ln cap="flat" cmpd="sng" w="15875">
            <a:solidFill>
              <a:srgbClr val="7C98A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1" name="Google Shape;141;p4"/>
          <p:cNvCxnSpPr/>
          <p:nvPr/>
        </p:nvCxnSpPr>
        <p:spPr>
          <a:xfrm>
            <a:off x="2651760" y="3493008"/>
            <a:ext cx="0" cy="548640"/>
          </a:xfrm>
          <a:prstGeom prst="straightConnector1">
            <a:avLst/>
          </a:prstGeom>
          <a:noFill/>
          <a:ln cap="flat" cmpd="sng" w="15875">
            <a:solidFill>
              <a:srgbClr val="7C98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4"/>
          <p:cNvCxnSpPr/>
          <p:nvPr/>
        </p:nvCxnSpPr>
        <p:spPr>
          <a:xfrm>
            <a:off x="9509760" y="3493008"/>
            <a:ext cx="0" cy="548640"/>
          </a:xfrm>
          <a:prstGeom prst="straightConnector1">
            <a:avLst/>
          </a:prstGeom>
          <a:noFill/>
          <a:ln cap="flat" cmpd="sng" w="15875">
            <a:solidFill>
              <a:srgbClr val="7C9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4"/>
          <p:cNvSpPr/>
          <p:nvPr/>
        </p:nvSpPr>
        <p:spPr>
          <a:xfrm>
            <a:off x="2057400" y="4087368"/>
            <a:ext cx="1188720" cy="1371600"/>
          </a:xfrm>
          <a:prstGeom prst="roundRect">
            <a:avLst>
              <a:gd fmla="val 11538" name="adj"/>
            </a:avLst>
          </a:prstGeom>
          <a:solidFill>
            <a:srgbClr val="FAFAFA"/>
          </a:solidFill>
          <a:ln cap="flat" cmpd="sng" w="9525">
            <a:solidFill>
              <a:srgbClr val="F0F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base icon" id="144" name="Google Shape;14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94560" y="42976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/>
          <p:nvPr/>
        </p:nvSpPr>
        <p:spPr>
          <a:xfrm>
            <a:off x="8915400" y="4087368"/>
            <a:ext cx="1188720" cy="1371600"/>
          </a:xfrm>
          <a:prstGeom prst="roundRect">
            <a:avLst>
              <a:gd fmla="val 11538" name="adj"/>
            </a:avLst>
          </a:prstGeom>
          <a:solidFill>
            <a:srgbClr val="FAFAFA"/>
          </a:solidFill>
          <a:ln cap="flat" cmpd="sng" w="9525">
            <a:solidFill>
              <a:srgbClr val="F0F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aves icon" id="146" name="Google Shape;146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52560" y="42976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4"/>
          <p:cNvSpPr txBox="1"/>
          <p:nvPr/>
        </p:nvSpPr>
        <p:spPr>
          <a:xfrm>
            <a:off x="1097280" y="56235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Warehouse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1097280" y="60350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7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C5A70"/>
                </a:solidFill>
                <a:latin typeface="Arial"/>
                <a:ea typeface="Arial"/>
                <a:cs typeface="Arial"/>
                <a:sym typeface="Arial"/>
              </a:rPr>
              <a:t>Structured tables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7955280" y="56235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Lake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7680960" y="60350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7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C5A70"/>
                </a:solidFill>
                <a:latin typeface="Arial"/>
                <a:ea typeface="Arial"/>
                <a:cs typeface="Arial"/>
                <a:sym typeface="Arial"/>
              </a:rPr>
              <a:t>Unstructured files: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7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5A70"/>
                </a:solidFill>
                <a:latin typeface="Arial"/>
                <a:ea typeface="Arial"/>
                <a:cs typeface="Arial"/>
                <a:sym typeface="Arial"/>
              </a:rPr>
              <a:t>logs, text, images, video,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5029200" y="38862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A2A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CA2AE"/>
                </a:solidFill>
                <a:latin typeface="Arial"/>
                <a:ea typeface="Arial"/>
                <a:cs typeface="Arial"/>
                <a:sym typeface="Arial"/>
              </a:rPr>
              <a:t>Copy subsets of data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4"/>
          <p:cNvCxnSpPr/>
          <p:nvPr/>
        </p:nvCxnSpPr>
        <p:spPr>
          <a:xfrm rot="10800000">
            <a:off x="3429000" y="4251960"/>
            <a:ext cx="5349240" cy="960120"/>
          </a:xfrm>
          <a:prstGeom prst="straightConnector1">
            <a:avLst/>
          </a:prstGeom>
          <a:noFill/>
          <a:ln cap="flat" cmpd="sng" w="15875">
            <a:solidFill>
              <a:srgbClr val="A9BAC3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53" name="Google Shape;153;p4"/>
          <p:cNvCxnSpPr/>
          <p:nvPr/>
        </p:nvCxnSpPr>
        <p:spPr>
          <a:xfrm rot="10800000">
            <a:off x="3566160" y="4480560"/>
            <a:ext cx="5212080" cy="457200"/>
          </a:xfrm>
          <a:prstGeom prst="straightConnector1">
            <a:avLst/>
          </a:prstGeom>
          <a:noFill/>
          <a:ln cap="flat" cmpd="sng" w="15875">
            <a:solidFill>
              <a:srgbClr val="A9BAC3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54" name="Google Shape;154;p4"/>
          <p:cNvCxnSpPr/>
          <p:nvPr/>
        </p:nvCxnSpPr>
        <p:spPr>
          <a:xfrm flipH="1">
            <a:off x="3566160" y="4663440"/>
            <a:ext cx="5212080" cy="274320"/>
          </a:xfrm>
          <a:prstGeom prst="straightConnector1">
            <a:avLst/>
          </a:prstGeom>
          <a:noFill/>
          <a:ln cap="flat" cmpd="sng" w="15875">
            <a:solidFill>
              <a:srgbClr val="A9BAC3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55" name="Google Shape;155;p4"/>
          <p:cNvCxnSpPr/>
          <p:nvPr/>
        </p:nvCxnSpPr>
        <p:spPr>
          <a:xfrm flipH="1">
            <a:off x="3429000" y="4892040"/>
            <a:ext cx="5349240" cy="274320"/>
          </a:xfrm>
          <a:prstGeom prst="straightConnector1">
            <a:avLst/>
          </a:prstGeom>
          <a:noFill/>
          <a:ln cap="flat" cmpd="sng" w="15875">
            <a:solidFill>
              <a:srgbClr val="A9BAC3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56" name="Google Shape;156;p4"/>
          <p:cNvCxnSpPr/>
          <p:nvPr/>
        </p:nvCxnSpPr>
        <p:spPr>
          <a:xfrm flipH="1" rot="10800000">
            <a:off x="3429000" y="4206240"/>
            <a:ext cx="5349240" cy="365760"/>
          </a:xfrm>
          <a:prstGeom prst="straightConnector1">
            <a:avLst/>
          </a:prstGeom>
          <a:noFill/>
          <a:ln cap="flat" cmpd="sng" w="15875">
            <a:solidFill>
              <a:srgbClr val="A9BAC3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57" name="Google Shape;157;p4"/>
          <p:cNvCxnSpPr/>
          <p:nvPr/>
        </p:nvCxnSpPr>
        <p:spPr>
          <a:xfrm flipH="1" rot="10800000">
            <a:off x="3429000" y="4572000"/>
            <a:ext cx="5349240" cy="182880"/>
          </a:xfrm>
          <a:prstGeom prst="straightConnector1">
            <a:avLst/>
          </a:prstGeom>
          <a:noFill/>
          <a:ln cap="flat" cmpd="sng" w="15875">
            <a:solidFill>
              <a:srgbClr val="A9BAC3"/>
            </a:solidFill>
            <a:prstDash val="dash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/>
        </p:nvSpPr>
        <p:spPr>
          <a:xfrm>
            <a:off x="594360" y="36576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Lakehouse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43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8432A"/>
                </a:solidFill>
                <a:latin typeface="Arial"/>
                <a:ea typeface="Arial"/>
                <a:cs typeface="Arial"/>
                <a:sym typeface="Arial"/>
              </a:rPr>
              <a:t>One platform to unify all your data, analytics, and AI workloads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365760" y="17373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Warehouses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8595360" y="17373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Lakes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nSearch icon" id="167" name="Google Shape;16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4303" y="2194560"/>
            <a:ext cx="541325" cy="54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ChartColumn icon" id="168" name="Google Shape;1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3956" y="2194560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"/>
          <p:cNvSpPr txBox="1"/>
          <p:nvPr/>
        </p:nvSpPr>
        <p:spPr>
          <a:xfrm>
            <a:off x="986638" y="2769718"/>
            <a:ext cx="676656" cy="21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BI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1798625" y="2769718"/>
            <a:ext cx="811987" cy="21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Reports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5"/>
          <p:cNvCxnSpPr/>
          <p:nvPr/>
        </p:nvCxnSpPr>
        <p:spPr>
          <a:xfrm rot="10800000">
            <a:off x="1764792" y="3006547"/>
            <a:ext cx="0" cy="304495"/>
          </a:xfrm>
          <a:prstGeom prst="straightConnector1">
            <a:avLst/>
          </a:prstGeom>
          <a:noFill/>
          <a:ln cap="flat" cmpd="sng" w="19050">
            <a:solidFill>
              <a:srgbClr val="2C5A7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Database icon" id="172" name="Google Shape;17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3704" y="3371941"/>
            <a:ext cx="487192" cy="487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173" name="Google Shape;17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1196" y="3371941"/>
            <a:ext cx="487192" cy="487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174" name="Google Shape;17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8688" y="3371941"/>
            <a:ext cx="487192" cy="4871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5"/>
          <p:cNvSpPr txBox="1"/>
          <p:nvPr/>
        </p:nvSpPr>
        <p:spPr>
          <a:xfrm>
            <a:off x="952805" y="3987698"/>
            <a:ext cx="1623974" cy="21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Data Warehouses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5"/>
          <p:cNvCxnSpPr/>
          <p:nvPr/>
        </p:nvCxnSpPr>
        <p:spPr>
          <a:xfrm rot="10800000">
            <a:off x="1764792" y="4258361"/>
            <a:ext cx="0" cy="304495"/>
          </a:xfrm>
          <a:prstGeom prst="straightConnector1">
            <a:avLst/>
          </a:prstGeom>
          <a:noFill/>
          <a:ln cap="flat" cmpd="sng" w="19050">
            <a:solidFill>
              <a:srgbClr val="2C5A7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Cpu icon" id="177" name="Google Shape;17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11046" y="4613605"/>
            <a:ext cx="507492" cy="5074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5"/>
          <p:cNvSpPr txBox="1"/>
          <p:nvPr/>
        </p:nvSpPr>
        <p:spPr>
          <a:xfrm>
            <a:off x="952805" y="5171846"/>
            <a:ext cx="1623974" cy="21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Transform from raw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5"/>
          <p:cNvCxnSpPr/>
          <p:nvPr/>
        </p:nvCxnSpPr>
        <p:spPr>
          <a:xfrm flipH="1" rot="10800000">
            <a:off x="1054303" y="5428976"/>
            <a:ext cx="541325" cy="250363"/>
          </a:xfrm>
          <a:prstGeom prst="straightConnector1">
            <a:avLst/>
          </a:prstGeom>
          <a:noFill/>
          <a:ln cap="flat" cmpd="sng" w="19050">
            <a:solidFill>
              <a:srgbClr val="2C5A7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" name="Google Shape;180;p5"/>
          <p:cNvCxnSpPr/>
          <p:nvPr/>
        </p:nvCxnSpPr>
        <p:spPr>
          <a:xfrm rot="10800000">
            <a:off x="1933956" y="5428976"/>
            <a:ext cx="541325" cy="250363"/>
          </a:xfrm>
          <a:prstGeom prst="straightConnector1">
            <a:avLst/>
          </a:prstGeom>
          <a:noFill/>
          <a:ln cap="flat" cmpd="sng" w="19050">
            <a:solidFill>
              <a:srgbClr val="2C5A7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Database icon" id="181" name="Google Shape;18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5975" y="5747004"/>
            <a:ext cx="338328" cy="338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182" name="Google Shape;18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1969" y="5747004"/>
            <a:ext cx="338328" cy="338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183" name="Google Shape;18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1622" y="5747004"/>
            <a:ext cx="338328" cy="338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184" name="Google Shape;18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07615" y="5747004"/>
            <a:ext cx="338328" cy="338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185" name="Google Shape;18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13609" y="5747004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"/>
          <p:cNvSpPr txBox="1"/>
          <p:nvPr/>
        </p:nvSpPr>
        <p:spPr>
          <a:xfrm>
            <a:off x="479146" y="6152998"/>
            <a:ext cx="1217981" cy="21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External Data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1900123" y="6152998"/>
            <a:ext cx="1353312" cy="21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Operational Data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Column icon" id="188" name="Google Shape;18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46637" y="2253813"/>
            <a:ext cx="474025" cy="474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inCircuit icon" id="189" name="Google Shape;18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39168" y="2253813"/>
            <a:ext cx="474025" cy="474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190" name="Google Shape;19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58394" y="2253813"/>
            <a:ext cx="474025" cy="47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5"/>
          <p:cNvSpPr txBox="1"/>
          <p:nvPr/>
        </p:nvSpPr>
        <p:spPr>
          <a:xfrm>
            <a:off x="8754466" y="2787091"/>
            <a:ext cx="658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Science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9346997" y="2787091"/>
            <a:ext cx="658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Machine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10367467" y="2787091"/>
            <a:ext cx="85587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Real-Time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5"/>
          <p:cNvCxnSpPr/>
          <p:nvPr/>
        </p:nvCxnSpPr>
        <p:spPr>
          <a:xfrm rot="10800000">
            <a:off x="9379915" y="3215030"/>
            <a:ext cx="0" cy="296266"/>
          </a:xfrm>
          <a:prstGeom prst="straightConnector1">
            <a:avLst/>
          </a:prstGeom>
          <a:noFill/>
          <a:ln cap="flat" cmpd="sng" w="19050">
            <a:solidFill>
              <a:srgbClr val="1B3A4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" name="Google Shape;195;p5"/>
          <p:cNvCxnSpPr/>
          <p:nvPr/>
        </p:nvCxnSpPr>
        <p:spPr>
          <a:xfrm rot="10800000">
            <a:off x="10795406" y="3215030"/>
            <a:ext cx="0" cy="296266"/>
          </a:xfrm>
          <a:prstGeom prst="straightConnector1">
            <a:avLst/>
          </a:prstGeom>
          <a:noFill/>
          <a:ln cap="flat" cmpd="sng" w="19050">
            <a:solidFill>
              <a:srgbClr val="1B3A4B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Settings icon" id="196" name="Google Shape;196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00109" y="3494837"/>
            <a:ext cx="559613" cy="5596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pu icon" id="197" name="Google Shape;19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00" y="3494837"/>
            <a:ext cx="559613" cy="55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/>
          <p:nvPr/>
        </p:nvSpPr>
        <p:spPr>
          <a:xfrm>
            <a:off x="8754466" y="4136746"/>
            <a:ext cx="1250899" cy="362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Data Prep and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10466222" y="4136746"/>
            <a:ext cx="658368" cy="1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ETL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5"/>
          <p:cNvCxnSpPr/>
          <p:nvPr/>
        </p:nvCxnSpPr>
        <p:spPr>
          <a:xfrm rot="10800000">
            <a:off x="9379915" y="4597603"/>
            <a:ext cx="0" cy="263347"/>
          </a:xfrm>
          <a:prstGeom prst="straightConnector1">
            <a:avLst/>
          </a:prstGeom>
          <a:noFill/>
          <a:ln cap="flat" cmpd="sng" w="19050">
            <a:solidFill>
              <a:srgbClr val="1B3A4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" name="Google Shape;201;p5"/>
          <p:cNvCxnSpPr/>
          <p:nvPr/>
        </p:nvCxnSpPr>
        <p:spPr>
          <a:xfrm rot="10800000">
            <a:off x="10795406" y="4597603"/>
            <a:ext cx="0" cy="263347"/>
          </a:xfrm>
          <a:prstGeom prst="straightConnector1">
            <a:avLst/>
          </a:prstGeom>
          <a:noFill/>
          <a:ln cap="flat" cmpd="sng" w="19050">
            <a:solidFill>
              <a:srgbClr val="1B3A4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2" name="Google Shape;202;p5"/>
          <p:cNvSpPr txBox="1"/>
          <p:nvPr/>
        </p:nvSpPr>
        <p:spPr>
          <a:xfrm>
            <a:off x="8556955" y="4893869"/>
            <a:ext cx="309433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0  0  0  1  1  0  0  1  1  1  0  0  1  0  1  1  0  0  1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  1  1  0  0  1  1  0  1  0  1  1  0  0  1  0  1  1  0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0  1  0  1  0  0  1  0  0  1  0  1  1  0  1  0  0  1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9314078" y="5275722"/>
            <a:ext cx="1580083" cy="263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Data Lake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5"/>
          <p:cNvCxnSpPr/>
          <p:nvPr/>
        </p:nvCxnSpPr>
        <p:spPr>
          <a:xfrm rot="10800000">
            <a:off x="10104120" y="551931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1B3A4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" name="Google Shape;205;p5"/>
          <p:cNvCxnSpPr/>
          <p:nvPr/>
        </p:nvCxnSpPr>
        <p:spPr>
          <a:xfrm>
            <a:off x="8556955" y="5683910"/>
            <a:ext cx="3094330" cy="0"/>
          </a:xfrm>
          <a:prstGeom prst="straightConnector1">
            <a:avLst/>
          </a:prstGeom>
          <a:noFill/>
          <a:ln cap="flat" cmpd="sng" w="19050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Database icon" id="206" name="Google Shape;20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68435" y="5812292"/>
            <a:ext cx="296266" cy="296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era icon" id="207" name="Google Shape;20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76623" y="5812292"/>
            <a:ext cx="296266" cy="296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quarePlay icon" id="208" name="Google Shape;20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84812" y="5812292"/>
            <a:ext cx="296266" cy="296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olume2 icon" id="209" name="Google Shape;20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193000" y="5812292"/>
            <a:ext cx="296266" cy="296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 icon" id="210" name="Google Shape;210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601188" y="5812292"/>
            <a:ext cx="296266" cy="29626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5"/>
          <p:cNvSpPr txBox="1"/>
          <p:nvPr/>
        </p:nvSpPr>
        <p:spPr>
          <a:xfrm>
            <a:off x="8524037" y="6177686"/>
            <a:ext cx="3160166" cy="362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Structured, Semi-Structured and Unstructured Data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3520440" y="3520440"/>
            <a:ext cx="594360" cy="1097280"/>
          </a:xfrm>
          <a:prstGeom prst="chevron">
            <a:avLst>
              <a:gd fmla="val 50000" name="adj"/>
            </a:avLst>
          </a:prstGeom>
          <a:solidFill>
            <a:srgbClr val="7A98A8"/>
          </a:solidFill>
          <a:ln cap="flat" cmpd="sng" w="12700">
            <a:solidFill>
              <a:srgbClr val="7A9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 flipH="1">
            <a:off x="8092440" y="3520440"/>
            <a:ext cx="594360" cy="1097280"/>
          </a:xfrm>
          <a:prstGeom prst="chevron">
            <a:avLst>
              <a:gd fmla="val 50000" name="adj"/>
            </a:avLst>
          </a:prstGeom>
          <a:solidFill>
            <a:srgbClr val="7A98A8"/>
          </a:solidFill>
          <a:ln cap="flat" cmpd="sng" w="12700">
            <a:solidFill>
              <a:srgbClr val="7A9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4343400" y="1874520"/>
            <a:ext cx="3520440" cy="960120"/>
          </a:xfrm>
          <a:prstGeom prst="triangle">
            <a:avLst>
              <a:gd fmla="val 50000" name="adj"/>
            </a:avLst>
          </a:prstGeom>
          <a:solidFill>
            <a:srgbClr val="0F2029"/>
          </a:solidFill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4343400" y="2834640"/>
            <a:ext cx="3520440" cy="3246120"/>
          </a:xfrm>
          <a:prstGeom prst="rect">
            <a:avLst/>
          </a:prstGeom>
          <a:solidFill>
            <a:srgbClr val="0F2029"/>
          </a:solidFill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4343400" y="288036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Lakehouse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4480560" y="3474720"/>
            <a:ext cx="3246120" cy="749808"/>
          </a:xfrm>
          <a:prstGeom prst="rect">
            <a:avLst/>
          </a:prstGeom>
          <a:solidFill>
            <a:srgbClr val="2C5A70"/>
          </a:solidFill>
          <a:ln cap="flat" cmpd="sng" w="12700">
            <a:solidFill>
              <a:srgbClr val="4A7A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4553712" y="3474720"/>
            <a:ext cx="309981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machine learning, SQL, BI, and streaming use cases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4480560" y="4343400"/>
            <a:ext cx="3246120" cy="749808"/>
          </a:xfrm>
          <a:prstGeom prst="rect">
            <a:avLst/>
          </a:prstGeom>
          <a:solidFill>
            <a:srgbClr val="2C5A70"/>
          </a:solidFill>
          <a:ln cap="flat" cmpd="sng" w="12700">
            <a:solidFill>
              <a:srgbClr val="4A7A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4553712" y="4343400"/>
            <a:ext cx="309981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security and governance approach for all data assets on all clouds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4480560" y="5212080"/>
            <a:ext cx="3246120" cy="749808"/>
          </a:xfrm>
          <a:prstGeom prst="rect">
            <a:avLst/>
          </a:prstGeom>
          <a:solidFill>
            <a:srgbClr val="2C5A70"/>
          </a:solidFill>
          <a:ln cap="flat" cmpd="sng" w="12700">
            <a:solidFill>
              <a:srgbClr val="4A7A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4553712" y="5212080"/>
            <a:ext cx="309981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 open data platform to efficiently handle all data types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"/>
          <p:cNvSpPr txBox="1"/>
          <p:nvPr/>
        </p:nvSpPr>
        <p:spPr>
          <a:xfrm>
            <a:off x="685800" y="3200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The Data Lakehouse Solution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685800" y="10515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432A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8432A"/>
                </a:solidFill>
                <a:latin typeface="Arial"/>
                <a:ea typeface="Arial"/>
                <a:cs typeface="Arial"/>
                <a:sym typeface="Arial"/>
              </a:rPr>
              <a:t>A simplified solution for the challenges of a modern data ecosystem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0" y="5257800"/>
            <a:ext cx="12191695" cy="1600200"/>
          </a:xfrm>
          <a:prstGeom prst="rect">
            <a:avLst/>
          </a:prstGeom>
          <a:solidFill>
            <a:srgbClr val="DCE3EA"/>
          </a:solidFill>
          <a:ln cap="flat" cmpd="sng" w="12700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base icon" id="231" name="Google Shape;2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0" y="461772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232" name="Google Shape;2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900" y="427482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233" name="Google Shape;2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9920" y="52120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234" name="Google Shape;2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553212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235" name="Google Shape;2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" y="589788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236" name="Google Shape;2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7840" y="58064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6"/>
          <p:cNvSpPr/>
          <p:nvPr/>
        </p:nvSpPr>
        <p:spPr>
          <a:xfrm>
            <a:off x="10506456" y="4791456"/>
            <a:ext cx="475488" cy="475488"/>
          </a:xfrm>
          <a:prstGeom prst="ellipse">
            <a:avLst/>
          </a:prstGeom>
          <a:solidFill>
            <a:srgbClr val="F4F6F8"/>
          </a:solidFill>
          <a:ln cap="flat" cmpd="sng" w="12700">
            <a:solidFill>
              <a:srgbClr val="F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il icon" id="238" name="Google Shape;23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6184" y="4901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6"/>
          <p:cNvSpPr/>
          <p:nvPr/>
        </p:nvSpPr>
        <p:spPr>
          <a:xfrm>
            <a:off x="9546336" y="5294376"/>
            <a:ext cx="475488" cy="475488"/>
          </a:xfrm>
          <a:prstGeom prst="ellipse">
            <a:avLst/>
          </a:prstGeom>
          <a:solidFill>
            <a:srgbClr val="F4F6F8"/>
          </a:solidFill>
          <a:ln cap="flat" cmpd="sng" w="12700">
            <a:solidFill>
              <a:srgbClr val="F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 icon" id="240" name="Google Shape;24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56064" y="54041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6"/>
          <p:cNvSpPr/>
          <p:nvPr/>
        </p:nvSpPr>
        <p:spPr>
          <a:xfrm>
            <a:off x="8860536" y="4745736"/>
            <a:ext cx="475488" cy="475488"/>
          </a:xfrm>
          <a:prstGeom prst="ellipse">
            <a:avLst/>
          </a:prstGeom>
          <a:solidFill>
            <a:srgbClr val="F4F6F8"/>
          </a:solidFill>
          <a:ln cap="flat" cmpd="sng" w="12700">
            <a:solidFill>
              <a:srgbClr val="F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 icon" id="242" name="Google Shape;24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70264" y="48554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6"/>
          <p:cNvSpPr/>
          <p:nvPr/>
        </p:nvSpPr>
        <p:spPr>
          <a:xfrm>
            <a:off x="173736" y="5614416"/>
            <a:ext cx="475488" cy="475488"/>
          </a:xfrm>
          <a:prstGeom prst="ellipse">
            <a:avLst/>
          </a:prstGeom>
          <a:solidFill>
            <a:srgbClr val="F4F6F8"/>
          </a:solidFill>
          <a:ln cap="flat" cmpd="sng" w="12700">
            <a:solidFill>
              <a:srgbClr val="F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il icon" id="244" name="Google Shape;2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464" y="57241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6"/>
          <p:cNvSpPr/>
          <p:nvPr/>
        </p:nvSpPr>
        <p:spPr>
          <a:xfrm>
            <a:off x="1408176" y="6117336"/>
            <a:ext cx="475488" cy="475488"/>
          </a:xfrm>
          <a:prstGeom prst="ellipse">
            <a:avLst/>
          </a:prstGeom>
          <a:solidFill>
            <a:srgbClr val="F4F6F8"/>
          </a:solidFill>
          <a:ln cap="flat" cmpd="sng" w="12700">
            <a:solidFill>
              <a:srgbClr val="F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 icon" id="246" name="Google Shape;24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17904" y="62270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6"/>
          <p:cNvSpPr/>
          <p:nvPr/>
        </p:nvSpPr>
        <p:spPr>
          <a:xfrm>
            <a:off x="11100816" y="6025896"/>
            <a:ext cx="475488" cy="475488"/>
          </a:xfrm>
          <a:prstGeom prst="ellipse">
            <a:avLst/>
          </a:prstGeom>
          <a:solidFill>
            <a:srgbClr val="F4F6F8"/>
          </a:solidFill>
          <a:ln cap="flat" cmpd="sng" w="12700">
            <a:solidFill>
              <a:srgbClr val="F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 icon" id="248" name="Google Shape;24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10544" y="61356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6"/>
          <p:cNvSpPr/>
          <p:nvPr/>
        </p:nvSpPr>
        <p:spPr>
          <a:xfrm>
            <a:off x="274320" y="2194560"/>
            <a:ext cx="6903720" cy="3611880"/>
          </a:xfrm>
          <a:prstGeom prst="roundRect">
            <a:avLst>
              <a:gd fmla="val 5063" name="adj"/>
            </a:avLst>
          </a:prstGeom>
          <a:solidFill>
            <a:srgbClr val="FCFAF8"/>
          </a:solidFill>
          <a:ln cap="flat" cmpd="sng" w="15875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48640" y="2395728"/>
            <a:ext cx="6355080" cy="16002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9525">
            <a:solidFill>
              <a:srgbClr val="F0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548640" y="2560320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Multi-Use Case Support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685800" y="3200400"/>
            <a:ext cx="1371600" cy="594360"/>
          </a:xfrm>
          <a:prstGeom prst="roundRect">
            <a:avLst>
              <a:gd fmla="val 23077" name="adj"/>
            </a:avLst>
          </a:prstGeom>
          <a:solidFill>
            <a:srgbClr val="F0EEEC"/>
          </a:solidFill>
          <a:ln cap="flat" cmpd="sng" w="9525">
            <a:solidFill>
              <a:srgbClr val="EAE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 txBox="1"/>
          <p:nvPr/>
        </p:nvSpPr>
        <p:spPr>
          <a:xfrm>
            <a:off x="685800" y="320040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DSML/ AI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2240280" y="3200400"/>
            <a:ext cx="1371600" cy="594360"/>
          </a:xfrm>
          <a:prstGeom prst="roundRect">
            <a:avLst>
              <a:gd fmla="val 23077" name="adj"/>
            </a:avLst>
          </a:prstGeom>
          <a:solidFill>
            <a:srgbClr val="F0EEEC"/>
          </a:solidFill>
          <a:ln cap="flat" cmpd="sng" w="9525">
            <a:solidFill>
              <a:srgbClr val="EAE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2240280" y="320040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Analytics/ BI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3794760" y="3200400"/>
            <a:ext cx="1371600" cy="594360"/>
          </a:xfrm>
          <a:prstGeom prst="roundRect">
            <a:avLst>
              <a:gd fmla="val 23077" name="adj"/>
            </a:avLst>
          </a:prstGeom>
          <a:solidFill>
            <a:srgbClr val="F0EEEC"/>
          </a:solidFill>
          <a:ln cap="flat" cmpd="sng" w="9525">
            <a:solidFill>
              <a:srgbClr val="EAE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"/>
          <p:cNvSpPr txBox="1"/>
          <p:nvPr/>
        </p:nvSpPr>
        <p:spPr>
          <a:xfrm>
            <a:off x="3794760" y="320040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ETL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5349240" y="3200400"/>
            <a:ext cx="1371600" cy="594360"/>
          </a:xfrm>
          <a:prstGeom prst="roundRect">
            <a:avLst>
              <a:gd fmla="val 23077" name="adj"/>
            </a:avLst>
          </a:prstGeom>
          <a:solidFill>
            <a:srgbClr val="F0EEEC"/>
          </a:solidFill>
          <a:ln cap="flat" cmpd="sng" w="9525">
            <a:solidFill>
              <a:srgbClr val="EAE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"/>
          <p:cNvSpPr txBox="1"/>
          <p:nvPr/>
        </p:nvSpPr>
        <p:spPr>
          <a:xfrm>
            <a:off x="5349240" y="320040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Warehousing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548640" y="4087368"/>
            <a:ext cx="6355080" cy="658368"/>
          </a:xfrm>
          <a:prstGeom prst="roundRect">
            <a:avLst>
              <a:gd fmla="val 20833" name="adj"/>
            </a:avLst>
          </a:prstGeom>
          <a:solidFill>
            <a:srgbClr val="FFFFFF"/>
          </a:solidFill>
          <a:ln cap="flat" cmpd="sng" w="9525">
            <a:solidFill>
              <a:srgbClr val="F0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548640" y="4087368"/>
            <a:ext cx="6355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Unified Governance and Security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548640" y="4846320"/>
            <a:ext cx="6355080" cy="6858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F0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 txBox="1"/>
          <p:nvPr/>
        </p:nvSpPr>
        <p:spPr>
          <a:xfrm>
            <a:off x="548640" y="4846320"/>
            <a:ext cx="6355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Open Data Formats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6"/>
          <p:cNvSpPr txBox="1"/>
          <p:nvPr/>
        </p:nvSpPr>
        <p:spPr>
          <a:xfrm>
            <a:off x="548640" y="5897880"/>
            <a:ext cx="6355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Open Data Lake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 txBox="1"/>
          <p:nvPr/>
        </p:nvSpPr>
        <p:spPr>
          <a:xfrm>
            <a:off x="548640" y="6291072"/>
            <a:ext cx="6355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All Raw Data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(Logs, Texts, Audio, Video, Images)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7498080" y="1920240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Challenges of the Modern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Ecosystem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7498080" y="3017520"/>
            <a:ext cx="4480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Char char="–"/>
            </a:pPr>
            <a:r>
              <a:rPr b="0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Proprietary lock-in of data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Char char="–"/>
            </a:pPr>
            <a:r>
              <a:rPr b="0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Siloed security policies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Char char="–"/>
            </a:pPr>
            <a:r>
              <a:rPr b="0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GenAI integration and automation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"/>
          <p:cNvSpPr txBox="1"/>
          <p:nvPr/>
        </p:nvSpPr>
        <p:spPr>
          <a:xfrm>
            <a:off x="457200" y="365760"/>
            <a:ext cx="11274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43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E8432A"/>
                </a:solidFill>
                <a:latin typeface="Arial"/>
                <a:ea typeface="Arial"/>
                <a:cs typeface="Arial"/>
                <a:sym typeface="Arial"/>
              </a:rPr>
              <a:t>Deploy a unified, agent-ready data infrastructure.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 txBox="1"/>
          <p:nvPr/>
        </p:nvSpPr>
        <p:spPr>
          <a:xfrm>
            <a:off x="457200" y="896112"/>
            <a:ext cx="112745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Best-in-class data ingest, warehousing, analytics, and transactions from a single data lake.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1371600" y="1463040"/>
            <a:ext cx="9555480" cy="315468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 cap="flat" cmpd="sng" w="12700">
            <a:solidFill>
              <a:srgbClr val="9FB6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3419856" y="1554480"/>
            <a:ext cx="16916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9525">
            <a:solidFill>
              <a:srgbClr val="EEF1F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orkflow icon" id="277" name="Google Shape;2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9896" y="16276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7"/>
          <p:cNvSpPr txBox="1"/>
          <p:nvPr/>
        </p:nvSpPr>
        <p:spPr>
          <a:xfrm>
            <a:off x="4041648" y="162763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Lakeflow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3529584" y="2011680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3776472" y="2011680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4023360" y="2011680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4270248" y="2011680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4517136" y="2011680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4764024" y="2011680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3529584" y="2249424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3776472" y="2249424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4023360" y="2249424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4270248" y="2249424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4517136" y="2249424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4764024" y="2249424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5257800" y="1554480"/>
            <a:ext cx="16916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9525">
            <a:solidFill>
              <a:srgbClr val="EEF1F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ouse icon" id="292" name="Google Shape;29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7840" y="16276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7"/>
          <p:cNvSpPr txBox="1"/>
          <p:nvPr/>
        </p:nvSpPr>
        <p:spPr>
          <a:xfrm>
            <a:off x="5879592" y="162763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Lakehouse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5367528" y="2011680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5614416" y="2011680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5861304" y="2011680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6108192" y="2011680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6355080" y="2011680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601968" y="2011680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5367528" y="2249424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5614416" y="2249424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5861304" y="2249424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6108192" y="2249424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6355080" y="2249424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6601968" y="2249424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7086600" y="1554480"/>
            <a:ext cx="16916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9525">
            <a:solidFill>
              <a:srgbClr val="EEF1F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yers icon" id="307" name="Google Shape;30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6640" y="16276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7"/>
          <p:cNvSpPr txBox="1"/>
          <p:nvPr/>
        </p:nvSpPr>
        <p:spPr>
          <a:xfrm>
            <a:off x="7708392" y="162763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Lakebase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7196328" y="2011680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7443216" y="2011680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7690104" y="2011680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7936992" y="2011680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8183880" y="2011680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8430768" y="2011680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7196328" y="2249424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7443216" y="2249424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7690104" y="2249424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7936992" y="2249424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8183880" y="2249424"/>
            <a:ext cx="210312" cy="192024"/>
          </a:xfrm>
          <a:prstGeom prst="rect">
            <a:avLst/>
          </a:prstGeom>
          <a:solidFill>
            <a:srgbClr val="F9D5CD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8430768" y="2249424"/>
            <a:ext cx="210312" cy="192024"/>
          </a:xfrm>
          <a:prstGeom prst="rect">
            <a:avLst/>
          </a:prstGeom>
          <a:solidFill>
            <a:srgbClr val="F4C2B8"/>
          </a:solidFill>
          <a:ln cap="flat" cmpd="sng" w="9525">
            <a:solidFill>
              <a:srgbClr val="F1B3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7"/>
          <p:cNvCxnSpPr/>
          <p:nvPr/>
        </p:nvCxnSpPr>
        <p:spPr>
          <a:xfrm>
            <a:off x="4818888" y="2514600"/>
            <a:ext cx="0" cy="502920"/>
          </a:xfrm>
          <a:prstGeom prst="straightConnector1">
            <a:avLst/>
          </a:prstGeom>
          <a:noFill/>
          <a:ln cap="flat" cmpd="sng" w="15875">
            <a:solidFill>
              <a:srgbClr val="6B879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2" name="Google Shape;322;p7"/>
          <p:cNvCxnSpPr/>
          <p:nvPr/>
        </p:nvCxnSpPr>
        <p:spPr>
          <a:xfrm>
            <a:off x="5559552" y="2514600"/>
            <a:ext cx="0" cy="502920"/>
          </a:xfrm>
          <a:prstGeom prst="straightConnector1">
            <a:avLst/>
          </a:prstGeom>
          <a:noFill/>
          <a:ln cap="flat" cmpd="sng" w="19050">
            <a:solidFill>
              <a:srgbClr val="2FA37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3" name="Google Shape;323;p7"/>
          <p:cNvCxnSpPr/>
          <p:nvPr/>
        </p:nvCxnSpPr>
        <p:spPr>
          <a:xfrm>
            <a:off x="7406640" y="2514600"/>
            <a:ext cx="0" cy="502920"/>
          </a:xfrm>
          <a:prstGeom prst="straightConnector1">
            <a:avLst/>
          </a:prstGeom>
          <a:noFill/>
          <a:ln cap="flat" cmpd="sng" w="19050">
            <a:solidFill>
              <a:srgbClr val="E8432A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4" name="Google Shape;324;p7"/>
          <p:cNvSpPr txBox="1"/>
          <p:nvPr/>
        </p:nvSpPr>
        <p:spPr>
          <a:xfrm>
            <a:off x="3657600" y="257860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79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8794"/>
                </a:solidFill>
                <a:latin typeface="Arial"/>
                <a:ea typeface="Arial"/>
                <a:cs typeface="Arial"/>
                <a:sym typeface="Arial"/>
              </a:rPr>
              <a:t>Ingest, ETL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79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8794"/>
                </a:solidFill>
                <a:latin typeface="Arial"/>
                <a:ea typeface="Arial"/>
                <a:cs typeface="Arial"/>
                <a:sym typeface="Arial"/>
              </a:rPr>
              <a:t>&amp; streaming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7"/>
          <p:cNvSpPr txBox="1"/>
          <p:nvPr/>
        </p:nvSpPr>
        <p:spPr>
          <a:xfrm>
            <a:off x="5669280" y="25786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A37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A37C"/>
                </a:solidFill>
                <a:latin typeface="Arial"/>
                <a:ea typeface="Arial"/>
                <a:cs typeface="Arial"/>
                <a:sym typeface="Arial"/>
              </a:rPr>
              <a:t>Real-time +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A37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A37C"/>
                </a:solidFill>
                <a:latin typeface="Arial"/>
                <a:ea typeface="Arial"/>
                <a:cs typeface="Arial"/>
                <a:sym typeface="Arial"/>
              </a:rPr>
              <a:t>batch analytics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7"/>
          <p:cNvSpPr txBox="1"/>
          <p:nvPr/>
        </p:nvSpPr>
        <p:spPr>
          <a:xfrm>
            <a:off x="7543800" y="26517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43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432A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7"/>
          <p:cNvSpPr txBox="1"/>
          <p:nvPr/>
        </p:nvSpPr>
        <p:spPr>
          <a:xfrm>
            <a:off x="1691640" y="169164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Separated storage and compute, enabling independent scale for each resource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7"/>
          <p:cNvSpPr txBox="1"/>
          <p:nvPr/>
        </p:nvSpPr>
        <p:spPr>
          <a:xfrm>
            <a:off x="8915400" y="17373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Native services for agent storage, memory, time travel, and recovery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4407408" y="3017520"/>
            <a:ext cx="3502152" cy="123444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9525">
            <a:solidFill>
              <a:srgbClr val="EEF1F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4828032" y="310896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5285232" y="310896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5742432" y="310896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6199632" y="310896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6656832" y="310896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7114032" y="310896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4828032" y="329184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5285232" y="329184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5742432" y="329184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6199632" y="329184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6656832" y="329184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7114032" y="329184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4828032" y="347472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5285232" y="347472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5742432" y="347472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6199632" y="347472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6656832" y="347472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7114032" y="3474720"/>
            <a:ext cx="411480" cy="137160"/>
          </a:xfrm>
          <a:prstGeom prst="rect">
            <a:avLst/>
          </a:prstGeom>
          <a:solidFill>
            <a:srgbClr val="9DB0BD"/>
          </a:solidFill>
          <a:ln cap="flat" cmpd="sng" w="12700">
            <a:solidFill>
              <a:srgbClr val="9DB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4407408" y="3749040"/>
            <a:ext cx="3502152" cy="502920"/>
          </a:xfrm>
          <a:prstGeom prst="rect">
            <a:avLst/>
          </a:prstGeom>
          <a:solidFill>
            <a:srgbClr val="2D5A6F"/>
          </a:solidFill>
          <a:ln cap="flat" cmpd="sng" w="12700">
            <a:solidFill>
              <a:srgbClr val="2D5A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iangle icon" id="349" name="Google Shape;34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66360" y="39319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7"/>
          <p:cNvSpPr txBox="1"/>
          <p:nvPr/>
        </p:nvSpPr>
        <p:spPr>
          <a:xfrm>
            <a:off x="5440680" y="38862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DELTA LAKE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7"/>
          <p:cNvSpPr txBox="1"/>
          <p:nvPr/>
        </p:nvSpPr>
        <p:spPr>
          <a:xfrm>
            <a:off x="6583680" y="388620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ICEBERG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7"/>
          <p:cNvSpPr txBox="1"/>
          <p:nvPr/>
        </p:nvSpPr>
        <p:spPr>
          <a:xfrm>
            <a:off x="8046720" y="3063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Unified, open-format data lake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for ALL business data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7"/>
          <p:cNvSpPr txBox="1"/>
          <p:nvPr/>
        </p:nvSpPr>
        <p:spPr>
          <a:xfrm>
            <a:off x="8046720" y="37033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Single copy of data,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no copying or sync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Zap icon" id="354" name="Google Shape;35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74520" y="26517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7"/>
          <p:cNvSpPr txBox="1"/>
          <p:nvPr/>
        </p:nvSpPr>
        <p:spPr>
          <a:xfrm>
            <a:off x="2212848" y="267004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Real-time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streaming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nSearch icon" id="356" name="Google Shape;35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71800" y="26517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7"/>
          <p:cNvSpPr txBox="1"/>
          <p:nvPr/>
        </p:nvSpPr>
        <p:spPr>
          <a:xfrm>
            <a:off x="3310128" y="269748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Zerobus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base icon" id="358" name="Google Shape;358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28800" y="315468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359" name="Google Shape;359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23160" y="297180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icon" id="360" name="Google Shape;360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80360" y="3200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7"/>
          <p:cNvSpPr txBox="1"/>
          <p:nvPr/>
        </p:nvSpPr>
        <p:spPr>
          <a:xfrm>
            <a:off x="1828800" y="384048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100+ supported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data/app connectors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7"/>
          <p:cNvCxnSpPr/>
          <p:nvPr/>
        </p:nvCxnSpPr>
        <p:spPr>
          <a:xfrm>
            <a:off x="3566160" y="3611880"/>
            <a:ext cx="128016" cy="0"/>
          </a:xfrm>
          <a:prstGeom prst="straightConnector1">
            <a:avLst/>
          </a:prstGeom>
          <a:noFill/>
          <a:ln cap="flat" cmpd="sng" w="15875">
            <a:solidFill>
              <a:srgbClr val="6B879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" name="Google Shape;363;p7"/>
          <p:cNvCxnSpPr/>
          <p:nvPr/>
        </p:nvCxnSpPr>
        <p:spPr>
          <a:xfrm rot="10800000">
            <a:off x="3694176" y="2560320"/>
            <a:ext cx="0" cy="1051560"/>
          </a:xfrm>
          <a:prstGeom prst="straightConnector1">
            <a:avLst/>
          </a:prstGeom>
          <a:noFill/>
          <a:ln cap="flat" cmpd="sng" w="15875">
            <a:solidFill>
              <a:srgbClr val="6B879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4" name="Google Shape;364;p7"/>
          <p:cNvCxnSpPr/>
          <p:nvPr/>
        </p:nvCxnSpPr>
        <p:spPr>
          <a:xfrm>
            <a:off x="6153912" y="4617720"/>
            <a:ext cx="0" cy="365760"/>
          </a:xfrm>
          <a:prstGeom prst="straightConnector1">
            <a:avLst/>
          </a:prstGeom>
          <a:noFill/>
          <a:ln cap="flat" cmpd="sng" w="15875">
            <a:solidFill>
              <a:srgbClr val="9FB6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p7"/>
          <p:cNvSpPr/>
          <p:nvPr/>
        </p:nvSpPr>
        <p:spPr>
          <a:xfrm>
            <a:off x="502920" y="4983480"/>
            <a:ext cx="11183112" cy="173736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F0F2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640080" y="5120640"/>
            <a:ext cx="10899648" cy="868680"/>
          </a:xfrm>
          <a:prstGeom prst="roundRect">
            <a:avLst>
              <a:gd fmla="val 12632" name="adj"/>
            </a:avLst>
          </a:prstGeom>
          <a:solidFill>
            <a:srgbClr val="F3F6F9"/>
          </a:solidFill>
          <a:ln cap="flat" cmpd="sng" w="12700">
            <a:solidFill>
              <a:srgbClr val="9FB6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7"/>
          <p:cNvSpPr txBox="1"/>
          <p:nvPr/>
        </p:nvSpPr>
        <p:spPr>
          <a:xfrm>
            <a:off x="822960" y="512064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Agentic Data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3200400" y="5234940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4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orkflow icon" id="369" name="Google Shape;3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7560" y="53721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7"/>
          <p:cNvSpPr txBox="1"/>
          <p:nvPr/>
        </p:nvSpPr>
        <p:spPr>
          <a:xfrm>
            <a:off x="3977640" y="512064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Lakeflow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5760720" y="5234940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4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ouse icon" id="372" name="Google Shape;37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53721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7"/>
          <p:cNvSpPr txBox="1"/>
          <p:nvPr/>
        </p:nvSpPr>
        <p:spPr>
          <a:xfrm>
            <a:off x="6537960" y="512064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Lakehouse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8321040" y="5234940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4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yers icon" id="375" name="Google Shape;37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8200" y="53721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7"/>
          <p:cNvSpPr txBox="1"/>
          <p:nvPr/>
        </p:nvSpPr>
        <p:spPr>
          <a:xfrm>
            <a:off x="9098280" y="512064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Lakebase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640080" y="6108192"/>
            <a:ext cx="10899648" cy="457200"/>
          </a:xfrm>
          <a:prstGeom prst="roundRect">
            <a:avLst>
              <a:gd fmla="val 24000" name="adj"/>
            </a:avLst>
          </a:prstGeom>
          <a:solidFill>
            <a:srgbClr val="F3F6F9"/>
          </a:solidFill>
          <a:ln cap="flat" cmpd="sng" w="12700">
            <a:solidFill>
              <a:srgbClr val="9FB6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7"/>
          <p:cNvSpPr txBox="1"/>
          <p:nvPr/>
        </p:nvSpPr>
        <p:spPr>
          <a:xfrm>
            <a:off x="822960" y="6108192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Open Infrastructure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7"/>
          <p:cNvSpPr txBox="1"/>
          <p:nvPr/>
        </p:nvSpPr>
        <p:spPr>
          <a:xfrm>
            <a:off x="3200400" y="6108192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Open Format Data Lake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iangle icon" id="380" name="Google Shape;38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49240" y="62453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7"/>
          <p:cNvSpPr txBox="1"/>
          <p:nvPr/>
        </p:nvSpPr>
        <p:spPr>
          <a:xfrm>
            <a:off x="5623560" y="610819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DELTA LAKE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7"/>
          <p:cNvSpPr txBox="1"/>
          <p:nvPr/>
        </p:nvSpPr>
        <p:spPr>
          <a:xfrm>
            <a:off x="7040880" y="610819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E8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6E8C"/>
                </a:solidFill>
                <a:latin typeface="Arial"/>
                <a:ea typeface="Arial"/>
                <a:cs typeface="Arial"/>
                <a:sym typeface="Arial"/>
              </a:rPr>
              <a:t>ICEBERG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7"/>
          <p:cNvSpPr txBox="1"/>
          <p:nvPr/>
        </p:nvSpPr>
        <p:spPr>
          <a:xfrm>
            <a:off x="8412480" y="6108192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Any Cloud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oud icon" id="384" name="Google Shape;384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79992" y="62453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7"/>
          <p:cNvSpPr txBox="1"/>
          <p:nvPr/>
        </p:nvSpPr>
        <p:spPr>
          <a:xfrm>
            <a:off x="9418320" y="6108192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Any Model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etwork icon" id="386" name="Google Shape;386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85832" y="62453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7"/>
          <p:cNvSpPr txBox="1"/>
          <p:nvPr/>
        </p:nvSpPr>
        <p:spPr>
          <a:xfrm>
            <a:off x="10424160" y="6108192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Any Data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s icon" id="388" name="Google Shape;388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045952" y="6245352"/>
            <a:ext cx="182880" cy="18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8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432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E8432A"/>
                </a:solidFill>
                <a:latin typeface="Arial"/>
                <a:ea typeface="Arial"/>
                <a:cs typeface="Arial"/>
                <a:sym typeface="Arial"/>
              </a:rPr>
              <a:t>Unify data + AI governance</a:t>
            </a:r>
            <a:r>
              <a:rPr b="0" i="0" lang="en-US" sz="2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 so agents can safely scale across the enterprise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1024128" y="969264"/>
            <a:ext cx="5696712" cy="2578608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12700">
            <a:solidFill>
              <a:srgbClr val="9FB6C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8"/>
          <p:cNvSpPr txBox="1"/>
          <p:nvPr/>
        </p:nvSpPr>
        <p:spPr>
          <a:xfrm>
            <a:off x="1024128" y="1069848"/>
            <a:ext cx="5696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Unified data + AI governance for </a:t>
            </a:r>
            <a:r>
              <a:rPr b="0" i="0" lang="en-US" sz="1700" u="none" cap="none" strike="noStrike">
                <a:solidFill>
                  <a:srgbClr val="E8432A"/>
                </a:solidFill>
                <a:latin typeface="Arial"/>
                <a:ea typeface="Arial"/>
                <a:cs typeface="Arial"/>
                <a:sym typeface="Arial"/>
              </a:rPr>
              <a:t>all assets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1115568" y="1517904"/>
            <a:ext cx="1316736" cy="411480"/>
          </a:xfrm>
          <a:prstGeom prst="roundRect">
            <a:avLst>
              <a:gd fmla="val 15556" name="adj"/>
            </a:avLst>
          </a:prstGeom>
          <a:solidFill>
            <a:srgbClr val="B73A32"/>
          </a:solidFill>
          <a:ln cap="flat" cmpd="sng" w="12700">
            <a:solidFill>
              <a:srgbClr val="B73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8"/>
          <p:cNvSpPr txBox="1"/>
          <p:nvPr/>
        </p:nvSpPr>
        <p:spPr>
          <a:xfrm>
            <a:off x="1115568" y="1517904"/>
            <a:ext cx="13167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Discovery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8"/>
          <p:cNvSpPr/>
          <p:nvPr/>
        </p:nvSpPr>
        <p:spPr>
          <a:xfrm>
            <a:off x="2514600" y="1517904"/>
            <a:ext cx="1316736" cy="411480"/>
          </a:xfrm>
          <a:prstGeom prst="roundRect">
            <a:avLst>
              <a:gd fmla="val 15556" name="adj"/>
            </a:avLst>
          </a:prstGeom>
          <a:solidFill>
            <a:srgbClr val="B73A32"/>
          </a:solidFill>
          <a:ln cap="flat" cmpd="sng" w="12700">
            <a:solidFill>
              <a:srgbClr val="B73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8"/>
          <p:cNvSpPr txBox="1"/>
          <p:nvPr/>
        </p:nvSpPr>
        <p:spPr>
          <a:xfrm>
            <a:off x="2514600" y="1517904"/>
            <a:ext cx="13167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Semantics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8"/>
          <p:cNvSpPr/>
          <p:nvPr/>
        </p:nvSpPr>
        <p:spPr>
          <a:xfrm>
            <a:off x="3913632" y="1517904"/>
            <a:ext cx="1316736" cy="411480"/>
          </a:xfrm>
          <a:prstGeom prst="roundRect">
            <a:avLst>
              <a:gd fmla="val 15556" name="adj"/>
            </a:avLst>
          </a:prstGeom>
          <a:solidFill>
            <a:srgbClr val="B73A32"/>
          </a:solidFill>
          <a:ln cap="flat" cmpd="sng" w="12700">
            <a:solidFill>
              <a:srgbClr val="B73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8"/>
          <p:cNvSpPr txBox="1"/>
          <p:nvPr/>
        </p:nvSpPr>
        <p:spPr>
          <a:xfrm>
            <a:off x="3913632" y="1517904"/>
            <a:ext cx="13167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Lineage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5312664" y="1517904"/>
            <a:ext cx="1316736" cy="411480"/>
          </a:xfrm>
          <a:prstGeom prst="roundRect">
            <a:avLst>
              <a:gd fmla="val 15556" name="adj"/>
            </a:avLst>
          </a:prstGeom>
          <a:solidFill>
            <a:srgbClr val="B73A32"/>
          </a:solidFill>
          <a:ln cap="flat" cmpd="sng" w="12700">
            <a:solidFill>
              <a:srgbClr val="B73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8"/>
          <p:cNvSpPr txBox="1"/>
          <p:nvPr/>
        </p:nvSpPr>
        <p:spPr>
          <a:xfrm>
            <a:off x="5312664" y="1517904"/>
            <a:ext cx="13167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Governance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1115568" y="1993392"/>
            <a:ext cx="1316736" cy="411480"/>
          </a:xfrm>
          <a:prstGeom prst="roundRect">
            <a:avLst>
              <a:gd fmla="val 15556" name="adj"/>
            </a:avLst>
          </a:prstGeom>
          <a:solidFill>
            <a:srgbClr val="B73A32"/>
          </a:solidFill>
          <a:ln cap="flat" cmpd="sng" w="12700">
            <a:solidFill>
              <a:srgbClr val="B73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8"/>
          <p:cNvSpPr txBox="1"/>
          <p:nvPr/>
        </p:nvSpPr>
        <p:spPr>
          <a:xfrm>
            <a:off x="1115568" y="1993392"/>
            <a:ext cx="13167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Access Control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2514600" y="1993392"/>
            <a:ext cx="1316736" cy="411480"/>
          </a:xfrm>
          <a:prstGeom prst="roundRect">
            <a:avLst>
              <a:gd fmla="val 15556" name="adj"/>
            </a:avLst>
          </a:prstGeom>
          <a:solidFill>
            <a:srgbClr val="B73A32"/>
          </a:solidFill>
          <a:ln cap="flat" cmpd="sng" w="12700">
            <a:solidFill>
              <a:srgbClr val="B73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8"/>
          <p:cNvSpPr txBox="1"/>
          <p:nvPr/>
        </p:nvSpPr>
        <p:spPr>
          <a:xfrm>
            <a:off x="2514600" y="1993392"/>
            <a:ext cx="13167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Quality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3913632" y="1993392"/>
            <a:ext cx="1316736" cy="411480"/>
          </a:xfrm>
          <a:prstGeom prst="roundRect">
            <a:avLst>
              <a:gd fmla="val 15556" name="adj"/>
            </a:avLst>
          </a:prstGeom>
          <a:solidFill>
            <a:srgbClr val="B73A32"/>
          </a:solidFill>
          <a:ln cap="flat" cmpd="sng" w="12700">
            <a:solidFill>
              <a:srgbClr val="B73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8"/>
          <p:cNvSpPr txBox="1"/>
          <p:nvPr/>
        </p:nvSpPr>
        <p:spPr>
          <a:xfrm>
            <a:off x="3913632" y="1993392"/>
            <a:ext cx="13167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 Controls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5312664" y="1993392"/>
            <a:ext cx="1316736" cy="411480"/>
          </a:xfrm>
          <a:prstGeom prst="roundRect">
            <a:avLst>
              <a:gd fmla="val 15556" name="adj"/>
            </a:avLst>
          </a:prstGeom>
          <a:solidFill>
            <a:srgbClr val="B73A32"/>
          </a:solidFill>
          <a:ln cap="flat" cmpd="sng" w="12700">
            <a:solidFill>
              <a:srgbClr val="B73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8"/>
          <p:cNvSpPr txBox="1"/>
          <p:nvPr/>
        </p:nvSpPr>
        <p:spPr>
          <a:xfrm>
            <a:off x="5312664" y="1993392"/>
            <a:ext cx="13167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OpenSharing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8"/>
          <p:cNvSpPr txBox="1"/>
          <p:nvPr/>
        </p:nvSpPr>
        <p:spPr>
          <a:xfrm>
            <a:off x="1106424" y="2606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Tables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 icon" id="414" name="Google Shape;41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29169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8"/>
          <p:cNvSpPr txBox="1"/>
          <p:nvPr/>
        </p:nvSpPr>
        <p:spPr>
          <a:xfrm>
            <a:off x="1847088" y="2606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Files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lderOpen icon" id="416" name="Google Shape;4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2264" y="29169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8"/>
          <p:cNvSpPr txBox="1"/>
          <p:nvPr/>
        </p:nvSpPr>
        <p:spPr>
          <a:xfrm>
            <a:off x="2606040" y="2606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MCP/Tools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rench icon" id="418" name="Google Shape;41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1216" y="29169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8"/>
          <p:cNvSpPr txBox="1"/>
          <p:nvPr/>
        </p:nvSpPr>
        <p:spPr>
          <a:xfrm>
            <a:off x="3401568" y="2606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arkles icon" id="420" name="Google Shape;42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6744" y="29169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8"/>
          <p:cNvSpPr txBox="1"/>
          <p:nvPr/>
        </p:nvSpPr>
        <p:spPr>
          <a:xfrm>
            <a:off x="4160520" y="2606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arkles icon" id="422" name="Google Shape;42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25696" y="29169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8"/>
          <p:cNvSpPr txBox="1"/>
          <p:nvPr/>
        </p:nvSpPr>
        <p:spPr>
          <a:xfrm>
            <a:off x="4892040" y="2606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Skills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ghtbulb icon" id="424" name="Google Shape;42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57216" y="291693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8"/>
          <p:cNvSpPr txBox="1"/>
          <p:nvPr/>
        </p:nvSpPr>
        <p:spPr>
          <a:xfrm>
            <a:off x="5669280" y="2606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And more...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8"/>
          <p:cNvSpPr/>
          <p:nvPr/>
        </p:nvSpPr>
        <p:spPr>
          <a:xfrm>
            <a:off x="5897880" y="2926080"/>
            <a:ext cx="457200" cy="365760"/>
          </a:xfrm>
          <a:prstGeom prst="roundRect">
            <a:avLst>
              <a:gd fmla="val 15000" name="adj"/>
            </a:avLst>
          </a:prstGeom>
          <a:solidFill>
            <a:srgbClr val="F1F1F1"/>
          </a:solidFill>
          <a:ln cap="flat" cmpd="sng" w="12700">
            <a:solidFill>
              <a:srgbClr val="F1F1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8"/>
          <p:cNvSpPr txBox="1"/>
          <p:nvPr/>
        </p:nvSpPr>
        <p:spPr>
          <a:xfrm>
            <a:off x="5897880" y="29260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4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654B"/>
                </a:solidFill>
                <a:latin typeface="Arial"/>
                <a:ea typeface="Arial"/>
                <a:cs typeface="Arial"/>
                <a:sym typeface="Arial"/>
              </a:rPr>
              <a:t>50...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8"/>
          <p:cNvSpPr txBox="1"/>
          <p:nvPr/>
        </p:nvSpPr>
        <p:spPr>
          <a:xfrm>
            <a:off x="6766560" y="21945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432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8432A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8"/>
          <p:cNvSpPr/>
          <p:nvPr/>
        </p:nvSpPr>
        <p:spPr>
          <a:xfrm>
            <a:off x="7214616" y="969264"/>
            <a:ext cx="4297680" cy="2578608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12700">
            <a:solidFill>
              <a:srgbClr val="9FB6C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8"/>
          <p:cNvSpPr txBox="1"/>
          <p:nvPr/>
        </p:nvSpPr>
        <p:spPr>
          <a:xfrm>
            <a:off x="7214616" y="105156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Multi-AI access and cost control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0" i="0" lang="en-US" sz="1400" u="none" cap="none" strike="noStrike">
                <a:solidFill>
                  <a:srgbClr val="E8432A"/>
                </a:solidFill>
                <a:latin typeface="Arial"/>
                <a:ea typeface="Arial"/>
                <a:cs typeface="Arial"/>
                <a:sym typeface="Arial"/>
              </a:rPr>
              <a:t>all agents, tools &amp; models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8"/>
          <p:cNvSpPr/>
          <p:nvPr/>
        </p:nvSpPr>
        <p:spPr>
          <a:xfrm>
            <a:off x="7360920" y="2286000"/>
            <a:ext cx="2103120" cy="420624"/>
          </a:xfrm>
          <a:prstGeom prst="roundRect">
            <a:avLst>
              <a:gd fmla="val 43478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ellRing icon" id="432" name="Google Shape;432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98080" y="23591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8"/>
          <p:cNvSpPr txBox="1"/>
          <p:nvPr/>
        </p:nvSpPr>
        <p:spPr>
          <a:xfrm>
            <a:off x="7863840" y="2286000"/>
            <a:ext cx="1600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Unity AI Gateway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7470648" y="1618488"/>
            <a:ext cx="603504" cy="60350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8"/>
          <p:cNvSpPr txBox="1"/>
          <p:nvPr/>
        </p:nvSpPr>
        <p:spPr>
          <a:xfrm>
            <a:off x="7470648" y="1618488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Coding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8110728" y="1499616"/>
            <a:ext cx="603504" cy="60350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8"/>
          <p:cNvSpPr txBox="1"/>
          <p:nvPr/>
        </p:nvSpPr>
        <p:spPr>
          <a:xfrm>
            <a:off x="8110728" y="1499616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People + AI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Coworkers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8732520" y="1664208"/>
            <a:ext cx="603504" cy="60350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8"/>
          <p:cNvSpPr txBox="1"/>
          <p:nvPr/>
        </p:nvSpPr>
        <p:spPr>
          <a:xfrm>
            <a:off x="8732520" y="1664208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8"/>
          <p:cNvSpPr/>
          <p:nvPr/>
        </p:nvSpPr>
        <p:spPr>
          <a:xfrm>
            <a:off x="7470648" y="2715768"/>
            <a:ext cx="603504" cy="60350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8"/>
          <p:cNvSpPr txBox="1"/>
          <p:nvPr/>
        </p:nvSpPr>
        <p:spPr>
          <a:xfrm>
            <a:off x="7470648" y="2715768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8"/>
          <p:cNvSpPr/>
          <p:nvPr/>
        </p:nvSpPr>
        <p:spPr>
          <a:xfrm>
            <a:off x="8110728" y="2898648"/>
            <a:ext cx="603504" cy="60350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8"/>
          <p:cNvSpPr txBox="1"/>
          <p:nvPr/>
        </p:nvSpPr>
        <p:spPr>
          <a:xfrm>
            <a:off x="8110728" y="2898648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Skills,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Tools,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MCPs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8"/>
          <p:cNvSpPr/>
          <p:nvPr/>
        </p:nvSpPr>
        <p:spPr>
          <a:xfrm>
            <a:off x="8732520" y="2715768"/>
            <a:ext cx="603504" cy="603504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8"/>
          <p:cNvSpPr txBox="1"/>
          <p:nvPr/>
        </p:nvSpPr>
        <p:spPr>
          <a:xfrm>
            <a:off x="8732520" y="2715768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SaaS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&amp; MCPs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usePointerClick icon" id="446" name="Google Shape;446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10928" y="17099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8"/>
          <p:cNvSpPr txBox="1"/>
          <p:nvPr/>
        </p:nvSpPr>
        <p:spPr>
          <a:xfrm>
            <a:off x="10149840" y="169164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Unified entry point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and token capacity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ircleDollarSign icon" id="448" name="Google Shape;448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10928" y="23042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8"/>
          <p:cNvSpPr txBox="1"/>
          <p:nvPr/>
        </p:nvSpPr>
        <p:spPr>
          <a:xfrm>
            <a:off x="10149840" y="22860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Set AI spend budgets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by user and team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ipboardCheck icon" id="450" name="Google Shape;450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10928" y="289864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8"/>
          <p:cNvSpPr txBox="1"/>
          <p:nvPr/>
        </p:nvSpPr>
        <p:spPr>
          <a:xfrm>
            <a:off x="10149840" y="28803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Enforce compliance,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safety, audit, identity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8"/>
          <p:cNvCxnSpPr/>
          <p:nvPr/>
        </p:nvCxnSpPr>
        <p:spPr>
          <a:xfrm>
            <a:off x="3785616" y="354787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9AA7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8"/>
          <p:cNvCxnSpPr/>
          <p:nvPr/>
        </p:nvCxnSpPr>
        <p:spPr>
          <a:xfrm rot="10800000">
            <a:off x="3419856" y="3767328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9AA7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p8"/>
          <p:cNvCxnSpPr/>
          <p:nvPr/>
        </p:nvCxnSpPr>
        <p:spPr>
          <a:xfrm>
            <a:off x="3419856" y="3767328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9AA7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8"/>
          <p:cNvCxnSpPr/>
          <p:nvPr/>
        </p:nvCxnSpPr>
        <p:spPr>
          <a:xfrm>
            <a:off x="9454896" y="354787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9AA7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8"/>
          <p:cNvCxnSpPr/>
          <p:nvPr/>
        </p:nvCxnSpPr>
        <p:spPr>
          <a:xfrm rot="10800000">
            <a:off x="6016752" y="3767328"/>
            <a:ext cx="3438144" cy="0"/>
          </a:xfrm>
          <a:prstGeom prst="straightConnector1">
            <a:avLst/>
          </a:prstGeom>
          <a:noFill/>
          <a:ln cap="flat" cmpd="sng" w="12700">
            <a:solidFill>
              <a:srgbClr val="9AA7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p8"/>
          <p:cNvCxnSpPr/>
          <p:nvPr/>
        </p:nvCxnSpPr>
        <p:spPr>
          <a:xfrm>
            <a:off x="6016752" y="3767328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9AA7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8" name="Google Shape;458;p8"/>
          <p:cNvSpPr/>
          <p:nvPr/>
        </p:nvSpPr>
        <p:spPr>
          <a:xfrm>
            <a:off x="502920" y="3913632"/>
            <a:ext cx="11183112" cy="2578608"/>
          </a:xfrm>
          <a:prstGeom prst="roundRect">
            <a:avLst>
              <a:gd fmla="val 7092" name="adj"/>
            </a:avLst>
          </a:prstGeom>
          <a:solidFill>
            <a:srgbClr val="FFFFFF"/>
          </a:solidFill>
          <a:ln cap="flat" cmpd="sng" w="9525">
            <a:solidFill>
              <a:srgbClr val="F0F2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640080" y="4041648"/>
            <a:ext cx="10899648" cy="804672"/>
          </a:xfrm>
          <a:prstGeom prst="roundRect">
            <a:avLst>
              <a:gd fmla="val 13636" name="adj"/>
            </a:avLst>
          </a:prstGeom>
          <a:solidFill>
            <a:srgbClr val="F3F6F9"/>
          </a:solidFill>
          <a:ln cap="flat" cmpd="sng" w="12700">
            <a:solidFill>
              <a:srgbClr val="9FB6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8"/>
          <p:cNvSpPr txBox="1"/>
          <p:nvPr/>
        </p:nvSpPr>
        <p:spPr>
          <a:xfrm>
            <a:off x="822960" y="4041648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Unified Governance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8"/>
          <p:cNvSpPr/>
          <p:nvPr/>
        </p:nvSpPr>
        <p:spPr>
          <a:xfrm>
            <a:off x="3154680" y="4114800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4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locks icon" id="462" name="Google Shape;462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291840" y="4251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8"/>
          <p:cNvSpPr txBox="1"/>
          <p:nvPr/>
        </p:nvSpPr>
        <p:spPr>
          <a:xfrm>
            <a:off x="3931920" y="4041648"/>
            <a:ext cx="20116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Unity Catalog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5760720" y="4114800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4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ellRing icon" id="465" name="Google Shape;46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7880" y="4251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8"/>
          <p:cNvSpPr txBox="1"/>
          <p:nvPr/>
        </p:nvSpPr>
        <p:spPr>
          <a:xfrm>
            <a:off x="6537960" y="4041648"/>
            <a:ext cx="27432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Unity AI Gateway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640080" y="4956048"/>
            <a:ext cx="10899648" cy="795528"/>
          </a:xfrm>
          <a:prstGeom prst="roundRect">
            <a:avLst>
              <a:gd fmla="val 13793" name="adj"/>
            </a:avLst>
          </a:prstGeom>
          <a:solidFill>
            <a:srgbClr val="F3F6F9"/>
          </a:solidFill>
          <a:ln cap="flat" cmpd="sng" w="12700">
            <a:solidFill>
              <a:srgbClr val="9FB6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8"/>
          <p:cNvSpPr txBox="1"/>
          <p:nvPr/>
        </p:nvSpPr>
        <p:spPr>
          <a:xfrm>
            <a:off x="822960" y="4956048"/>
            <a:ext cx="2194560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Agentic Data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8"/>
          <p:cNvSpPr/>
          <p:nvPr/>
        </p:nvSpPr>
        <p:spPr>
          <a:xfrm>
            <a:off x="3200400" y="5033772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4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orkflow icon" id="470" name="Google Shape;470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337560" y="51709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8"/>
          <p:cNvSpPr txBox="1"/>
          <p:nvPr/>
        </p:nvSpPr>
        <p:spPr>
          <a:xfrm>
            <a:off x="3977640" y="4956048"/>
            <a:ext cx="2194560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Lakeflow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8"/>
          <p:cNvSpPr/>
          <p:nvPr/>
        </p:nvSpPr>
        <p:spPr>
          <a:xfrm>
            <a:off x="5760720" y="5033772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4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ouse icon" id="473" name="Google Shape;473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897880" y="51709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8"/>
          <p:cNvSpPr txBox="1"/>
          <p:nvPr/>
        </p:nvSpPr>
        <p:spPr>
          <a:xfrm>
            <a:off x="6537960" y="4956048"/>
            <a:ext cx="2194560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Lakehouse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8"/>
          <p:cNvSpPr/>
          <p:nvPr/>
        </p:nvSpPr>
        <p:spPr>
          <a:xfrm>
            <a:off x="8321040" y="5033772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4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yers icon" id="476" name="Google Shape;476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458200" y="51709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8"/>
          <p:cNvSpPr txBox="1"/>
          <p:nvPr/>
        </p:nvSpPr>
        <p:spPr>
          <a:xfrm>
            <a:off x="9098280" y="4956048"/>
            <a:ext cx="2194560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Lakebase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8"/>
          <p:cNvSpPr/>
          <p:nvPr/>
        </p:nvSpPr>
        <p:spPr>
          <a:xfrm>
            <a:off x="640080" y="5852160"/>
            <a:ext cx="10899648" cy="457200"/>
          </a:xfrm>
          <a:prstGeom prst="roundRect">
            <a:avLst>
              <a:gd fmla="val 24000" name="adj"/>
            </a:avLst>
          </a:prstGeom>
          <a:solidFill>
            <a:srgbClr val="F3F6F9"/>
          </a:solidFill>
          <a:ln cap="flat" cmpd="sng" w="12700">
            <a:solidFill>
              <a:srgbClr val="9FB6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8"/>
          <p:cNvSpPr txBox="1"/>
          <p:nvPr/>
        </p:nvSpPr>
        <p:spPr>
          <a:xfrm>
            <a:off x="822960" y="58521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Open Infrastructure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8"/>
          <p:cNvSpPr txBox="1"/>
          <p:nvPr/>
        </p:nvSpPr>
        <p:spPr>
          <a:xfrm>
            <a:off x="3200400" y="58521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Open Format Data Lake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iangle icon" id="481" name="Google Shape;481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349240" y="5989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8"/>
          <p:cNvSpPr txBox="1"/>
          <p:nvPr/>
        </p:nvSpPr>
        <p:spPr>
          <a:xfrm>
            <a:off x="5623560" y="585216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DELTA LAKE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8"/>
          <p:cNvSpPr txBox="1"/>
          <p:nvPr/>
        </p:nvSpPr>
        <p:spPr>
          <a:xfrm>
            <a:off x="7040880" y="585216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E8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6E8C"/>
                </a:solidFill>
                <a:latin typeface="Arial"/>
                <a:ea typeface="Arial"/>
                <a:cs typeface="Arial"/>
                <a:sym typeface="Arial"/>
              </a:rPr>
              <a:t>ICEBERG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8"/>
          <p:cNvSpPr txBox="1"/>
          <p:nvPr/>
        </p:nvSpPr>
        <p:spPr>
          <a:xfrm>
            <a:off x="8412480" y="585216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Any Cloud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oud icon" id="485" name="Google Shape;485;p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079992" y="5989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"/>
          <p:cNvSpPr txBox="1"/>
          <p:nvPr/>
        </p:nvSpPr>
        <p:spPr>
          <a:xfrm>
            <a:off x="9418320" y="585216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Any Model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etwork icon" id="487" name="Google Shape;487;p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085832" y="5989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8"/>
          <p:cNvSpPr txBox="1"/>
          <p:nvPr/>
        </p:nvSpPr>
        <p:spPr>
          <a:xfrm>
            <a:off x="10424160" y="585216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Any Data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s icon" id="489" name="Google Shape;489;p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045952" y="5989320"/>
            <a:ext cx="182880" cy="18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9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432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8432A"/>
                </a:solidFill>
                <a:latin typeface="Arial"/>
                <a:ea typeface="Arial"/>
                <a:cs typeface="Arial"/>
                <a:sym typeface="Arial"/>
              </a:rPr>
              <a:t>Empower every employee with data-smart AI coworkers</a:t>
            </a:r>
            <a:r>
              <a:rPr b="0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 to reinvent their work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arkles icon" id="496" name="Google Shape;4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140" y="11658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9"/>
          <p:cNvSpPr txBox="1"/>
          <p:nvPr/>
        </p:nvSpPr>
        <p:spPr>
          <a:xfrm>
            <a:off x="1783080" y="109728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Genie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9"/>
          <p:cNvSpPr/>
          <p:nvPr/>
        </p:nvSpPr>
        <p:spPr>
          <a:xfrm>
            <a:off x="2834640" y="1261872"/>
            <a:ext cx="566928" cy="237744"/>
          </a:xfrm>
          <a:prstGeom prst="roundRect">
            <a:avLst>
              <a:gd fmla="val 46154" name="adj"/>
            </a:avLst>
          </a:prstGeom>
          <a:solidFill>
            <a:srgbClr val="0F2029"/>
          </a:solidFill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9"/>
          <p:cNvSpPr txBox="1"/>
          <p:nvPr/>
        </p:nvSpPr>
        <p:spPr>
          <a:xfrm>
            <a:off x="2999232" y="1261872"/>
            <a:ext cx="4023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9"/>
          <p:cNvSpPr txBox="1"/>
          <p:nvPr/>
        </p:nvSpPr>
        <p:spPr>
          <a:xfrm>
            <a:off x="914400" y="187452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4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8654B"/>
                </a:solidFill>
                <a:latin typeface="Arial"/>
                <a:ea typeface="Arial"/>
                <a:cs typeface="Arial"/>
                <a:sym typeface="Arial"/>
              </a:rPr>
              <a:t>The data-smart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4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8654B"/>
                </a:solidFill>
                <a:latin typeface="Arial"/>
                <a:ea typeface="Arial"/>
                <a:cs typeface="Arial"/>
                <a:sym typeface="Arial"/>
              </a:rPr>
              <a:t>AI coworker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9"/>
          <p:cNvSpPr/>
          <p:nvPr/>
        </p:nvSpPr>
        <p:spPr>
          <a:xfrm>
            <a:off x="3429000" y="868680"/>
            <a:ext cx="3611880" cy="1600200"/>
          </a:xfrm>
          <a:prstGeom prst="roundRect">
            <a:avLst>
              <a:gd fmla="val 5714" name="adj"/>
            </a:avLst>
          </a:prstGeom>
          <a:solidFill>
            <a:srgbClr val="FBF7F4"/>
          </a:solidFill>
          <a:ln cap="flat" cmpd="sng" w="9525">
            <a:solidFill>
              <a:srgbClr val="F3EB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5029200" y="941832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F0E6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arkles icon" id="503" name="Google Shape;5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352" y="10149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9"/>
          <p:cNvSpPr txBox="1"/>
          <p:nvPr/>
        </p:nvSpPr>
        <p:spPr>
          <a:xfrm>
            <a:off x="3429000" y="1353312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How can I help you?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9"/>
          <p:cNvSpPr/>
          <p:nvPr/>
        </p:nvSpPr>
        <p:spPr>
          <a:xfrm>
            <a:off x="3566160" y="1691640"/>
            <a:ext cx="3337560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9525">
            <a:solidFill>
              <a:srgbClr val="F0E6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9"/>
          <p:cNvSpPr txBox="1"/>
          <p:nvPr/>
        </p:nvSpPr>
        <p:spPr>
          <a:xfrm>
            <a:off x="3657600" y="173736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AA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C9AA3"/>
                </a:solidFill>
                <a:latin typeface="Arial"/>
                <a:ea typeface="Arial"/>
                <a:cs typeface="Arial"/>
                <a:sym typeface="Arial"/>
              </a:rPr>
              <a:t>Let's get some work done...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9"/>
          <p:cNvSpPr/>
          <p:nvPr/>
        </p:nvSpPr>
        <p:spPr>
          <a:xfrm>
            <a:off x="3611880" y="2221992"/>
            <a:ext cx="502920" cy="182880"/>
          </a:xfrm>
          <a:prstGeom prst="roundRect">
            <a:avLst>
              <a:gd fmla="val 40000" name="adj"/>
            </a:avLst>
          </a:prstGeom>
          <a:solidFill>
            <a:srgbClr val="FFFFFF"/>
          </a:solidFill>
          <a:ln cap="flat" cmpd="sng" w="9525">
            <a:solidFill>
              <a:srgbClr val="F0E6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9"/>
          <p:cNvSpPr txBox="1"/>
          <p:nvPr/>
        </p:nvSpPr>
        <p:spPr>
          <a:xfrm>
            <a:off x="3611880" y="222199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9"/>
          <p:cNvSpPr/>
          <p:nvPr/>
        </p:nvSpPr>
        <p:spPr>
          <a:xfrm>
            <a:off x="4178808" y="2221992"/>
            <a:ext cx="804672" cy="182880"/>
          </a:xfrm>
          <a:prstGeom prst="roundRect">
            <a:avLst>
              <a:gd fmla="val 40000" name="adj"/>
            </a:avLst>
          </a:prstGeom>
          <a:solidFill>
            <a:srgbClr val="FFFFFF"/>
          </a:solidFill>
          <a:ln cap="flat" cmpd="sng" w="9525">
            <a:solidFill>
              <a:srgbClr val="F0E6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9"/>
          <p:cNvSpPr txBox="1"/>
          <p:nvPr/>
        </p:nvSpPr>
        <p:spPr>
          <a:xfrm>
            <a:off x="4178808" y="2221992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Create a skill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9"/>
          <p:cNvSpPr/>
          <p:nvPr/>
        </p:nvSpPr>
        <p:spPr>
          <a:xfrm>
            <a:off x="5029200" y="2221992"/>
            <a:ext cx="896112" cy="182880"/>
          </a:xfrm>
          <a:prstGeom prst="roundRect">
            <a:avLst>
              <a:gd fmla="val 40000" name="adj"/>
            </a:avLst>
          </a:prstGeom>
          <a:solidFill>
            <a:srgbClr val="FFFFFF"/>
          </a:solidFill>
          <a:ln cap="flat" cmpd="sng" w="9525">
            <a:solidFill>
              <a:srgbClr val="F0E6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9"/>
          <p:cNvSpPr txBox="1"/>
          <p:nvPr/>
        </p:nvSpPr>
        <p:spPr>
          <a:xfrm>
            <a:off x="5029200" y="2221992"/>
            <a:ext cx="8961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Schedule a task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9"/>
          <p:cNvSpPr/>
          <p:nvPr/>
        </p:nvSpPr>
        <p:spPr>
          <a:xfrm>
            <a:off x="5989320" y="2221992"/>
            <a:ext cx="896112" cy="182880"/>
          </a:xfrm>
          <a:prstGeom prst="roundRect">
            <a:avLst>
              <a:gd fmla="val 40000" name="adj"/>
            </a:avLst>
          </a:prstGeom>
          <a:solidFill>
            <a:srgbClr val="FFFFFF"/>
          </a:solidFill>
          <a:ln cap="flat" cmpd="sng" w="9525">
            <a:solidFill>
              <a:srgbClr val="F0E6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9"/>
          <p:cNvSpPr txBox="1"/>
          <p:nvPr/>
        </p:nvSpPr>
        <p:spPr>
          <a:xfrm>
            <a:off x="5989320" y="2221992"/>
            <a:ext cx="8961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Analyze my data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9"/>
          <p:cNvSpPr/>
          <p:nvPr/>
        </p:nvSpPr>
        <p:spPr>
          <a:xfrm>
            <a:off x="7360920" y="1005840"/>
            <a:ext cx="960120" cy="219456"/>
          </a:xfrm>
          <a:prstGeom prst="roundRect">
            <a:avLst>
              <a:gd fmla="val 41667" name="adj"/>
            </a:avLst>
          </a:prstGeom>
          <a:solidFill>
            <a:srgbClr val="FFFFFF"/>
          </a:solidFill>
          <a:ln cap="flat" cmpd="sng" w="9525">
            <a:solidFill>
              <a:srgbClr val="EEE6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9"/>
          <p:cNvSpPr txBox="1"/>
          <p:nvPr/>
        </p:nvSpPr>
        <p:spPr>
          <a:xfrm>
            <a:off x="7406640" y="100584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9"/>
          <p:cNvSpPr txBox="1"/>
          <p:nvPr/>
        </p:nvSpPr>
        <p:spPr>
          <a:xfrm>
            <a:off x="7360920" y="1261872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Build and share business agents to automate work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9"/>
          <p:cNvSpPr/>
          <p:nvPr/>
        </p:nvSpPr>
        <p:spPr>
          <a:xfrm>
            <a:off x="8869680" y="1005840"/>
            <a:ext cx="1188720" cy="219456"/>
          </a:xfrm>
          <a:prstGeom prst="roundRect">
            <a:avLst>
              <a:gd fmla="val 41667" name="adj"/>
            </a:avLst>
          </a:prstGeom>
          <a:solidFill>
            <a:srgbClr val="FFFFFF"/>
          </a:solidFill>
          <a:ln cap="flat" cmpd="sng" w="9525">
            <a:solidFill>
              <a:srgbClr val="EEE6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9"/>
          <p:cNvSpPr txBox="1"/>
          <p:nvPr/>
        </p:nvSpPr>
        <p:spPr>
          <a:xfrm>
            <a:off x="8915400" y="1005840"/>
            <a:ext cx="1143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APP BUILDER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9"/>
          <p:cNvSpPr txBox="1"/>
          <p:nvPr/>
        </p:nvSpPr>
        <p:spPr>
          <a:xfrm>
            <a:off x="8869680" y="1261872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Safely vibe code and deploy business apps connected to data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9"/>
          <p:cNvSpPr/>
          <p:nvPr/>
        </p:nvSpPr>
        <p:spPr>
          <a:xfrm>
            <a:off x="10424160" y="1005840"/>
            <a:ext cx="731520" cy="219456"/>
          </a:xfrm>
          <a:prstGeom prst="roundRect">
            <a:avLst>
              <a:gd fmla="val 41667" name="adj"/>
            </a:avLst>
          </a:prstGeom>
          <a:solidFill>
            <a:srgbClr val="FFFFFF"/>
          </a:solidFill>
          <a:ln cap="flat" cmpd="sng" w="9525">
            <a:solidFill>
              <a:srgbClr val="EEE6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9"/>
          <p:cNvSpPr txBox="1"/>
          <p:nvPr/>
        </p:nvSpPr>
        <p:spPr>
          <a:xfrm>
            <a:off x="10469880" y="1005840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AI/BI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9"/>
          <p:cNvSpPr txBox="1"/>
          <p:nvPr/>
        </p:nvSpPr>
        <p:spPr>
          <a:xfrm>
            <a:off x="10424160" y="1261872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Deploy interactive dashboards and AI-powered reports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9"/>
          <p:cNvSpPr/>
          <p:nvPr/>
        </p:nvSpPr>
        <p:spPr>
          <a:xfrm>
            <a:off x="7360920" y="1691640"/>
            <a:ext cx="822960" cy="219456"/>
          </a:xfrm>
          <a:prstGeom prst="roundRect">
            <a:avLst>
              <a:gd fmla="val 41667" name="adj"/>
            </a:avLst>
          </a:prstGeom>
          <a:solidFill>
            <a:srgbClr val="FFFFFF"/>
          </a:solidFill>
          <a:ln cap="flat" cmpd="sng" w="9525">
            <a:solidFill>
              <a:srgbClr val="EEE6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9"/>
          <p:cNvSpPr txBox="1"/>
          <p:nvPr/>
        </p:nvSpPr>
        <p:spPr>
          <a:xfrm>
            <a:off x="7406640" y="1691640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9"/>
          <p:cNvSpPr txBox="1"/>
          <p:nvPr/>
        </p:nvSpPr>
        <p:spPr>
          <a:xfrm>
            <a:off x="7360920" y="1947672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Automate building data pipelines and infrastructure in Databricks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9"/>
          <p:cNvSpPr/>
          <p:nvPr/>
        </p:nvSpPr>
        <p:spPr>
          <a:xfrm>
            <a:off x="8869680" y="1691640"/>
            <a:ext cx="1005840" cy="219456"/>
          </a:xfrm>
          <a:prstGeom prst="roundRect">
            <a:avLst>
              <a:gd fmla="val 41667" name="adj"/>
            </a:avLst>
          </a:prstGeom>
          <a:solidFill>
            <a:srgbClr val="FFFFFF"/>
          </a:solidFill>
          <a:ln cap="flat" cmpd="sng" w="9525">
            <a:solidFill>
              <a:srgbClr val="EEE6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9"/>
          <p:cNvSpPr txBox="1"/>
          <p:nvPr/>
        </p:nvSpPr>
        <p:spPr>
          <a:xfrm>
            <a:off x="8915400" y="1691640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ZERO OPS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9"/>
          <p:cNvSpPr txBox="1"/>
          <p:nvPr/>
        </p:nvSpPr>
        <p:spPr>
          <a:xfrm>
            <a:off x="8869680" y="1947672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Background agents to autonomously detect issues and heal pipelines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0" name="Google Shape;530;p9"/>
          <p:cNvCxnSpPr/>
          <p:nvPr/>
        </p:nvCxnSpPr>
        <p:spPr>
          <a:xfrm>
            <a:off x="5212080" y="2468880"/>
            <a:ext cx="0" cy="137160"/>
          </a:xfrm>
          <a:prstGeom prst="straightConnector1">
            <a:avLst/>
          </a:prstGeom>
          <a:noFill/>
          <a:ln cap="flat" cmpd="sng" w="12700">
            <a:solidFill>
              <a:srgbClr val="9AA7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1" name="Google Shape;531;p9"/>
          <p:cNvCxnSpPr/>
          <p:nvPr/>
        </p:nvCxnSpPr>
        <p:spPr>
          <a:xfrm rot="10800000">
            <a:off x="4983480" y="2606040"/>
            <a:ext cx="228600" cy="0"/>
          </a:xfrm>
          <a:prstGeom prst="straightConnector1">
            <a:avLst/>
          </a:prstGeom>
          <a:noFill/>
          <a:ln cap="flat" cmpd="sng" w="12700">
            <a:solidFill>
              <a:srgbClr val="9AA7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2" name="Google Shape;532;p9"/>
          <p:cNvCxnSpPr/>
          <p:nvPr/>
        </p:nvCxnSpPr>
        <p:spPr>
          <a:xfrm>
            <a:off x="4983480" y="2606040"/>
            <a:ext cx="0" cy="347472"/>
          </a:xfrm>
          <a:prstGeom prst="straightConnector1">
            <a:avLst/>
          </a:prstGeom>
          <a:noFill/>
          <a:ln cap="flat" cmpd="sng" w="12700">
            <a:solidFill>
              <a:srgbClr val="9AA7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3" name="Google Shape;533;p9"/>
          <p:cNvSpPr/>
          <p:nvPr/>
        </p:nvSpPr>
        <p:spPr>
          <a:xfrm>
            <a:off x="411480" y="2697480"/>
            <a:ext cx="11338560" cy="4023360"/>
          </a:xfrm>
          <a:prstGeom prst="roundRect">
            <a:avLst>
              <a:gd fmla="val 5682" name="adj"/>
            </a:avLst>
          </a:prstGeom>
          <a:solidFill>
            <a:srgbClr val="FFFFFF"/>
          </a:solidFill>
          <a:ln cap="flat" cmpd="sng" w="9525">
            <a:solidFill>
              <a:srgbClr val="F0F2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9"/>
          <p:cNvSpPr/>
          <p:nvPr/>
        </p:nvSpPr>
        <p:spPr>
          <a:xfrm>
            <a:off x="566928" y="2798064"/>
            <a:ext cx="10972800" cy="1463040"/>
          </a:xfrm>
          <a:prstGeom prst="roundRect">
            <a:avLst>
              <a:gd fmla="val 7500" name="adj"/>
            </a:avLst>
          </a:prstGeom>
          <a:solidFill>
            <a:srgbClr val="FDF6F3"/>
          </a:solidFill>
          <a:ln cap="flat" cmpd="sng" w="12700">
            <a:solidFill>
              <a:srgbClr val="D79A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9"/>
          <p:cNvSpPr txBox="1"/>
          <p:nvPr/>
        </p:nvSpPr>
        <p:spPr>
          <a:xfrm>
            <a:off x="777240" y="320040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Work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9"/>
          <p:cNvSpPr/>
          <p:nvPr/>
        </p:nvSpPr>
        <p:spPr>
          <a:xfrm>
            <a:off x="3072384" y="2926080"/>
            <a:ext cx="3840480" cy="822960"/>
          </a:xfrm>
          <a:prstGeom prst="roundRect">
            <a:avLst>
              <a:gd fmla="val 13333" name="adj"/>
            </a:avLst>
          </a:prstGeom>
          <a:solidFill>
            <a:srgbClr val="FBE0DA"/>
          </a:solidFill>
          <a:ln cap="flat" cmpd="sng" w="12700">
            <a:solidFill>
              <a:srgbClr val="FB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9"/>
          <p:cNvSpPr/>
          <p:nvPr/>
        </p:nvSpPr>
        <p:spPr>
          <a:xfrm>
            <a:off x="3200400" y="3090672"/>
            <a:ext cx="54864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4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arkles icon" id="538" name="Google Shape;5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8416" y="32186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9"/>
          <p:cNvSpPr txBox="1"/>
          <p:nvPr/>
        </p:nvSpPr>
        <p:spPr>
          <a:xfrm>
            <a:off x="3840480" y="2926080"/>
            <a:ext cx="685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Genie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9"/>
          <p:cNvSpPr/>
          <p:nvPr/>
        </p:nvSpPr>
        <p:spPr>
          <a:xfrm>
            <a:off x="4572000" y="3017520"/>
            <a:ext cx="548640" cy="219456"/>
          </a:xfrm>
          <a:prstGeom prst="roundRect">
            <a:avLst>
              <a:gd fmla="val 41667" name="adj"/>
            </a:avLst>
          </a:prstGeom>
          <a:solidFill>
            <a:srgbClr val="FFFFFF"/>
          </a:solidFill>
          <a:ln cap="flat" cmpd="sng" w="9525">
            <a:solidFill>
              <a:srgbClr val="EEE6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9"/>
          <p:cNvSpPr txBox="1"/>
          <p:nvPr/>
        </p:nvSpPr>
        <p:spPr>
          <a:xfrm>
            <a:off x="4617720" y="301752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9"/>
          <p:cNvSpPr/>
          <p:nvPr/>
        </p:nvSpPr>
        <p:spPr>
          <a:xfrm>
            <a:off x="5166360" y="3017520"/>
            <a:ext cx="822960" cy="219456"/>
          </a:xfrm>
          <a:prstGeom prst="roundRect">
            <a:avLst>
              <a:gd fmla="val 41667" name="adj"/>
            </a:avLst>
          </a:prstGeom>
          <a:solidFill>
            <a:srgbClr val="FFFFFF"/>
          </a:solidFill>
          <a:ln cap="flat" cmpd="sng" w="9525">
            <a:solidFill>
              <a:srgbClr val="EEE6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9"/>
          <p:cNvSpPr txBox="1"/>
          <p:nvPr/>
        </p:nvSpPr>
        <p:spPr>
          <a:xfrm>
            <a:off x="5212080" y="3017520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9"/>
          <p:cNvSpPr/>
          <p:nvPr/>
        </p:nvSpPr>
        <p:spPr>
          <a:xfrm>
            <a:off x="6035040" y="3017520"/>
            <a:ext cx="502920" cy="219456"/>
          </a:xfrm>
          <a:prstGeom prst="roundRect">
            <a:avLst>
              <a:gd fmla="val 41667" name="adj"/>
            </a:avLst>
          </a:prstGeom>
          <a:solidFill>
            <a:srgbClr val="FFFFFF"/>
          </a:solidFill>
          <a:ln cap="flat" cmpd="sng" w="9525">
            <a:solidFill>
              <a:srgbClr val="EEE6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9"/>
          <p:cNvSpPr txBox="1"/>
          <p:nvPr/>
        </p:nvSpPr>
        <p:spPr>
          <a:xfrm>
            <a:off x="6080760" y="3017520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9"/>
          <p:cNvSpPr/>
          <p:nvPr/>
        </p:nvSpPr>
        <p:spPr>
          <a:xfrm>
            <a:off x="4572000" y="3383280"/>
            <a:ext cx="1005840" cy="219456"/>
          </a:xfrm>
          <a:prstGeom prst="roundRect">
            <a:avLst>
              <a:gd fmla="val 41667" name="adj"/>
            </a:avLst>
          </a:prstGeom>
          <a:solidFill>
            <a:srgbClr val="FFFFFF"/>
          </a:solidFill>
          <a:ln cap="flat" cmpd="sng" w="9525">
            <a:solidFill>
              <a:srgbClr val="EEE6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9"/>
          <p:cNvSpPr txBox="1"/>
          <p:nvPr/>
        </p:nvSpPr>
        <p:spPr>
          <a:xfrm>
            <a:off x="4617720" y="3383280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APP BUILDER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9"/>
          <p:cNvSpPr/>
          <p:nvPr/>
        </p:nvSpPr>
        <p:spPr>
          <a:xfrm>
            <a:off x="5623560" y="3383280"/>
            <a:ext cx="777240" cy="219456"/>
          </a:xfrm>
          <a:prstGeom prst="roundRect">
            <a:avLst>
              <a:gd fmla="val 41667" name="adj"/>
            </a:avLst>
          </a:prstGeom>
          <a:solidFill>
            <a:srgbClr val="FFFFFF"/>
          </a:solidFill>
          <a:ln cap="flat" cmpd="sng" w="9525">
            <a:solidFill>
              <a:srgbClr val="EEE6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9"/>
          <p:cNvSpPr txBox="1"/>
          <p:nvPr/>
        </p:nvSpPr>
        <p:spPr>
          <a:xfrm>
            <a:off x="5669280" y="3383280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ZERO OPS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9"/>
          <p:cNvSpPr/>
          <p:nvPr/>
        </p:nvSpPr>
        <p:spPr>
          <a:xfrm>
            <a:off x="6446520" y="3383280"/>
            <a:ext cx="411480" cy="219456"/>
          </a:xfrm>
          <a:prstGeom prst="roundRect">
            <a:avLst>
              <a:gd fmla="val 41667" name="adj"/>
            </a:avLst>
          </a:prstGeom>
          <a:solidFill>
            <a:srgbClr val="FFFFFF"/>
          </a:solidFill>
          <a:ln cap="flat" cmpd="sng" w="9525">
            <a:solidFill>
              <a:srgbClr val="EEE6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9"/>
          <p:cNvSpPr txBox="1"/>
          <p:nvPr/>
        </p:nvSpPr>
        <p:spPr>
          <a:xfrm>
            <a:off x="6492240" y="3383280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AI/BI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9"/>
          <p:cNvSpPr/>
          <p:nvPr/>
        </p:nvSpPr>
        <p:spPr>
          <a:xfrm>
            <a:off x="6995160" y="2926080"/>
            <a:ext cx="2514600" cy="822960"/>
          </a:xfrm>
          <a:prstGeom prst="roundRect">
            <a:avLst>
              <a:gd fmla="val 11111" name="adj"/>
            </a:avLst>
          </a:prstGeom>
          <a:solidFill>
            <a:srgbClr val="F2F0F0"/>
          </a:solidFill>
          <a:ln cap="flat" cmpd="sng" w="12700">
            <a:solidFill>
              <a:srgbClr val="F2F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9"/>
          <p:cNvSpPr/>
          <p:nvPr/>
        </p:nvSpPr>
        <p:spPr>
          <a:xfrm>
            <a:off x="7132320" y="3090672"/>
            <a:ext cx="54864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4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locks icon" id="554" name="Google Shape;5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0336" y="32186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9"/>
          <p:cNvSpPr txBox="1"/>
          <p:nvPr/>
        </p:nvSpPr>
        <p:spPr>
          <a:xfrm>
            <a:off x="7818120" y="2999232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Agent Bricks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9"/>
          <p:cNvSpPr txBox="1"/>
          <p:nvPr/>
        </p:nvSpPr>
        <p:spPr>
          <a:xfrm>
            <a:off x="7818120" y="338328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A7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E6A70"/>
                </a:solidFill>
                <a:latin typeface="Arial"/>
                <a:ea typeface="Arial"/>
                <a:cs typeface="Arial"/>
                <a:sym typeface="Arial"/>
              </a:rPr>
              <a:t>Powered by Omnigent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9"/>
          <p:cNvSpPr txBox="1"/>
          <p:nvPr/>
        </p:nvSpPr>
        <p:spPr>
          <a:xfrm>
            <a:off x="9692640" y="320040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Development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8" name="Google Shape;558;p9"/>
          <p:cNvCxnSpPr/>
          <p:nvPr/>
        </p:nvCxnSpPr>
        <p:spPr>
          <a:xfrm>
            <a:off x="3328416" y="3995928"/>
            <a:ext cx="1746504" cy="0"/>
          </a:xfrm>
          <a:prstGeom prst="straightConnector1">
            <a:avLst/>
          </a:prstGeom>
          <a:noFill/>
          <a:ln cap="flat" cmpd="sng" w="12700">
            <a:solidFill>
              <a:srgbClr val="D79A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9" name="Google Shape;559;p9"/>
          <p:cNvCxnSpPr/>
          <p:nvPr/>
        </p:nvCxnSpPr>
        <p:spPr>
          <a:xfrm>
            <a:off x="7086600" y="3995928"/>
            <a:ext cx="2057400" cy="0"/>
          </a:xfrm>
          <a:prstGeom prst="straightConnector1">
            <a:avLst/>
          </a:prstGeom>
          <a:noFill/>
          <a:ln cap="flat" cmpd="sng" w="12700">
            <a:solidFill>
              <a:srgbClr val="D79A9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Sparkles icon" id="560" name="Google Shape;5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4940" y="383590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9"/>
          <p:cNvSpPr txBox="1"/>
          <p:nvPr/>
        </p:nvSpPr>
        <p:spPr>
          <a:xfrm>
            <a:off x="5669280" y="381304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Genie Ontology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9"/>
          <p:cNvSpPr/>
          <p:nvPr/>
        </p:nvSpPr>
        <p:spPr>
          <a:xfrm>
            <a:off x="640080" y="4370832"/>
            <a:ext cx="10899648" cy="804672"/>
          </a:xfrm>
          <a:prstGeom prst="roundRect">
            <a:avLst>
              <a:gd fmla="val 13636" name="adj"/>
            </a:avLst>
          </a:prstGeom>
          <a:solidFill>
            <a:srgbClr val="EEF3F7"/>
          </a:solidFill>
          <a:ln cap="flat" cmpd="sng" w="12700">
            <a:solidFill>
              <a:srgbClr val="9FB6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9"/>
          <p:cNvSpPr txBox="1"/>
          <p:nvPr/>
        </p:nvSpPr>
        <p:spPr>
          <a:xfrm>
            <a:off x="822960" y="4370832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Unified Governance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9"/>
          <p:cNvSpPr/>
          <p:nvPr/>
        </p:nvSpPr>
        <p:spPr>
          <a:xfrm>
            <a:off x="3154680" y="4443984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4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locks icon" id="565" name="Google Shape;56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45811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9"/>
          <p:cNvSpPr txBox="1"/>
          <p:nvPr/>
        </p:nvSpPr>
        <p:spPr>
          <a:xfrm>
            <a:off x="3931920" y="4370832"/>
            <a:ext cx="20116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Unity Catalog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9"/>
          <p:cNvSpPr/>
          <p:nvPr/>
        </p:nvSpPr>
        <p:spPr>
          <a:xfrm>
            <a:off x="5760720" y="4443984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4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ellRing icon" id="568" name="Google Shape;56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7880" y="45811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9"/>
          <p:cNvSpPr txBox="1"/>
          <p:nvPr/>
        </p:nvSpPr>
        <p:spPr>
          <a:xfrm>
            <a:off x="6537960" y="4370832"/>
            <a:ext cx="27432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Unity AI Gateway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9"/>
          <p:cNvSpPr/>
          <p:nvPr/>
        </p:nvSpPr>
        <p:spPr>
          <a:xfrm>
            <a:off x="640080" y="5266944"/>
            <a:ext cx="10899648" cy="795528"/>
          </a:xfrm>
          <a:prstGeom prst="roundRect">
            <a:avLst>
              <a:gd fmla="val 13793" name="adj"/>
            </a:avLst>
          </a:prstGeom>
          <a:solidFill>
            <a:srgbClr val="F3F6F9"/>
          </a:solidFill>
          <a:ln cap="flat" cmpd="sng" w="12700">
            <a:solidFill>
              <a:srgbClr val="9FB6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9"/>
          <p:cNvSpPr txBox="1"/>
          <p:nvPr/>
        </p:nvSpPr>
        <p:spPr>
          <a:xfrm>
            <a:off x="822960" y="5266944"/>
            <a:ext cx="2194560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Agentic Data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9"/>
          <p:cNvSpPr/>
          <p:nvPr/>
        </p:nvSpPr>
        <p:spPr>
          <a:xfrm>
            <a:off x="3200400" y="5344668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4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orkflow icon" id="573" name="Google Shape;57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37560" y="54818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9"/>
          <p:cNvSpPr txBox="1"/>
          <p:nvPr/>
        </p:nvSpPr>
        <p:spPr>
          <a:xfrm>
            <a:off x="3977640" y="5266944"/>
            <a:ext cx="2194560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Lakeflow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9"/>
          <p:cNvSpPr/>
          <p:nvPr/>
        </p:nvSpPr>
        <p:spPr>
          <a:xfrm>
            <a:off x="5760720" y="5344668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4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ouse icon" id="576" name="Google Shape;57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97880" y="54818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9"/>
          <p:cNvSpPr txBox="1"/>
          <p:nvPr/>
        </p:nvSpPr>
        <p:spPr>
          <a:xfrm>
            <a:off x="6537960" y="5266944"/>
            <a:ext cx="2194560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Lakehouse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9"/>
          <p:cNvSpPr/>
          <p:nvPr/>
        </p:nvSpPr>
        <p:spPr>
          <a:xfrm>
            <a:off x="8321040" y="5344668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4E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yers icon" id="579" name="Google Shape;579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8200" y="54818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9"/>
          <p:cNvSpPr txBox="1"/>
          <p:nvPr/>
        </p:nvSpPr>
        <p:spPr>
          <a:xfrm>
            <a:off x="9098280" y="5266944"/>
            <a:ext cx="2194560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Lakebase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9"/>
          <p:cNvSpPr/>
          <p:nvPr/>
        </p:nvSpPr>
        <p:spPr>
          <a:xfrm>
            <a:off x="640080" y="6181344"/>
            <a:ext cx="10899648" cy="310896"/>
          </a:xfrm>
          <a:prstGeom prst="roundRect">
            <a:avLst>
              <a:gd fmla="val 35294" name="adj"/>
            </a:avLst>
          </a:prstGeom>
          <a:solidFill>
            <a:srgbClr val="F3F6F9"/>
          </a:solidFill>
          <a:ln cap="flat" cmpd="sng" w="12700">
            <a:solidFill>
              <a:srgbClr val="9FB6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9"/>
          <p:cNvSpPr txBox="1"/>
          <p:nvPr/>
        </p:nvSpPr>
        <p:spPr>
          <a:xfrm>
            <a:off x="822960" y="618134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Open Infrastructure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9"/>
          <p:cNvSpPr txBox="1"/>
          <p:nvPr/>
        </p:nvSpPr>
        <p:spPr>
          <a:xfrm>
            <a:off x="3200400" y="618134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Open Format Data Lake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iangle icon" id="584" name="Google Shape;584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49240" y="62453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9"/>
          <p:cNvSpPr txBox="1"/>
          <p:nvPr/>
        </p:nvSpPr>
        <p:spPr>
          <a:xfrm>
            <a:off x="5623560" y="6181344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DELTA LAKE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9"/>
          <p:cNvSpPr txBox="1"/>
          <p:nvPr/>
        </p:nvSpPr>
        <p:spPr>
          <a:xfrm>
            <a:off x="7040880" y="6181344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E8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6E8C"/>
                </a:solidFill>
                <a:latin typeface="Arial"/>
                <a:ea typeface="Arial"/>
                <a:cs typeface="Arial"/>
                <a:sym typeface="Arial"/>
              </a:rPr>
              <a:t>ICEBERG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9"/>
          <p:cNvSpPr txBox="1"/>
          <p:nvPr/>
        </p:nvSpPr>
        <p:spPr>
          <a:xfrm>
            <a:off x="8412480" y="6181344"/>
            <a:ext cx="777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Any Cloud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oud icon" id="588" name="Google Shape;588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79992" y="62453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9"/>
          <p:cNvSpPr txBox="1"/>
          <p:nvPr/>
        </p:nvSpPr>
        <p:spPr>
          <a:xfrm>
            <a:off x="9418320" y="6181344"/>
            <a:ext cx="777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Any Model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etwork icon" id="590" name="Google Shape;590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85832" y="62453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9"/>
          <p:cNvSpPr txBox="1"/>
          <p:nvPr/>
        </p:nvSpPr>
        <p:spPr>
          <a:xfrm>
            <a:off x="10424160" y="6181344"/>
            <a:ext cx="777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Any Data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s icon" id="592" name="Google Shape;592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45952" y="6245352"/>
            <a:ext cx="182880" cy="18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0"/>
          <p:cNvSpPr txBox="1"/>
          <p:nvPr/>
        </p:nvSpPr>
        <p:spPr>
          <a:xfrm>
            <a:off x="594360" y="36576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Unified Governance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0"/>
          <p:cNvSpPr txBox="1"/>
          <p:nvPr/>
        </p:nvSpPr>
        <p:spPr>
          <a:xfrm>
            <a:off x="320040" y="2011680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Unified</a:t>
            </a:r>
            <a:br>
              <a:rPr b="0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E8654B"/>
                </a:solidFill>
                <a:latin typeface="Arial"/>
                <a:ea typeface="Arial"/>
                <a:cs typeface="Arial"/>
                <a:sym typeface="Arial"/>
              </a:rPr>
              <a:t>capabilities</a:t>
            </a:r>
            <a:r>
              <a:rPr b="0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 for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every use case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0"/>
          <p:cNvSpPr txBox="1"/>
          <p:nvPr/>
        </p:nvSpPr>
        <p:spPr>
          <a:xfrm>
            <a:off x="320040" y="3474720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Unified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governance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4B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8654B"/>
                </a:solidFill>
                <a:latin typeface="Arial"/>
                <a:ea typeface="Arial"/>
                <a:cs typeface="Arial"/>
                <a:sym typeface="Arial"/>
              </a:rPr>
              <a:t>all assets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0"/>
          <p:cNvSpPr/>
          <p:nvPr/>
        </p:nvSpPr>
        <p:spPr>
          <a:xfrm>
            <a:off x="2286000" y="1371600"/>
            <a:ext cx="7662672" cy="3840480"/>
          </a:xfrm>
          <a:prstGeom prst="roundRect">
            <a:avLst>
              <a:gd fmla="val 2381" name="adj"/>
            </a:avLst>
          </a:prstGeom>
          <a:solidFill>
            <a:srgbClr val="FFFFFF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locks icon" id="602" name="Google Shape;6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0" y="153619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0"/>
          <p:cNvSpPr txBox="1"/>
          <p:nvPr/>
        </p:nvSpPr>
        <p:spPr>
          <a:xfrm>
            <a:off x="8275320" y="150876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Unity Catalog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0"/>
          <p:cNvSpPr/>
          <p:nvPr/>
        </p:nvSpPr>
        <p:spPr>
          <a:xfrm>
            <a:off x="2468880" y="1719072"/>
            <a:ext cx="1828800" cy="502920"/>
          </a:xfrm>
          <a:prstGeom prst="roundRect">
            <a:avLst>
              <a:gd fmla="val 14545" name="adj"/>
            </a:avLst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0"/>
          <p:cNvSpPr txBox="1"/>
          <p:nvPr/>
        </p:nvSpPr>
        <p:spPr>
          <a:xfrm>
            <a:off x="2468880" y="1737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Traditional Catalogs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0"/>
          <p:cNvSpPr/>
          <p:nvPr/>
        </p:nvSpPr>
        <p:spPr>
          <a:xfrm>
            <a:off x="2468880" y="1965960"/>
            <a:ext cx="1828800" cy="1325880"/>
          </a:xfrm>
          <a:prstGeom prst="rect">
            <a:avLst/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0"/>
          <p:cNvSpPr/>
          <p:nvPr/>
        </p:nvSpPr>
        <p:spPr>
          <a:xfrm>
            <a:off x="2468880" y="3246120"/>
            <a:ext cx="1051560" cy="1325880"/>
          </a:xfrm>
          <a:prstGeom prst="rect">
            <a:avLst/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0"/>
          <p:cNvSpPr/>
          <p:nvPr/>
        </p:nvSpPr>
        <p:spPr>
          <a:xfrm>
            <a:off x="2468880" y="2029968"/>
            <a:ext cx="7315200" cy="1243584"/>
          </a:xfrm>
          <a:prstGeom prst="roundRect">
            <a:avLst>
              <a:gd fmla="val 7353" name="adj"/>
            </a:avLst>
          </a:prstGeom>
          <a:solidFill>
            <a:srgbClr val="FFFFFF">
              <a:alpha val="0"/>
            </a:srgbClr>
          </a:solidFill>
          <a:ln cap="flat" cmpd="sng" w="1905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0"/>
          <p:cNvSpPr/>
          <p:nvPr/>
        </p:nvSpPr>
        <p:spPr>
          <a:xfrm>
            <a:off x="2560320" y="2112264"/>
            <a:ext cx="1709928" cy="521208"/>
          </a:xfrm>
          <a:prstGeom prst="roundRect">
            <a:avLst>
              <a:gd fmla="val 14035" name="adj"/>
            </a:avLst>
          </a:prstGeom>
          <a:solidFill>
            <a:srgbClr val="8F1F2E"/>
          </a:solidFill>
          <a:ln cap="flat" cmpd="sng" w="12700">
            <a:solidFill>
              <a:srgbClr val="8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0"/>
          <p:cNvSpPr txBox="1"/>
          <p:nvPr/>
        </p:nvSpPr>
        <p:spPr>
          <a:xfrm>
            <a:off x="2560320" y="2112264"/>
            <a:ext cx="170992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Access Control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0"/>
          <p:cNvSpPr/>
          <p:nvPr/>
        </p:nvSpPr>
        <p:spPr>
          <a:xfrm>
            <a:off x="4379976" y="2112264"/>
            <a:ext cx="1709928" cy="521208"/>
          </a:xfrm>
          <a:prstGeom prst="roundRect">
            <a:avLst>
              <a:gd fmla="val 14035" name="adj"/>
            </a:avLst>
          </a:prstGeom>
          <a:solidFill>
            <a:srgbClr val="8F1F2E"/>
          </a:solidFill>
          <a:ln cap="flat" cmpd="sng" w="12700">
            <a:solidFill>
              <a:srgbClr val="8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0"/>
          <p:cNvSpPr txBox="1"/>
          <p:nvPr/>
        </p:nvSpPr>
        <p:spPr>
          <a:xfrm>
            <a:off x="4379976" y="2112264"/>
            <a:ext cx="170992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Discovery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0"/>
          <p:cNvSpPr/>
          <p:nvPr/>
        </p:nvSpPr>
        <p:spPr>
          <a:xfrm>
            <a:off x="6199632" y="2112264"/>
            <a:ext cx="1709928" cy="521208"/>
          </a:xfrm>
          <a:prstGeom prst="roundRect">
            <a:avLst>
              <a:gd fmla="val 14035" name="adj"/>
            </a:avLst>
          </a:prstGeom>
          <a:solidFill>
            <a:srgbClr val="8F1F2E"/>
          </a:solidFill>
          <a:ln cap="flat" cmpd="sng" w="12700">
            <a:solidFill>
              <a:srgbClr val="8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0"/>
          <p:cNvSpPr txBox="1"/>
          <p:nvPr/>
        </p:nvSpPr>
        <p:spPr>
          <a:xfrm>
            <a:off x="6199632" y="2112264"/>
            <a:ext cx="170992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Lineage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0"/>
          <p:cNvSpPr/>
          <p:nvPr/>
        </p:nvSpPr>
        <p:spPr>
          <a:xfrm>
            <a:off x="8019288" y="2112264"/>
            <a:ext cx="1709928" cy="521208"/>
          </a:xfrm>
          <a:prstGeom prst="roundRect">
            <a:avLst>
              <a:gd fmla="val 14035" name="adj"/>
            </a:avLst>
          </a:prstGeom>
          <a:solidFill>
            <a:srgbClr val="8F1F2E"/>
          </a:solidFill>
          <a:ln cap="flat" cmpd="sng" w="12700">
            <a:solidFill>
              <a:srgbClr val="8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0"/>
          <p:cNvSpPr txBox="1"/>
          <p:nvPr/>
        </p:nvSpPr>
        <p:spPr>
          <a:xfrm>
            <a:off x="8019288" y="2112264"/>
            <a:ext cx="170992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 Controls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0"/>
          <p:cNvSpPr/>
          <p:nvPr/>
        </p:nvSpPr>
        <p:spPr>
          <a:xfrm>
            <a:off x="2560320" y="2688336"/>
            <a:ext cx="1709928" cy="521208"/>
          </a:xfrm>
          <a:prstGeom prst="roundRect">
            <a:avLst>
              <a:gd fmla="val 14035" name="adj"/>
            </a:avLst>
          </a:prstGeom>
          <a:solidFill>
            <a:srgbClr val="8F1F2E"/>
          </a:solidFill>
          <a:ln cap="flat" cmpd="sng" w="12700">
            <a:solidFill>
              <a:srgbClr val="8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0"/>
          <p:cNvSpPr txBox="1"/>
          <p:nvPr/>
        </p:nvSpPr>
        <p:spPr>
          <a:xfrm>
            <a:off x="2560320" y="2688336"/>
            <a:ext cx="170992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Auditing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0"/>
          <p:cNvSpPr/>
          <p:nvPr/>
        </p:nvSpPr>
        <p:spPr>
          <a:xfrm>
            <a:off x="4379976" y="2688336"/>
            <a:ext cx="1709928" cy="521208"/>
          </a:xfrm>
          <a:prstGeom prst="roundRect">
            <a:avLst>
              <a:gd fmla="val 14035" name="adj"/>
            </a:avLst>
          </a:prstGeom>
          <a:solidFill>
            <a:srgbClr val="8F1F2E"/>
          </a:solidFill>
          <a:ln cap="flat" cmpd="sng" w="12700">
            <a:solidFill>
              <a:srgbClr val="8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0"/>
          <p:cNvSpPr txBox="1"/>
          <p:nvPr/>
        </p:nvSpPr>
        <p:spPr>
          <a:xfrm>
            <a:off x="4379976" y="2688336"/>
            <a:ext cx="170992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Secure Open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Sharing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0"/>
          <p:cNvSpPr/>
          <p:nvPr/>
        </p:nvSpPr>
        <p:spPr>
          <a:xfrm>
            <a:off x="6199632" y="2688336"/>
            <a:ext cx="1709928" cy="521208"/>
          </a:xfrm>
          <a:prstGeom prst="roundRect">
            <a:avLst>
              <a:gd fmla="val 14035" name="adj"/>
            </a:avLst>
          </a:prstGeom>
          <a:solidFill>
            <a:srgbClr val="8F1F2E"/>
          </a:solidFill>
          <a:ln cap="flat" cmpd="sng" w="12700">
            <a:solidFill>
              <a:srgbClr val="8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0"/>
          <p:cNvSpPr txBox="1"/>
          <p:nvPr/>
        </p:nvSpPr>
        <p:spPr>
          <a:xfrm>
            <a:off x="6199632" y="2688336"/>
            <a:ext cx="170992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Semantics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0"/>
          <p:cNvSpPr/>
          <p:nvPr/>
        </p:nvSpPr>
        <p:spPr>
          <a:xfrm>
            <a:off x="8019288" y="2688336"/>
            <a:ext cx="1709928" cy="521208"/>
          </a:xfrm>
          <a:prstGeom prst="roundRect">
            <a:avLst>
              <a:gd fmla="val 14035" name="adj"/>
            </a:avLst>
          </a:prstGeom>
          <a:solidFill>
            <a:srgbClr val="8F1F2E"/>
          </a:solidFill>
          <a:ln cap="flat" cmpd="sng" w="12700">
            <a:solidFill>
              <a:srgbClr val="8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0"/>
          <p:cNvSpPr txBox="1"/>
          <p:nvPr/>
        </p:nvSpPr>
        <p:spPr>
          <a:xfrm>
            <a:off x="8019288" y="2688336"/>
            <a:ext cx="170992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Quality Monitoring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5" name="Google Shape;625;p10"/>
          <p:cNvCxnSpPr/>
          <p:nvPr/>
        </p:nvCxnSpPr>
        <p:spPr>
          <a:xfrm>
            <a:off x="3008376" y="3273552"/>
            <a:ext cx="0" cy="246888"/>
          </a:xfrm>
          <a:prstGeom prst="straightConnector1">
            <a:avLst/>
          </a:prstGeom>
          <a:noFill/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6" name="Google Shape;626;p10"/>
          <p:cNvSpPr txBox="1"/>
          <p:nvPr/>
        </p:nvSpPr>
        <p:spPr>
          <a:xfrm>
            <a:off x="2505456" y="354787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 icon" id="627" name="Google Shape;62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9776" y="384048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8" name="Google Shape;628;p10"/>
          <p:cNvCxnSpPr/>
          <p:nvPr/>
        </p:nvCxnSpPr>
        <p:spPr>
          <a:xfrm>
            <a:off x="3008376" y="4315968"/>
            <a:ext cx="0" cy="73152"/>
          </a:xfrm>
          <a:prstGeom prst="straightConnector1">
            <a:avLst/>
          </a:prstGeom>
          <a:noFill/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p10"/>
          <p:cNvCxnSpPr/>
          <p:nvPr/>
        </p:nvCxnSpPr>
        <p:spPr>
          <a:xfrm>
            <a:off x="4041648" y="3273552"/>
            <a:ext cx="0" cy="246888"/>
          </a:xfrm>
          <a:prstGeom prst="straightConnector1">
            <a:avLst/>
          </a:prstGeom>
          <a:noFill/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0" name="Google Shape;630;p10"/>
          <p:cNvSpPr txBox="1"/>
          <p:nvPr/>
        </p:nvSpPr>
        <p:spPr>
          <a:xfrm>
            <a:off x="3538728" y="354787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4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654B"/>
                </a:solidFill>
                <a:latin typeface="Arial"/>
                <a:ea typeface="Arial"/>
                <a:cs typeface="Arial"/>
                <a:sym typeface="Arial"/>
              </a:rPr>
              <a:t>Files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lderOpen icon" id="631" name="Google Shape;63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3048" y="384048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2" name="Google Shape;632;p10"/>
          <p:cNvCxnSpPr/>
          <p:nvPr/>
        </p:nvCxnSpPr>
        <p:spPr>
          <a:xfrm>
            <a:off x="4041648" y="4315968"/>
            <a:ext cx="0" cy="73152"/>
          </a:xfrm>
          <a:prstGeom prst="straightConnector1">
            <a:avLst/>
          </a:prstGeom>
          <a:noFill/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3" name="Google Shape;633;p10"/>
          <p:cNvCxnSpPr/>
          <p:nvPr/>
        </p:nvCxnSpPr>
        <p:spPr>
          <a:xfrm>
            <a:off x="5084064" y="3273552"/>
            <a:ext cx="0" cy="246888"/>
          </a:xfrm>
          <a:prstGeom prst="straightConnector1">
            <a:avLst/>
          </a:prstGeom>
          <a:noFill/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4" name="Google Shape;634;p10"/>
          <p:cNvSpPr txBox="1"/>
          <p:nvPr/>
        </p:nvSpPr>
        <p:spPr>
          <a:xfrm>
            <a:off x="4581144" y="354787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4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654B"/>
                </a:solidFill>
                <a:latin typeface="Arial"/>
                <a:ea typeface="Arial"/>
                <a:cs typeface="Arial"/>
                <a:sym typeface="Arial"/>
              </a:rPr>
              <a:t>PDFs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Text icon" id="635" name="Google Shape;63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5464" y="384048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6" name="Google Shape;636;p10"/>
          <p:cNvCxnSpPr/>
          <p:nvPr/>
        </p:nvCxnSpPr>
        <p:spPr>
          <a:xfrm>
            <a:off x="5084064" y="4315968"/>
            <a:ext cx="0" cy="73152"/>
          </a:xfrm>
          <a:prstGeom prst="straightConnector1">
            <a:avLst/>
          </a:prstGeom>
          <a:noFill/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7" name="Google Shape;637;p10"/>
          <p:cNvCxnSpPr/>
          <p:nvPr/>
        </p:nvCxnSpPr>
        <p:spPr>
          <a:xfrm>
            <a:off x="6135624" y="3273552"/>
            <a:ext cx="0" cy="246888"/>
          </a:xfrm>
          <a:prstGeom prst="straightConnector1">
            <a:avLst/>
          </a:prstGeom>
          <a:noFill/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8" name="Google Shape;638;p10"/>
          <p:cNvSpPr txBox="1"/>
          <p:nvPr/>
        </p:nvSpPr>
        <p:spPr>
          <a:xfrm>
            <a:off x="5632704" y="354787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4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654B"/>
                </a:solidFill>
                <a:latin typeface="Arial"/>
                <a:ea typeface="Arial"/>
                <a:cs typeface="Arial"/>
                <a:sym typeface="Arial"/>
              </a:rPr>
              <a:t>MCP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rench icon" id="639" name="Google Shape;63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7024" y="384048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0" name="Google Shape;640;p10"/>
          <p:cNvCxnSpPr/>
          <p:nvPr/>
        </p:nvCxnSpPr>
        <p:spPr>
          <a:xfrm>
            <a:off x="6135624" y="4315968"/>
            <a:ext cx="0" cy="73152"/>
          </a:xfrm>
          <a:prstGeom prst="straightConnector1">
            <a:avLst/>
          </a:prstGeom>
          <a:noFill/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10"/>
          <p:cNvCxnSpPr/>
          <p:nvPr/>
        </p:nvCxnSpPr>
        <p:spPr>
          <a:xfrm>
            <a:off x="7178040" y="3273552"/>
            <a:ext cx="0" cy="246888"/>
          </a:xfrm>
          <a:prstGeom prst="straightConnector1">
            <a:avLst/>
          </a:prstGeom>
          <a:noFill/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2" name="Google Shape;642;p10"/>
          <p:cNvSpPr txBox="1"/>
          <p:nvPr/>
        </p:nvSpPr>
        <p:spPr>
          <a:xfrm>
            <a:off x="6675120" y="354787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4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654B"/>
                </a:solidFill>
                <a:latin typeface="Arial"/>
                <a:ea typeface="Arial"/>
                <a:cs typeface="Arial"/>
                <a:sym typeface="Arial"/>
              </a:rPr>
              <a:t>Evals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ipboardCheck icon" id="643" name="Google Shape;643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49440" y="384048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4" name="Google Shape;644;p10"/>
          <p:cNvCxnSpPr/>
          <p:nvPr/>
        </p:nvCxnSpPr>
        <p:spPr>
          <a:xfrm>
            <a:off x="7178040" y="4315968"/>
            <a:ext cx="0" cy="73152"/>
          </a:xfrm>
          <a:prstGeom prst="straightConnector1">
            <a:avLst/>
          </a:prstGeom>
          <a:noFill/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p10"/>
          <p:cNvCxnSpPr/>
          <p:nvPr/>
        </p:nvCxnSpPr>
        <p:spPr>
          <a:xfrm>
            <a:off x="8220456" y="3273552"/>
            <a:ext cx="0" cy="246888"/>
          </a:xfrm>
          <a:prstGeom prst="straightConnector1">
            <a:avLst/>
          </a:prstGeom>
          <a:noFill/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6" name="Google Shape;646;p10"/>
          <p:cNvSpPr txBox="1"/>
          <p:nvPr/>
        </p:nvSpPr>
        <p:spPr>
          <a:xfrm>
            <a:off x="7717536" y="354787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4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654B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etwork icon" id="647" name="Google Shape;647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91856" y="384048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8" name="Google Shape;648;p10"/>
          <p:cNvCxnSpPr/>
          <p:nvPr/>
        </p:nvCxnSpPr>
        <p:spPr>
          <a:xfrm>
            <a:off x="8220456" y="4315968"/>
            <a:ext cx="0" cy="73152"/>
          </a:xfrm>
          <a:prstGeom prst="straightConnector1">
            <a:avLst/>
          </a:prstGeom>
          <a:noFill/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9" name="Google Shape;649;p10"/>
          <p:cNvCxnSpPr/>
          <p:nvPr/>
        </p:nvCxnSpPr>
        <p:spPr>
          <a:xfrm>
            <a:off x="9262872" y="3273552"/>
            <a:ext cx="0" cy="246888"/>
          </a:xfrm>
          <a:prstGeom prst="straightConnector1">
            <a:avLst/>
          </a:prstGeom>
          <a:noFill/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0" name="Google Shape;650;p10"/>
          <p:cNvSpPr txBox="1"/>
          <p:nvPr/>
        </p:nvSpPr>
        <p:spPr>
          <a:xfrm>
            <a:off x="8759952" y="354787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4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654B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rain icon" id="651" name="Google Shape;651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34272" y="384048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2" name="Google Shape;652;p10"/>
          <p:cNvCxnSpPr/>
          <p:nvPr/>
        </p:nvCxnSpPr>
        <p:spPr>
          <a:xfrm>
            <a:off x="9262872" y="4315968"/>
            <a:ext cx="0" cy="73152"/>
          </a:xfrm>
          <a:prstGeom prst="straightConnector1">
            <a:avLst/>
          </a:prstGeom>
          <a:noFill/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10"/>
          <p:cNvCxnSpPr/>
          <p:nvPr/>
        </p:nvCxnSpPr>
        <p:spPr>
          <a:xfrm>
            <a:off x="3008376" y="4389120"/>
            <a:ext cx="6254496" cy="0"/>
          </a:xfrm>
          <a:prstGeom prst="straightConnector1">
            <a:avLst/>
          </a:prstGeom>
          <a:noFill/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4" name="Google Shape;654;p10"/>
          <p:cNvSpPr txBox="1"/>
          <p:nvPr/>
        </p:nvSpPr>
        <p:spPr>
          <a:xfrm>
            <a:off x="10149840" y="109728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4B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E8654B"/>
                </a:solidFill>
                <a:latin typeface="Arial"/>
                <a:ea typeface="Arial"/>
                <a:cs typeface="Arial"/>
                <a:sym typeface="Arial"/>
              </a:rPr>
              <a:t>Federate</a:t>
            </a:r>
            <a:br>
              <a:rPr b="0" i="0" lang="en-US" sz="2200" u="none" cap="none" strike="noStrike">
                <a:solidFill>
                  <a:srgbClr val="E8654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other data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platforms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5" name="Google Shape;655;p10"/>
          <p:cNvCxnSpPr/>
          <p:nvPr/>
        </p:nvCxnSpPr>
        <p:spPr>
          <a:xfrm>
            <a:off x="9784080" y="2286000"/>
            <a:ext cx="411480" cy="0"/>
          </a:xfrm>
          <a:prstGeom prst="straightConnector1">
            <a:avLst/>
          </a:prstGeom>
          <a:noFill/>
          <a:ln cap="flat" cmpd="sng" w="12700">
            <a:solidFill>
              <a:srgbClr val="0F202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6" name="Google Shape;656;p10"/>
          <p:cNvSpPr/>
          <p:nvPr/>
        </p:nvSpPr>
        <p:spPr>
          <a:xfrm>
            <a:off x="10195560" y="2377440"/>
            <a:ext cx="1828800" cy="23774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0"/>
          <p:cNvSpPr txBox="1"/>
          <p:nvPr/>
        </p:nvSpPr>
        <p:spPr>
          <a:xfrm>
            <a:off x="10314432" y="248716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Google BigQuery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0"/>
          <p:cNvSpPr txBox="1"/>
          <p:nvPr/>
        </p:nvSpPr>
        <p:spPr>
          <a:xfrm>
            <a:off x="10314432" y="276148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8F5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8F5A"/>
                </a:solidFill>
                <a:latin typeface="Arial"/>
                <a:ea typeface="Arial"/>
                <a:cs typeface="Arial"/>
                <a:sym typeface="Arial"/>
              </a:rPr>
              <a:t>Microsoft Fabric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0"/>
          <p:cNvSpPr txBox="1"/>
          <p:nvPr/>
        </p:nvSpPr>
        <p:spPr>
          <a:xfrm>
            <a:off x="10314432" y="303580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463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74634"/>
                </a:solidFill>
                <a:latin typeface="Arial"/>
                <a:ea typeface="Arial"/>
                <a:cs typeface="Arial"/>
                <a:sym typeface="Arial"/>
              </a:rPr>
              <a:t>Oracle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0"/>
          <p:cNvSpPr txBox="1"/>
          <p:nvPr/>
        </p:nvSpPr>
        <p:spPr>
          <a:xfrm>
            <a:off x="10314432" y="331012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74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37440"/>
                </a:solidFill>
                <a:latin typeface="Arial"/>
                <a:ea typeface="Arial"/>
                <a:cs typeface="Arial"/>
                <a:sym typeface="Arial"/>
              </a:rPr>
              <a:t>Teradata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0"/>
          <p:cNvSpPr txBox="1"/>
          <p:nvPr/>
        </p:nvSpPr>
        <p:spPr>
          <a:xfrm>
            <a:off x="10314432" y="358444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E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A1E0"/>
                </a:solidFill>
                <a:latin typeface="Arial"/>
                <a:ea typeface="Arial"/>
                <a:cs typeface="Arial"/>
                <a:sym typeface="Arial"/>
              </a:rPr>
              <a:t>Salesforce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0"/>
          <p:cNvSpPr txBox="1"/>
          <p:nvPr/>
        </p:nvSpPr>
        <p:spPr>
          <a:xfrm>
            <a:off x="10314432" y="385876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5E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9B5E8"/>
                </a:solidFill>
                <a:latin typeface="Arial"/>
                <a:ea typeface="Arial"/>
                <a:cs typeface="Arial"/>
                <a:sym typeface="Arial"/>
              </a:rPr>
              <a:t>Snowflake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0"/>
          <p:cNvSpPr txBox="1"/>
          <p:nvPr/>
        </p:nvSpPr>
        <p:spPr>
          <a:xfrm>
            <a:off x="10314432" y="413308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F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70F2"/>
                </a:solidFill>
                <a:latin typeface="Arial"/>
                <a:ea typeface="Arial"/>
                <a:cs typeface="Arial"/>
                <a:sym typeface="Arial"/>
              </a:rPr>
              <a:t>SAP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0"/>
          <p:cNvSpPr txBox="1"/>
          <p:nvPr/>
        </p:nvSpPr>
        <p:spPr>
          <a:xfrm>
            <a:off x="10314432" y="440740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1D2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91D22"/>
                </a:solidFill>
                <a:latin typeface="Arial"/>
                <a:ea typeface="Arial"/>
                <a:cs typeface="Arial"/>
                <a:sym typeface="Arial"/>
              </a:rPr>
              <a:t>SQL Server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0"/>
          <p:cNvSpPr/>
          <p:nvPr/>
        </p:nvSpPr>
        <p:spPr>
          <a:xfrm>
            <a:off x="914400" y="5212080"/>
            <a:ext cx="10424160" cy="713232"/>
          </a:xfrm>
          <a:prstGeom prst="roundRect">
            <a:avLst>
              <a:gd fmla="val 25641" name="adj"/>
            </a:avLst>
          </a:prstGeom>
          <a:solidFill>
            <a:srgbClr val="FFFFFF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0"/>
          <p:cNvSpPr/>
          <p:nvPr/>
        </p:nvSpPr>
        <p:spPr>
          <a:xfrm>
            <a:off x="1261872" y="5394960"/>
            <a:ext cx="365760" cy="365760"/>
          </a:xfrm>
          <a:prstGeom prst="ellipse">
            <a:avLst/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ck icon" id="667" name="Google Shape;667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44168" y="54772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10"/>
          <p:cNvSpPr/>
          <p:nvPr/>
        </p:nvSpPr>
        <p:spPr>
          <a:xfrm>
            <a:off x="1947672" y="5394960"/>
            <a:ext cx="365760" cy="365760"/>
          </a:xfrm>
          <a:prstGeom prst="ellipse">
            <a:avLst/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ck icon" id="669" name="Google Shape;669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29968" y="54772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10"/>
          <p:cNvSpPr/>
          <p:nvPr/>
        </p:nvSpPr>
        <p:spPr>
          <a:xfrm>
            <a:off x="2633472" y="5394960"/>
            <a:ext cx="365760" cy="365760"/>
          </a:xfrm>
          <a:prstGeom prst="ellipse">
            <a:avLst/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ck icon" id="671" name="Google Shape;671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15768" y="54772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10"/>
          <p:cNvSpPr/>
          <p:nvPr/>
        </p:nvSpPr>
        <p:spPr>
          <a:xfrm>
            <a:off x="3300984" y="5394960"/>
            <a:ext cx="365760" cy="365760"/>
          </a:xfrm>
          <a:prstGeom prst="ellipse">
            <a:avLst/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ck icon" id="673" name="Google Shape;673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83280" y="54772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10"/>
          <p:cNvSpPr/>
          <p:nvPr/>
        </p:nvSpPr>
        <p:spPr>
          <a:xfrm>
            <a:off x="3977640" y="5394960"/>
            <a:ext cx="365760" cy="365760"/>
          </a:xfrm>
          <a:prstGeom prst="ellipse">
            <a:avLst/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ck icon" id="675" name="Google Shape;675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59936" y="54772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10"/>
          <p:cNvSpPr/>
          <p:nvPr/>
        </p:nvSpPr>
        <p:spPr>
          <a:xfrm>
            <a:off x="7891272" y="5394960"/>
            <a:ext cx="365760" cy="365760"/>
          </a:xfrm>
          <a:prstGeom prst="ellipse">
            <a:avLst/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ck icon" id="677" name="Google Shape;677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73568" y="54772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10"/>
          <p:cNvSpPr/>
          <p:nvPr/>
        </p:nvSpPr>
        <p:spPr>
          <a:xfrm>
            <a:off x="8577072" y="5394960"/>
            <a:ext cx="365760" cy="365760"/>
          </a:xfrm>
          <a:prstGeom prst="ellipse">
            <a:avLst/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ck icon" id="679" name="Google Shape;679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59368" y="54772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10"/>
          <p:cNvSpPr/>
          <p:nvPr/>
        </p:nvSpPr>
        <p:spPr>
          <a:xfrm>
            <a:off x="9262872" y="5394960"/>
            <a:ext cx="365760" cy="365760"/>
          </a:xfrm>
          <a:prstGeom prst="ellipse">
            <a:avLst/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ck icon" id="681" name="Google Shape;681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345168" y="54772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10"/>
          <p:cNvSpPr/>
          <p:nvPr/>
        </p:nvSpPr>
        <p:spPr>
          <a:xfrm>
            <a:off x="9939528" y="5394960"/>
            <a:ext cx="365760" cy="365760"/>
          </a:xfrm>
          <a:prstGeom prst="ellipse">
            <a:avLst/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ck icon" id="683" name="Google Shape;683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21824" y="54772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10"/>
          <p:cNvSpPr/>
          <p:nvPr/>
        </p:nvSpPr>
        <p:spPr>
          <a:xfrm>
            <a:off x="10616184" y="5394960"/>
            <a:ext cx="365760" cy="365760"/>
          </a:xfrm>
          <a:prstGeom prst="ellipse">
            <a:avLst/>
          </a:prstGeom>
          <a:solidFill>
            <a:srgbClr val="EE7356"/>
          </a:solidFill>
          <a:ln cap="flat" cmpd="sng" w="12700">
            <a:solidFill>
              <a:srgbClr val="EE7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ck icon" id="685" name="Google Shape;685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98480" y="54772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10"/>
          <p:cNvSpPr txBox="1"/>
          <p:nvPr/>
        </p:nvSpPr>
        <p:spPr>
          <a:xfrm>
            <a:off x="4572000" y="5212080"/>
            <a:ext cx="34747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Unified Governance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h7b99a9c04b46e204_1_237"/>
          <p:cNvSpPr txBox="1"/>
          <p:nvPr/>
        </p:nvSpPr>
        <p:spPr>
          <a:xfrm>
            <a:off x="1524010" y="3017560"/>
            <a:ext cx="9144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UI and Data Discovery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h7b99a9c04b46e204_1_0"/>
          <p:cNvSpPr txBox="1"/>
          <p:nvPr/>
        </p:nvSpPr>
        <p:spPr>
          <a:xfrm>
            <a:off x="594360" y="365760"/>
            <a:ext cx="1097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Unity Catalog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h7b99a9c04b46e204_1_0"/>
          <p:cNvSpPr txBox="1"/>
          <p:nvPr/>
        </p:nvSpPr>
        <p:spPr>
          <a:xfrm>
            <a:off x="594360" y="1051560"/>
            <a:ext cx="10972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E8432A"/>
                </a:solidFill>
                <a:latin typeface="Arial"/>
                <a:ea typeface="Arial"/>
                <a:cs typeface="Arial"/>
                <a:sym typeface="Arial"/>
              </a:rPr>
              <a:t>Every asset lives in a three-level namespace: catalog.schema.object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h7b99a9c04b46e204_1_0"/>
          <p:cNvSpPr/>
          <p:nvPr/>
        </p:nvSpPr>
        <p:spPr>
          <a:xfrm>
            <a:off x="1645920" y="1783080"/>
            <a:ext cx="5120700" cy="567000"/>
          </a:xfrm>
          <a:prstGeom prst="roundRect">
            <a:avLst>
              <a:gd fmla="val 12000" name="adj"/>
            </a:avLst>
          </a:prstGeom>
          <a:solidFill>
            <a:srgbClr val="0F20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rver_white.png" id="699" name="Google Shape;699;h7b99a9c04b46e204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911095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h7b99a9c04b46e204_1_0"/>
          <p:cNvSpPr txBox="1"/>
          <p:nvPr/>
        </p:nvSpPr>
        <p:spPr>
          <a:xfrm>
            <a:off x="2286000" y="1928737"/>
            <a:ext cx="132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Metastore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h7b99a9c04b46e204_1_0"/>
          <p:cNvSpPr txBox="1"/>
          <p:nvPr/>
        </p:nvSpPr>
        <p:spPr>
          <a:xfrm>
            <a:off x="3566160" y="1904461"/>
            <a:ext cx="306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Top-level container per region; admins attach it to workspaces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2" name="Google Shape;702;h7b99a9c04b46e204_1_0"/>
          <p:cNvCxnSpPr/>
          <p:nvPr/>
        </p:nvCxnSpPr>
        <p:spPr>
          <a:xfrm>
            <a:off x="4206240" y="2350008"/>
            <a:ext cx="0" cy="255900"/>
          </a:xfrm>
          <a:prstGeom prst="straightConnector1">
            <a:avLst/>
          </a:prstGeom>
          <a:noFill/>
          <a:ln cap="flat" cmpd="sng" w="15875">
            <a:solidFill>
              <a:srgbClr val="7A98A8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703" name="Google Shape;703;h7b99a9c04b46e204_1_0"/>
          <p:cNvSpPr/>
          <p:nvPr/>
        </p:nvSpPr>
        <p:spPr>
          <a:xfrm>
            <a:off x="1645920" y="2606040"/>
            <a:ext cx="5120700" cy="567000"/>
          </a:xfrm>
          <a:prstGeom prst="roundRect">
            <a:avLst>
              <a:gd fmla="val 12000" name="adj"/>
            </a:avLst>
          </a:prstGeom>
          <a:solidFill>
            <a:srgbClr val="E843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yers_white.png" id="704" name="Google Shape;704;h7b99a9c04b46e204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273405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h7b99a9c04b46e204_1_0"/>
          <p:cNvSpPr txBox="1"/>
          <p:nvPr/>
        </p:nvSpPr>
        <p:spPr>
          <a:xfrm>
            <a:off x="2286000" y="2763835"/>
            <a:ext cx="132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Catalog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h7b99a9c04b46e204_1_0"/>
          <p:cNvSpPr txBox="1"/>
          <p:nvPr/>
        </p:nvSpPr>
        <p:spPr>
          <a:xfrm>
            <a:off x="3566160" y="2715282"/>
            <a:ext cx="306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First namespace level: isolate by domain, team or environment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7" name="Google Shape;707;h7b99a9c04b46e204_1_0"/>
          <p:cNvCxnSpPr/>
          <p:nvPr/>
        </p:nvCxnSpPr>
        <p:spPr>
          <a:xfrm>
            <a:off x="4206240" y="3172968"/>
            <a:ext cx="0" cy="255900"/>
          </a:xfrm>
          <a:prstGeom prst="straightConnector1">
            <a:avLst/>
          </a:prstGeom>
          <a:noFill/>
          <a:ln cap="flat" cmpd="sng" w="15875">
            <a:solidFill>
              <a:srgbClr val="7A98A8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708" name="Google Shape;708;h7b99a9c04b46e204_1_0"/>
          <p:cNvSpPr/>
          <p:nvPr/>
        </p:nvSpPr>
        <p:spPr>
          <a:xfrm>
            <a:off x="1645920" y="3429000"/>
            <a:ext cx="5120700" cy="567000"/>
          </a:xfrm>
          <a:prstGeom prst="roundRect">
            <a:avLst>
              <a:gd fmla="val 12000" name="adj"/>
            </a:avLst>
          </a:prstGeom>
          <a:solidFill>
            <a:srgbClr val="2C5A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base_white.png" id="709" name="Google Shape;709;h7b99a9c04b46e204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8800" y="355701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h7b99a9c04b46e204_1_0"/>
          <p:cNvSpPr txBox="1"/>
          <p:nvPr/>
        </p:nvSpPr>
        <p:spPr>
          <a:xfrm>
            <a:off x="2286000" y="3550381"/>
            <a:ext cx="132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h7b99a9c04b46e204_1_0"/>
          <p:cNvSpPr txBox="1"/>
          <p:nvPr/>
        </p:nvSpPr>
        <p:spPr>
          <a:xfrm>
            <a:off x="3566160" y="3538242"/>
            <a:ext cx="306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Second level (a.k.a. database): groups related objects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2" name="Google Shape;712;h7b99a9c04b46e204_1_0"/>
          <p:cNvCxnSpPr/>
          <p:nvPr/>
        </p:nvCxnSpPr>
        <p:spPr>
          <a:xfrm>
            <a:off x="4206240" y="3995928"/>
            <a:ext cx="0" cy="283500"/>
          </a:xfrm>
          <a:prstGeom prst="straightConnector1">
            <a:avLst/>
          </a:prstGeom>
          <a:noFill/>
          <a:ln cap="flat" cmpd="sng" w="15875">
            <a:solidFill>
              <a:srgbClr val="7A98A8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713" name="Google Shape;713;h7b99a9c04b46e204_1_0"/>
          <p:cNvCxnSpPr/>
          <p:nvPr/>
        </p:nvCxnSpPr>
        <p:spPr>
          <a:xfrm>
            <a:off x="1243584" y="4279392"/>
            <a:ext cx="5925300" cy="0"/>
          </a:xfrm>
          <a:prstGeom prst="straightConnector1">
            <a:avLst/>
          </a:prstGeom>
          <a:noFill/>
          <a:ln cap="flat" cmpd="sng" w="15875">
            <a:solidFill>
              <a:srgbClr val="7A98A8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714" name="Google Shape;714;h7b99a9c04b46e204_1_0"/>
          <p:cNvCxnSpPr/>
          <p:nvPr/>
        </p:nvCxnSpPr>
        <p:spPr>
          <a:xfrm>
            <a:off x="1243584" y="4279392"/>
            <a:ext cx="0" cy="246900"/>
          </a:xfrm>
          <a:prstGeom prst="straightConnector1">
            <a:avLst/>
          </a:prstGeom>
          <a:noFill/>
          <a:ln cap="flat" cmpd="sng" w="15875">
            <a:solidFill>
              <a:srgbClr val="7A98A8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715" name="Google Shape;715;h7b99a9c04b46e204_1_0"/>
          <p:cNvSpPr/>
          <p:nvPr/>
        </p:nvSpPr>
        <p:spPr>
          <a:xfrm>
            <a:off x="594360" y="4526280"/>
            <a:ext cx="1298400" cy="868800"/>
          </a:xfrm>
          <a:prstGeom prst="roundRect">
            <a:avLst>
              <a:gd fmla="val 10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_navy.png" id="716" name="Google Shape;716;h7b99a9c04b46e204_1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8992" y="46360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h7b99a9c04b46e204_1_0"/>
          <p:cNvSpPr txBox="1"/>
          <p:nvPr/>
        </p:nvSpPr>
        <p:spPr>
          <a:xfrm>
            <a:off x="594360" y="5029200"/>
            <a:ext cx="129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Tables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8" name="Google Shape;718;h7b99a9c04b46e204_1_0"/>
          <p:cNvCxnSpPr/>
          <p:nvPr/>
        </p:nvCxnSpPr>
        <p:spPr>
          <a:xfrm>
            <a:off x="2724912" y="4279392"/>
            <a:ext cx="0" cy="246900"/>
          </a:xfrm>
          <a:prstGeom prst="straightConnector1">
            <a:avLst/>
          </a:prstGeom>
          <a:noFill/>
          <a:ln cap="flat" cmpd="sng" w="15875">
            <a:solidFill>
              <a:srgbClr val="7A98A8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719" name="Google Shape;719;h7b99a9c04b46e204_1_0"/>
          <p:cNvSpPr/>
          <p:nvPr/>
        </p:nvSpPr>
        <p:spPr>
          <a:xfrm>
            <a:off x="2075688" y="4526280"/>
            <a:ext cx="1298400" cy="868800"/>
          </a:xfrm>
          <a:prstGeom prst="roundRect">
            <a:avLst>
              <a:gd fmla="val 10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ye_navy.png" id="720" name="Google Shape;720;h7b99a9c04b46e204_1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60320" y="46360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h7b99a9c04b46e204_1_0"/>
          <p:cNvSpPr txBox="1"/>
          <p:nvPr/>
        </p:nvSpPr>
        <p:spPr>
          <a:xfrm>
            <a:off x="2075688" y="5029200"/>
            <a:ext cx="129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Views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2" name="Google Shape;722;h7b99a9c04b46e204_1_0"/>
          <p:cNvCxnSpPr/>
          <p:nvPr/>
        </p:nvCxnSpPr>
        <p:spPr>
          <a:xfrm>
            <a:off x="4206240" y="4279392"/>
            <a:ext cx="0" cy="246900"/>
          </a:xfrm>
          <a:prstGeom prst="straightConnector1">
            <a:avLst/>
          </a:prstGeom>
          <a:noFill/>
          <a:ln cap="flat" cmpd="sng" w="15875">
            <a:solidFill>
              <a:srgbClr val="7A98A8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723" name="Google Shape;723;h7b99a9c04b46e204_1_0"/>
          <p:cNvSpPr/>
          <p:nvPr/>
        </p:nvSpPr>
        <p:spPr>
          <a:xfrm>
            <a:off x="3557016" y="4526280"/>
            <a:ext cx="1298400" cy="868800"/>
          </a:xfrm>
          <a:prstGeom prst="roundRect">
            <a:avLst>
              <a:gd fmla="val 10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lder_navy.png" id="724" name="Google Shape;724;h7b99a9c04b46e204_1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41648" y="46360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h7b99a9c04b46e204_1_0"/>
          <p:cNvSpPr txBox="1"/>
          <p:nvPr/>
        </p:nvSpPr>
        <p:spPr>
          <a:xfrm>
            <a:off x="3557016" y="5029200"/>
            <a:ext cx="129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Volumes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6" name="Google Shape;726;h7b99a9c04b46e204_1_0"/>
          <p:cNvCxnSpPr/>
          <p:nvPr/>
        </p:nvCxnSpPr>
        <p:spPr>
          <a:xfrm>
            <a:off x="5687568" y="4279392"/>
            <a:ext cx="0" cy="246900"/>
          </a:xfrm>
          <a:prstGeom prst="straightConnector1">
            <a:avLst/>
          </a:prstGeom>
          <a:noFill/>
          <a:ln cap="flat" cmpd="sng" w="15875">
            <a:solidFill>
              <a:srgbClr val="7A98A8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727" name="Google Shape;727;h7b99a9c04b46e204_1_0"/>
          <p:cNvSpPr/>
          <p:nvPr/>
        </p:nvSpPr>
        <p:spPr>
          <a:xfrm>
            <a:off x="5038344" y="4526280"/>
            <a:ext cx="1298400" cy="868800"/>
          </a:xfrm>
          <a:prstGeom prst="roundRect">
            <a:avLst>
              <a:gd fmla="val 10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unc_navy.png" id="728" name="Google Shape;728;h7b99a9c04b46e204_1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22976" y="46360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h7b99a9c04b46e204_1_0"/>
          <p:cNvSpPr txBox="1"/>
          <p:nvPr/>
        </p:nvSpPr>
        <p:spPr>
          <a:xfrm>
            <a:off x="5038344" y="5029200"/>
            <a:ext cx="129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0" name="Google Shape;730;h7b99a9c04b46e204_1_0"/>
          <p:cNvCxnSpPr/>
          <p:nvPr/>
        </p:nvCxnSpPr>
        <p:spPr>
          <a:xfrm>
            <a:off x="7168896" y="4279392"/>
            <a:ext cx="0" cy="246900"/>
          </a:xfrm>
          <a:prstGeom prst="straightConnector1">
            <a:avLst/>
          </a:prstGeom>
          <a:noFill/>
          <a:ln cap="flat" cmpd="sng" w="15875">
            <a:solidFill>
              <a:srgbClr val="7A98A8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731" name="Google Shape;731;h7b99a9c04b46e204_1_0"/>
          <p:cNvSpPr/>
          <p:nvPr/>
        </p:nvSpPr>
        <p:spPr>
          <a:xfrm>
            <a:off x="6519672" y="4526280"/>
            <a:ext cx="1298400" cy="868800"/>
          </a:xfrm>
          <a:prstGeom prst="roundRect">
            <a:avLst>
              <a:gd fmla="val 10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del_navy.png" id="732" name="Google Shape;732;h7b99a9c04b46e204_1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04304" y="46360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h7b99a9c04b46e204_1_0"/>
          <p:cNvSpPr txBox="1"/>
          <p:nvPr/>
        </p:nvSpPr>
        <p:spPr>
          <a:xfrm>
            <a:off x="6519672" y="5029200"/>
            <a:ext cx="129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h7b99a9c04b46e204_1_0"/>
          <p:cNvSpPr/>
          <p:nvPr/>
        </p:nvSpPr>
        <p:spPr>
          <a:xfrm>
            <a:off x="594360" y="5623560"/>
            <a:ext cx="7223700" cy="777300"/>
          </a:xfrm>
          <a:prstGeom prst="roundRect">
            <a:avLst>
              <a:gd fmla="val 12000" name="adj"/>
            </a:avLst>
          </a:prstGeom>
          <a:solidFill>
            <a:srgbClr val="FDEC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h7b99a9c04b46e204_1_0"/>
          <p:cNvSpPr txBox="1"/>
          <p:nvPr/>
        </p:nvSpPr>
        <p:spPr>
          <a:xfrm>
            <a:off x="822960" y="5623560"/>
            <a:ext cx="182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F1F2E"/>
                </a:solidFill>
                <a:latin typeface="Arial"/>
                <a:ea typeface="Arial"/>
                <a:cs typeface="Arial"/>
                <a:sym typeface="Arial"/>
              </a:rPr>
              <a:t>Three-level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h7b99a9c04b46e204_1_0"/>
          <p:cNvSpPr txBox="1"/>
          <p:nvPr/>
        </p:nvSpPr>
        <p:spPr>
          <a:xfrm>
            <a:off x="2606040" y="5696712"/>
            <a:ext cx="5029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2029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</a:t>
            </a:r>
            <a:r>
              <a:rPr b="1" i="0" lang="en-US" sz="1600" u="none" cap="none" strike="noStrike">
                <a:solidFill>
                  <a:srgbClr val="E8432A"/>
                </a:solidFill>
                <a:latin typeface="Courier New"/>
                <a:ea typeface="Courier New"/>
                <a:cs typeface="Courier New"/>
                <a:sym typeface="Courier New"/>
              </a:rPr>
              <a:t>sales</a:t>
            </a:r>
            <a:r>
              <a:rPr b="0" i="0" lang="en-US" sz="1600" u="none" cap="none" strike="noStrike">
                <a:solidFill>
                  <a:srgbClr val="0F2029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n-US" sz="1600" u="none" cap="none" strike="noStrike">
                <a:solidFill>
                  <a:srgbClr val="2C5A70"/>
                </a:solidFill>
                <a:latin typeface="Courier New"/>
                <a:ea typeface="Courier New"/>
                <a:cs typeface="Courier New"/>
                <a:sym typeface="Courier New"/>
              </a:rPr>
              <a:t>gold</a:t>
            </a:r>
            <a:r>
              <a:rPr b="0" i="0" lang="en-US" sz="1600" u="none" cap="none" strike="noStrike">
                <a:solidFill>
                  <a:srgbClr val="0F2029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en-US" sz="1600" u="none" cap="none" strike="noStrike">
                <a:solidFill>
                  <a:srgbClr val="0F2029"/>
                </a:solidFill>
                <a:latin typeface="Courier New"/>
                <a:ea typeface="Courier New"/>
                <a:cs typeface="Courier New"/>
                <a:sym typeface="Courier New"/>
              </a:rPr>
              <a:t>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h7b99a9c04b46e204_1_0"/>
          <p:cNvSpPr txBox="1"/>
          <p:nvPr/>
        </p:nvSpPr>
        <p:spPr>
          <a:xfrm>
            <a:off x="2606040" y="6080760"/>
            <a:ext cx="502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8432A"/>
                </a:solidFill>
                <a:latin typeface="Arial"/>
                <a:ea typeface="Arial"/>
                <a:cs typeface="Arial"/>
                <a:sym typeface="Arial"/>
              </a:rPr>
              <a:t>catalog</a:t>
            </a:r>
            <a:r>
              <a:rPr b="0" i="0" lang="en-US" sz="1000" u="none" cap="none" strike="noStrike">
                <a:solidFill>
                  <a:srgbClr val="7A98A8"/>
                </a:solidFill>
                <a:latin typeface="Arial"/>
                <a:ea typeface="Arial"/>
                <a:cs typeface="Arial"/>
                <a:sym typeface="Arial"/>
              </a:rPr>
              <a:t>  .  </a:t>
            </a:r>
            <a:r>
              <a:rPr b="0" i="0" lang="en-US" sz="1000" u="none" cap="none" strike="noStrike">
                <a:solidFill>
                  <a:srgbClr val="2C5A70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r>
              <a:rPr b="0" i="0" lang="en-US" sz="1000" u="none" cap="none" strike="noStrike">
                <a:solidFill>
                  <a:srgbClr val="7A98A8"/>
                </a:solidFill>
                <a:latin typeface="Arial"/>
                <a:ea typeface="Arial"/>
                <a:cs typeface="Arial"/>
                <a:sym typeface="Arial"/>
              </a:rPr>
              <a:t>  .  </a:t>
            </a:r>
            <a:r>
              <a:rPr b="0" i="0" lang="en-US" sz="1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table / view / volume / function /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h7b99a9c04b46e204_1_0"/>
          <p:cNvSpPr/>
          <p:nvPr/>
        </p:nvSpPr>
        <p:spPr>
          <a:xfrm>
            <a:off x="8183879" y="1783080"/>
            <a:ext cx="3410700" cy="4617600"/>
          </a:xfrm>
          <a:prstGeom prst="roundRect">
            <a:avLst>
              <a:gd fmla="val 5000" name="adj"/>
            </a:avLst>
          </a:prstGeom>
          <a:solidFill>
            <a:srgbClr val="0F20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h7b99a9c04b46e204_1_0"/>
          <p:cNvSpPr txBox="1"/>
          <p:nvPr/>
        </p:nvSpPr>
        <p:spPr>
          <a:xfrm>
            <a:off x="8458200" y="1965960"/>
            <a:ext cx="295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Outside the namespace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h7b99a9c04b46e204_1_0"/>
          <p:cNvSpPr txBox="1"/>
          <p:nvPr/>
        </p:nvSpPr>
        <p:spPr>
          <a:xfrm>
            <a:off x="8458200" y="2331720"/>
            <a:ext cx="295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9C9D2"/>
                </a:solidFill>
                <a:latin typeface="Arial"/>
                <a:ea typeface="Arial"/>
                <a:cs typeface="Arial"/>
                <a:sym typeface="Arial"/>
              </a:rPr>
              <a:t>Securables that connect UC to storage &amp;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h7b99a9c04b46e204_1_0"/>
          <p:cNvSpPr/>
          <p:nvPr/>
        </p:nvSpPr>
        <p:spPr>
          <a:xfrm>
            <a:off x="8458200" y="2834639"/>
            <a:ext cx="457200" cy="45720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Key_white.png" id="742" name="Google Shape;742;h7b99a9c04b46e204_1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67928" y="29443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h7b99a9c04b46e204_1_0"/>
          <p:cNvSpPr txBox="1"/>
          <p:nvPr/>
        </p:nvSpPr>
        <p:spPr>
          <a:xfrm>
            <a:off x="9052559" y="2807208"/>
            <a:ext cx="2359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Storage credential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h7b99a9c04b46e204_1_0"/>
          <p:cNvSpPr txBox="1"/>
          <p:nvPr/>
        </p:nvSpPr>
        <p:spPr>
          <a:xfrm>
            <a:off x="9052559" y="3081527"/>
            <a:ext cx="2359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9C9D2"/>
                </a:solidFill>
                <a:latin typeface="Arial"/>
                <a:ea typeface="Arial"/>
                <a:cs typeface="Arial"/>
                <a:sym typeface="Arial"/>
              </a:rPr>
              <a:t>Long-term cloud credential (e.g., IAM role)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h7b99a9c04b46e204_1_0"/>
          <p:cNvSpPr/>
          <p:nvPr/>
        </p:nvSpPr>
        <p:spPr>
          <a:xfrm>
            <a:off x="8458200" y="3675887"/>
            <a:ext cx="457200" cy="45720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oud_white.png" id="746" name="Google Shape;746;h7b99a9c04b46e204_1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67928" y="3785615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h7b99a9c04b46e204_1_0"/>
          <p:cNvSpPr txBox="1"/>
          <p:nvPr/>
        </p:nvSpPr>
        <p:spPr>
          <a:xfrm>
            <a:off x="9052559" y="3648456"/>
            <a:ext cx="2359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External location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h7b99a9c04b46e204_1_0"/>
          <p:cNvSpPr txBox="1"/>
          <p:nvPr/>
        </p:nvSpPr>
        <p:spPr>
          <a:xfrm>
            <a:off x="9052559" y="3922775"/>
            <a:ext cx="2359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9C9D2"/>
                </a:solidFill>
                <a:latin typeface="Arial"/>
                <a:ea typeface="Arial"/>
                <a:cs typeface="Arial"/>
                <a:sym typeface="Arial"/>
              </a:rPr>
              <a:t>Cloud storage path + credential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h7b99a9c04b46e204_1_0"/>
          <p:cNvSpPr/>
          <p:nvPr/>
        </p:nvSpPr>
        <p:spPr>
          <a:xfrm>
            <a:off x="8458200" y="4517136"/>
            <a:ext cx="457200" cy="45720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lug_white.png" id="750" name="Google Shape;750;h7b99a9c04b46e204_1_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67928" y="4626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h7b99a9c04b46e204_1_0"/>
          <p:cNvSpPr txBox="1"/>
          <p:nvPr/>
        </p:nvSpPr>
        <p:spPr>
          <a:xfrm>
            <a:off x="9052559" y="4489703"/>
            <a:ext cx="2359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h7b99a9c04b46e204_1_0"/>
          <p:cNvSpPr txBox="1"/>
          <p:nvPr/>
        </p:nvSpPr>
        <p:spPr>
          <a:xfrm>
            <a:off x="9052559" y="4764023"/>
            <a:ext cx="2359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9C9D2"/>
                </a:solidFill>
                <a:latin typeface="Arial"/>
                <a:ea typeface="Arial"/>
                <a:cs typeface="Arial"/>
                <a:sym typeface="Arial"/>
              </a:rPr>
              <a:t>External DB credentials for Lakehouse Federation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h7b99a9c04b46e204_1_0"/>
          <p:cNvSpPr/>
          <p:nvPr/>
        </p:nvSpPr>
        <p:spPr>
          <a:xfrm>
            <a:off x="8458200" y="5358383"/>
            <a:ext cx="457200" cy="45720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re_white.png" id="754" name="Google Shape;754;h7b99a9c04b46e204_1_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567928" y="546811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h7b99a9c04b46e204_1_0"/>
          <p:cNvSpPr txBox="1"/>
          <p:nvPr/>
        </p:nvSpPr>
        <p:spPr>
          <a:xfrm>
            <a:off x="9052559" y="5330951"/>
            <a:ext cx="2359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Share / Recipient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h7b99a9c04b46e204_1_0"/>
          <p:cNvSpPr txBox="1"/>
          <p:nvPr/>
        </p:nvSpPr>
        <p:spPr>
          <a:xfrm>
            <a:off x="9052559" y="5605271"/>
            <a:ext cx="2359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9C9D2"/>
                </a:solidFill>
                <a:latin typeface="Arial"/>
                <a:ea typeface="Arial"/>
                <a:cs typeface="Arial"/>
                <a:sym typeface="Arial"/>
              </a:rPr>
              <a:t>Read-only data sharing with other orgs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h7b99a9c04b46e204_1_64"/>
          <p:cNvSpPr txBox="1"/>
          <p:nvPr/>
        </p:nvSpPr>
        <p:spPr>
          <a:xfrm>
            <a:off x="594360" y="365760"/>
            <a:ext cx="1097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Objects Inside a Schema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h7b99a9c04b46e204_1_64"/>
          <p:cNvSpPr txBox="1"/>
          <p:nvPr/>
        </p:nvSpPr>
        <p:spPr>
          <a:xfrm>
            <a:off x="594360" y="1051560"/>
            <a:ext cx="10972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E8432A"/>
                </a:solidFill>
                <a:latin typeface="Arial"/>
                <a:ea typeface="Arial"/>
                <a:cs typeface="Arial"/>
                <a:sym typeface="Arial"/>
              </a:rPr>
              <a:t>Tables, files, logic and models: one namespace, one set of permissions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h7b99a9c04b46e204_1_64"/>
          <p:cNvSpPr/>
          <p:nvPr/>
        </p:nvSpPr>
        <p:spPr>
          <a:xfrm>
            <a:off x="594360" y="1783080"/>
            <a:ext cx="3483900" cy="2240400"/>
          </a:xfrm>
          <a:prstGeom prst="roundRect">
            <a:avLst>
              <a:gd fmla="val 6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h7b99a9c04b46e204_1_64"/>
          <p:cNvSpPr/>
          <p:nvPr/>
        </p:nvSpPr>
        <p:spPr>
          <a:xfrm>
            <a:off x="822960" y="2011680"/>
            <a:ext cx="548700" cy="548700"/>
          </a:xfrm>
          <a:prstGeom prst="ellipse">
            <a:avLst/>
          </a:prstGeom>
          <a:solidFill>
            <a:srgbClr val="0F20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_white.png" id="765" name="Google Shape;765;h7b99a9c04b46e204_1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976" y="21396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h7b99a9c04b46e204_1_64"/>
          <p:cNvSpPr txBox="1"/>
          <p:nvPr/>
        </p:nvSpPr>
        <p:spPr>
          <a:xfrm>
            <a:off x="1508760" y="2133061"/>
            <a:ext cx="23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Tables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h7b99a9c04b46e204_1_64"/>
          <p:cNvSpPr txBox="1"/>
          <p:nvPr/>
        </p:nvSpPr>
        <p:spPr>
          <a:xfrm>
            <a:off x="822960" y="2679191"/>
            <a:ext cx="302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Structured rows &amp; columns (Delta Lake or Iceberg)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h7b99a9c04b46e204_1_64"/>
          <p:cNvSpPr/>
          <p:nvPr/>
        </p:nvSpPr>
        <p:spPr>
          <a:xfrm>
            <a:off x="822960" y="3200400"/>
            <a:ext cx="681300" cy="29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E735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h7b99a9c04b46e204_1_64"/>
          <p:cNvSpPr txBox="1"/>
          <p:nvPr/>
        </p:nvSpPr>
        <p:spPr>
          <a:xfrm>
            <a:off x="822960" y="3248952"/>
            <a:ext cx="681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F1F2E"/>
                </a:solidFill>
                <a:latin typeface="Arial"/>
                <a:ea typeface="Arial"/>
                <a:cs typeface="Arial"/>
                <a:sym typeface="Arial"/>
              </a:rPr>
              <a:t>Managed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h7b99a9c04b46e204_1_64"/>
          <p:cNvSpPr/>
          <p:nvPr/>
        </p:nvSpPr>
        <p:spPr>
          <a:xfrm>
            <a:off x="1595628" y="3200400"/>
            <a:ext cx="759000" cy="29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E735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h7b99a9c04b46e204_1_64"/>
          <p:cNvSpPr txBox="1"/>
          <p:nvPr/>
        </p:nvSpPr>
        <p:spPr>
          <a:xfrm>
            <a:off x="1595628" y="3261090"/>
            <a:ext cx="759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F1F2E"/>
                </a:solidFill>
                <a:latin typeface="Arial"/>
                <a:ea typeface="Arial"/>
                <a:cs typeface="Arial"/>
                <a:sym typeface="Arial"/>
              </a:rPr>
              <a:t>External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h7b99a9c04b46e204_1_64"/>
          <p:cNvSpPr/>
          <p:nvPr/>
        </p:nvSpPr>
        <p:spPr>
          <a:xfrm>
            <a:off x="2446020" y="3200400"/>
            <a:ext cx="681300" cy="29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E735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h7b99a9c04b46e204_1_64"/>
          <p:cNvSpPr txBox="1"/>
          <p:nvPr/>
        </p:nvSpPr>
        <p:spPr>
          <a:xfrm>
            <a:off x="2446020" y="3261090"/>
            <a:ext cx="681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F1F2E"/>
                </a:solidFill>
                <a:latin typeface="Arial"/>
                <a:ea typeface="Arial"/>
                <a:cs typeface="Arial"/>
                <a:sym typeface="Arial"/>
              </a:rPr>
              <a:t>Foreign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h7b99a9c04b46e204_1_64"/>
          <p:cNvSpPr txBox="1"/>
          <p:nvPr/>
        </p:nvSpPr>
        <p:spPr>
          <a:xfrm>
            <a:off x="822960" y="3593591"/>
            <a:ext cx="3118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7A90"/>
                </a:solidFill>
                <a:latin typeface="Arial"/>
                <a:ea typeface="Arial"/>
                <a:cs typeface="Arial"/>
                <a:sym typeface="Arial"/>
              </a:rPr>
              <a:t>Managed is the default and recommended choice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h7b99a9c04b46e204_1_64"/>
          <p:cNvSpPr/>
          <p:nvPr/>
        </p:nvSpPr>
        <p:spPr>
          <a:xfrm>
            <a:off x="4352544" y="1783080"/>
            <a:ext cx="3483900" cy="2240400"/>
          </a:xfrm>
          <a:prstGeom prst="roundRect">
            <a:avLst>
              <a:gd fmla="val 6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h7b99a9c04b46e204_1_64"/>
          <p:cNvSpPr/>
          <p:nvPr/>
        </p:nvSpPr>
        <p:spPr>
          <a:xfrm>
            <a:off x="4581144" y="2011680"/>
            <a:ext cx="548700" cy="548700"/>
          </a:xfrm>
          <a:prstGeom prst="ellipse">
            <a:avLst/>
          </a:prstGeom>
          <a:solidFill>
            <a:srgbClr val="0F20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ye_white.png" id="777" name="Google Shape;777;h7b99a9c04b46e204_1_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21396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h7b99a9c04b46e204_1_64"/>
          <p:cNvSpPr txBox="1"/>
          <p:nvPr/>
        </p:nvSpPr>
        <p:spPr>
          <a:xfrm>
            <a:off x="5266944" y="2133061"/>
            <a:ext cx="23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Views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h7b99a9c04b46e204_1_64"/>
          <p:cNvSpPr txBox="1"/>
          <p:nvPr/>
        </p:nvSpPr>
        <p:spPr>
          <a:xfrm>
            <a:off x="4581144" y="2679191"/>
            <a:ext cx="302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Saved queries over one or more tables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h7b99a9c04b46e204_1_64"/>
          <p:cNvSpPr/>
          <p:nvPr/>
        </p:nvSpPr>
        <p:spPr>
          <a:xfrm>
            <a:off x="4581144" y="3200400"/>
            <a:ext cx="448200" cy="29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E735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h7b99a9c04b46e204_1_64"/>
          <p:cNvSpPr txBox="1"/>
          <p:nvPr/>
        </p:nvSpPr>
        <p:spPr>
          <a:xfrm>
            <a:off x="4581144" y="3266296"/>
            <a:ext cx="448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F1F2E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h7b99a9c04b46e204_1_64"/>
          <p:cNvSpPr/>
          <p:nvPr/>
        </p:nvSpPr>
        <p:spPr>
          <a:xfrm>
            <a:off x="5120640" y="3200400"/>
            <a:ext cx="1458600" cy="29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E735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h7b99a9c04b46e204_1_64"/>
          <p:cNvSpPr txBox="1"/>
          <p:nvPr/>
        </p:nvSpPr>
        <p:spPr>
          <a:xfrm>
            <a:off x="5120640" y="3266296"/>
            <a:ext cx="1458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F1F2E"/>
                </a:solidFill>
                <a:latin typeface="Arial"/>
                <a:ea typeface="Arial"/>
                <a:cs typeface="Arial"/>
                <a:sym typeface="Arial"/>
              </a:rPr>
              <a:t>Materialized 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h7b99a9c04b46e204_1_64"/>
          <p:cNvSpPr/>
          <p:nvPr/>
        </p:nvSpPr>
        <p:spPr>
          <a:xfrm>
            <a:off x="6670548" y="3200400"/>
            <a:ext cx="992100" cy="29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E735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h7b99a9c04b46e204_1_64"/>
          <p:cNvSpPr txBox="1"/>
          <p:nvPr/>
        </p:nvSpPr>
        <p:spPr>
          <a:xfrm>
            <a:off x="6670548" y="3260306"/>
            <a:ext cx="9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F1F2E"/>
                </a:solidFill>
                <a:latin typeface="Arial"/>
                <a:ea typeface="Arial"/>
                <a:cs typeface="Arial"/>
                <a:sym typeface="Arial"/>
              </a:rPr>
              <a:t>Metric 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h7b99a9c04b46e204_1_64"/>
          <p:cNvSpPr txBox="1"/>
          <p:nvPr/>
        </p:nvSpPr>
        <p:spPr>
          <a:xfrm>
            <a:off x="4581144" y="3593591"/>
            <a:ext cx="3118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7A90"/>
                </a:solidFill>
                <a:latin typeface="Arial"/>
                <a:ea typeface="Arial"/>
                <a:cs typeface="Arial"/>
                <a:sym typeface="Arial"/>
              </a:rPr>
              <a:t>Materialized views store precomputed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h7b99a9c04b46e204_1_64"/>
          <p:cNvSpPr/>
          <p:nvPr/>
        </p:nvSpPr>
        <p:spPr>
          <a:xfrm>
            <a:off x="8110728" y="1783080"/>
            <a:ext cx="3483900" cy="2240400"/>
          </a:xfrm>
          <a:prstGeom prst="roundRect">
            <a:avLst>
              <a:gd fmla="val 6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h7b99a9c04b46e204_1_64"/>
          <p:cNvSpPr/>
          <p:nvPr/>
        </p:nvSpPr>
        <p:spPr>
          <a:xfrm>
            <a:off x="8339328" y="2011680"/>
            <a:ext cx="548700" cy="548700"/>
          </a:xfrm>
          <a:prstGeom prst="ellipse">
            <a:avLst/>
          </a:prstGeom>
          <a:solidFill>
            <a:srgbClr val="0F20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lder_white.png" id="789" name="Google Shape;789;h7b99a9c04b46e204_1_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7344" y="21396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h7b99a9c04b46e204_1_64"/>
          <p:cNvSpPr txBox="1"/>
          <p:nvPr/>
        </p:nvSpPr>
        <p:spPr>
          <a:xfrm>
            <a:off x="9025128" y="2133061"/>
            <a:ext cx="23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Volumes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h7b99a9c04b46e204_1_64"/>
          <p:cNvSpPr txBox="1"/>
          <p:nvPr/>
        </p:nvSpPr>
        <p:spPr>
          <a:xfrm>
            <a:off x="8339328" y="2679191"/>
            <a:ext cx="302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Govern non-tabular files: CSV, JSON, images, PDFs, ML artifacts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h7b99a9c04b46e204_1_64"/>
          <p:cNvSpPr/>
          <p:nvPr/>
        </p:nvSpPr>
        <p:spPr>
          <a:xfrm>
            <a:off x="8339328" y="3200400"/>
            <a:ext cx="681300" cy="29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E735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h7b99a9c04b46e204_1_64"/>
          <p:cNvSpPr txBox="1"/>
          <p:nvPr/>
        </p:nvSpPr>
        <p:spPr>
          <a:xfrm>
            <a:off x="8339328" y="3254315"/>
            <a:ext cx="681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F1F2E"/>
                </a:solidFill>
                <a:latin typeface="Arial"/>
                <a:ea typeface="Arial"/>
                <a:cs typeface="Arial"/>
                <a:sym typeface="Arial"/>
              </a:rPr>
              <a:t>Managed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h7b99a9c04b46e204_1_64"/>
          <p:cNvSpPr/>
          <p:nvPr/>
        </p:nvSpPr>
        <p:spPr>
          <a:xfrm>
            <a:off x="9111996" y="3200400"/>
            <a:ext cx="759000" cy="292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E735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h7b99a9c04b46e204_1_64"/>
          <p:cNvSpPr txBox="1"/>
          <p:nvPr/>
        </p:nvSpPr>
        <p:spPr>
          <a:xfrm>
            <a:off x="9111996" y="3272287"/>
            <a:ext cx="759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F1F2E"/>
                </a:solidFill>
                <a:latin typeface="Arial"/>
                <a:ea typeface="Arial"/>
                <a:cs typeface="Arial"/>
                <a:sym typeface="Arial"/>
              </a:rPr>
              <a:t>External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h7b99a9c04b46e204_1_64"/>
          <p:cNvSpPr txBox="1"/>
          <p:nvPr/>
        </p:nvSpPr>
        <p:spPr>
          <a:xfrm>
            <a:off x="8339328" y="3593591"/>
            <a:ext cx="3118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7A90"/>
                </a:solidFill>
                <a:latin typeface="Arial"/>
                <a:ea typeface="Arial"/>
                <a:cs typeface="Arial"/>
                <a:sym typeface="Arial"/>
              </a:rPr>
              <a:t>Path: /Volumes/&lt;catalog&gt;/&lt;schema&gt;/&lt;volume&gt;/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h7b99a9c04b46e204_1_64"/>
          <p:cNvSpPr/>
          <p:nvPr/>
        </p:nvSpPr>
        <p:spPr>
          <a:xfrm>
            <a:off x="594360" y="4297680"/>
            <a:ext cx="2532900" cy="2103000"/>
          </a:xfrm>
          <a:prstGeom prst="roundRect">
            <a:avLst>
              <a:gd fmla="val 6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h7b99a9c04b46e204_1_64"/>
          <p:cNvSpPr/>
          <p:nvPr/>
        </p:nvSpPr>
        <p:spPr>
          <a:xfrm>
            <a:off x="822960" y="4526280"/>
            <a:ext cx="548700" cy="548700"/>
          </a:xfrm>
          <a:prstGeom prst="ellipse">
            <a:avLst/>
          </a:prstGeom>
          <a:solidFill>
            <a:srgbClr val="2C5A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unc_white.png" id="799" name="Google Shape;799;h7b99a9c04b46e204_1_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0976" y="46542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h7b99a9c04b46e204_1_64"/>
          <p:cNvSpPr txBox="1"/>
          <p:nvPr/>
        </p:nvSpPr>
        <p:spPr>
          <a:xfrm>
            <a:off x="822960" y="521208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h7b99a9c04b46e204_1_64"/>
          <p:cNvSpPr txBox="1"/>
          <p:nvPr/>
        </p:nvSpPr>
        <p:spPr>
          <a:xfrm>
            <a:off x="822960" y="5596128"/>
            <a:ext cx="210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SQL / Python UDFs that return a scalar or a set of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h7b99a9c04b46e204_1_64"/>
          <p:cNvSpPr/>
          <p:nvPr/>
        </p:nvSpPr>
        <p:spPr>
          <a:xfrm>
            <a:off x="3401568" y="4297680"/>
            <a:ext cx="2532900" cy="2103000"/>
          </a:xfrm>
          <a:prstGeom prst="roundRect">
            <a:avLst>
              <a:gd fmla="val 6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h7b99a9c04b46e204_1_64"/>
          <p:cNvSpPr/>
          <p:nvPr/>
        </p:nvSpPr>
        <p:spPr>
          <a:xfrm>
            <a:off x="3630168" y="4526280"/>
            <a:ext cx="548700" cy="548700"/>
          </a:xfrm>
          <a:prstGeom prst="ellipse">
            <a:avLst/>
          </a:prstGeom>
          <a:solidFill>
            <a:srgbClr val="2C5A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del_white.png" id="804" name="Google Shape;804;h7b99a9c04b46e204_1_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58183" y="46542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h7b99a9c04b46e204_1_64"/>
          <p:cNvSpPr txBox="1"/>
          <p:nvPr/>
        </p:nvSpPr>
        <p:spPr>
          <a:xfrm>
            <a:off x="3630168" y="521208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h7b99a9c04b46e204_1_64"/>
          <p:cNvSpPr txBox="1"/>
          <p:nvPr/>
        </p:nvSpPr>
        <p:spPr>
          <a:xfrm>
            <a:off x="3630168" y="5596128"/>
            <a:ext cx="210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MLflow models, versioned and governed like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h7b99a9c04b46e204_1_64"/>
          <p:cNvSpPr/>
          <p:nvPr/>
        </p:nvSpPr>
        <p:spPr>
          <a:xfrm>
            <a:off x="6208776" y="4297680"/>
            <a:ext cx="5385900" cy="2103000"/>
          </a:xfrm>
          <a:prstGeom prst="roundRect">
            <a:avLst>
              <a:gd fmla="val 5000" name="adj"/>
            </a:avLst>
          </a:prstGeom>
          <a:solidFill>
            <a:srgbClr val="0F20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h7b99a9c04b46e204_1_64"/>
          <p:cNvSpPr txBox="1"/>
          <p:nvPr/>
        </p:nvSpPr>
        <p:spPr>
          <a:xfrm>
            <a:off x="6483096" y="4434840"/>
            <a:ext cx="4837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E7356"/>
                </a:solidFill>
                <a:latin typeface="Arial"/>
                <a:ea typeface="Arial"/>
                <a:cs typeface="Arial"/>
                <a:sym typeface="Arial"/>
              </a:rPr>
              <a:t>Example: create the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h7b99a9c04b46e204_1_64"/>
          <p:cNvSpPr txBox="1"/>
          <p:nvPr/>
        </p:nvSpPr>
        <p:spPr>
          <a:xfrm>
            <a:off x="6483096" y="4754880"/>
            <a:ext cx="49287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C3D6"/>
                </a:solidFill>
                <a:latin typeface="Courier New"/>
                <a:ea typeface="Courier New"/>
                <a:cs typeface="Courier New"/>
                <a:sym typeface="Courier New"/>
              </a:rPr>
              <a:t>CREATE CATALOG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sales;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C3D6"/>
                </a:solidFill>
                <a:latin typeface="Courier New"/>
                <a:ea typeface="Courier New"/>
                <a:cs typeface="Courier New"/>
                <a:sym typeface="Courier New"/>
              </a:rPr>
              <a:t>CREATE SCHEMA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sales.gold;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C3D6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sales.gold.orders (id BIGINT, amt DOUBLE);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C3D6"/>
                </a:solidFill>
                <a:latin typeface="Courier New"/>
                <a:ea typeface="Courier New"/>
                <a:cs typeface="Courier New"/>
                <a:sym typeface="Courier New"/>
              </a:rPr>
              <a:t>CREATE VIEW  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sales.gold.big_orders 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SELECT * FROM sales.gold.orders WHERE amt &gt; 1000;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FC3D6"/>
                </a:solidFill>
                <a:latin typeface="Courier New"/>
                <a:ea typeface="Courier New"/>
                <a:cs typeface="Courier New"/>
                <a:sym typeface="Courier New"/>
              </a:rPr>
              <a:t>CREATE VOLUME 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sales.gold.raw_files;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98A8"/>
                </a:solidFill>
                <a:latin typeface="Courier New"/>
                <a:ea typeface="Courier New"/>
                <a:cs typeface="Courier New"/>
                <a:sym typeface="Courier New"/>
              </a:rPr>
              <a:t>-- files land at /Volumes/sales/gold/raw_files/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h7b99a9c04b46e204_1_116"/>
          <p:cNvSpPr txBox="1"/>
          <p:nvPr/>
        </p:nvSpPr>
        <p:spPr>
          <a:xfrm>
            <a:off x="594360" y="365760"/>
            <a:ext cx="1097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Navigating the Workspace 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h7b99a9c04b46e204_1_116"/>
          <p:cNvSpPr txBox="1"/>
          <p:nvPr/>
        </p:nvSpPr>
        <p:spPr>
          <a:xfrm>
            <a:off x="594360" y="1051560"/>
            <a:ext cx="10972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E8432A"/>
                </a:solidFill>
                <a:latin typeface="Arial"/>
                <a:ea typeface="Arial"/>
                <a:cs typeface="Arial"/>
                <a:sym typeface="Arial"/>
              </a:rPr>
              <a:t>One sidebar, one search bar, one homepage: every tool is a click away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h7b99a9c04b46e204_1_116"/>
          <p:cNvSpPr/>
          <p:nvPr/>
        </p:nvSpPr>
        <p:spPr>
          <a:xfrm>
            <a:off x="594360" y="1783080"/>
            <a:ext cx="2697600" cy="4617600"/>
          </a:xfrm>
          <a:prstGeom prst="roundRect">
            <a:avLst>
              <a:gd fmla="val 4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h7b99a9c04b46e204_1_116"/>
          <p:cNvSpPr/>
          <p:nvPr/>
        </p:nvSpPr>
        <p:spPr>
          <a:xfrm>
            <a:off x="822960" y="2011680"/>
            <a:ext cx="1143000" cy="384000"/>
          </a:xfrm>
          <a:prstGeom prst="roundRect">
            <a:avLst>
              <a:gd fmla="val 30000" name="adj"/>
            </a:avLst>
          </a:prstGeom>
          <a:solidFill>
            <a:srgbClr val="E843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lus_white.png" id="818" name="Google Shape;818;h7b99a9c04b46e204_1_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20939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h7b99a9c04b46e204_1_116"/>
          <p:cNvSpPr txBox="1"/>
          <p:nvPr/>
        </p:nvSpPr>
        <p:spPr>
          <a:xfrm>
            <a:off x="1197864" y="2011680"/>
            <a:ext cx="731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lder_navy.png" id="820" name="Google Shape;820;h7b99a9c04b46e204_1_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6426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h7b99a9c04b46e204_1_116"/>
          <p:cNvSpPr txBox="1"/>
          <p:nvPr/>
        </p:nvSpPr>
        <p:spPr>
          <a:xfrm>
            <a:off x="1234440" y="2551176"/>
            <a:ext cx="187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Workspace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ock_navy.png" id="822" name="Google Shape;822;h7b99a9c04b46e204_1_1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30998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h7b99a9c04b46e204_1_116"/>
          <p:cNvSpPr txBox="1"/>
          <p:nvPr/>
        </p:nvSpPr>
        <p:spPr>
          <a:xfrm>
            <a:off x="1234440" y="3008376"/>
            <a:ext cx="187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Recents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h7b99a9c04b46e204_1_116"/>
          <p:cNvSpPr/>
          <p:nvPr/>
        </p:nvSpPr>
        <p:spPr>
          <a:xfrm>
            <a:off x="704088" y="3465576"/>
            <a:ext cx="2478000" cy="402300"/>
          </a:xfrm>
          <a:prstGeom prst="roundRect">
            <a:avLst>
              <a:gd fmla="val 20000" name="adj"/>
            </a:avLst>
          </a:prstGeom>
          <a:solidFill>
            <a:srgbClr val="FDEC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yers_orange.png" id="825" name="Google Shape;825;h7b99a9c04b46e204_1_1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680" y="35570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h7b99a9c04b46e204_1_116"/>
          <p:cNvSpPr txBox="1"/>
          <p:nvPr/>
        </p:nvSpPr>
        <p:spPr>
          <a:xfrm>
            <a:off x="1234440" y="3465576"/>
            <a:ext cx="187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F1F2E"/>
                </a:solidFill>
                <a:latin typeface="Arial"/>
                <a:ea typeface="Arial"/>
                <a:cs typeface="Arial"/>
                <a:sym typeface="Arial"/>
              </a:rPr>
              <a:t>Catalog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f_navy.png" id="827" name="Google Shape;827;h7b99a9c04b46e204_1_1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8680" y="4014215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h7b99a9c04b46e204_1_116"/>
          <p:cNvSpPr txBox="1"/>
          <p:nvPr/>
        </p:nvSpPr>
        <p:spPr>
          <a:xfrm>
            <a:off x="1234440" y="3922776"/>
            <a:ext cx="187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Jobs &amp; Pipelines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pu_navy.png" id="829" name="Google Shape;829;h7b99a9c04b46e204_1_1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8680" y="44714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h7b99a9c04b46e204_1_116"/>
          <p:cNvSpPr txBox="1"/>
          <p:nvPr/>
        </p:nvSpPr>
        <p:spPr>
          <a:xfrm>
            <a:off x="1234440" y="4379976"/>
            <a:ext cx="187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Compute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ass_navy.png" id="831" name="Google Shape;831;h7b99a9c04b46e204_1_1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8680" y="49286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h7b99a9c04b46e204_1_116"/>
          <p:cNvSpPr txBox="1"/>
          <p:nvPr/>
        </p:nvSpPr>
        <p:spPr>
          <a:xfrm>
            <a:off x="1234440" y="4837176"/>
            <a:ext cx="187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Discover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tore_navy.png" id="833" name="Google Shape;833;h7b99a9c04b46e204_1_1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8680" y="53858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h7b99a9c04b46e204_1_116"/>
          <p:cNvSpPr txBox="1"/>
          <p:nvPr/>
        </p:nvSpPr>
        <p:spPr>
          <a:xfrm>
            <a:off x="1234440" y="5294376"/>
            <a:ext cx="187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Marketplace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5" name="Google Shape;835;h7b99a9c04b46e204_1_116"/>
          <p:cNvCxnSpPr/>
          <p:nvPr/>
        </p:nvCxnSpPr>
        <p:spPr>
          <a:xfrm>
            <a:off x="822960" y="5852159"/>
            <a:ext cx="2240400" cy="0"/>
          </a:xfrm>
          <a:prstGeom prst="straightConnector1">
            <a:avLst/>
          </a:prstGeom>
          <a:noFill/>
          <a:ln cap="flat" cmpd="sng" w="1587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836" name="Google Shape;836;h7b99a9c04b46e204_1_116"/>
          <p:cNvSpPr txBox="1"/>
          <p:nvPr/>
        </p:nvSpPr>
        <p:spPr>
          <a:xfrm>
            <a:off x="868680" y="5961888"/>
            <a:ext cx="224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7A90"/>
                </a:solidFill>
                <a:latin typeface="Arial"/>
                <a:ea typeface="Arial"/>
                <a:cs typeface="Arial"/>
                <a:sym typeface="Arial"/>
              </a:rPr>
              <a:t>+ SQL · Data Engineering · AI/ML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A7A90"/>
                </a:solidFill>
                <a:latin typeface="Arial"/>
                <a:ea typeface="Arial"/>
                <a:cs typeface="Arial"/>
                <a:sym typeface="Arial"/>
              </a:rPr>
              <a:t>persona sections below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h7b99a9c04b46e204_1_116"/>
          <p:cNvSpPr/>
          <p:nvPr/>
        </p:nvSpPr>
        <p:spPr>
          <a:xfrm>
            <a:off x="3566160" y="1783080"/>
            <a:ext cx="8028300" cy="548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arch_navy.png" id="838" name="Google Shape;838;h7b99a9c04b46e204_1_1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94760" y="1929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h7b99a9c04b46e204_1_116"/>
          <p:cNvSpPr txBox="1"/>
          <p:nvPr/>
        </p:nvSpPr>
        <p:spPr>
          <a:xfrm>
            <a:off x="4160520" y="1783080"/>
            <a:ext cx="448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A98A8"/>
                </a:solidFill>
                <a:latin typeface="Arial"/>
                <a:ea typeface="Arial"/>
                <a:cs typeface="Arial"/>
                <a:sym typeface="Arial"/>
              </a:rPr>
              <a:t>Search tables, notebooks, dashboards, jobs…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h7b99a9c04b46e204_1_116"/>
          <p:cNvSpPr/>
          <p:nvPr/>
        </p:nvSpPr>
        <p:spPr>
          <a:xfrm>
            <a:off x="8897112" y="1874519"/>
            <a:ext cx="1737300" cy="365700"/>
          </a:xfrm>
          <a:prstGeom prst="roundRect">
            <a:avLst>
              <a:gd fmla="val 50000" name="adj"/>
            </a:avLst>
          </a:prstGeom>
          <a:solidFill>
            <a:srgbClr val="E9EF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h7b99a9c04b46e204_1_116"/>
          <p:cNvSpPr txBox="1"/>
          <p:nvPr/>
        </p:nvSpPr>
        <p:spPr>
          <a:xfrm>
            <a:off x="8897112" y="1874519"/>
            <a:ext cx="1737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Workspace switcher ▾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h7b99a9c04b46e204_1_116"/>
          <p:cNvSpPr/>
          <p:nvPr/>
        </p:nvSpPr>
        <p:spPr>
          <a:xfrm>
            <a:off x="10771632" y="1874519"/>
            <a:ext cx="548700" cy="365700"/>
          </a:xfrm>
          <a:prstGeom prst="roundRect">
            <a:avLst>
              <a:gd fmla="val 50000" name="adj"/>
            </a:avLst>
          </a:prstGeom>
          <a:solidFill>
            <a:srgbClr val="FDEC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arkles_orange.png" id="843" name="Google Shape;843;h7b99a9c04b46e204_1_1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927080" y="192938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h7b99a9c04b46e204_1_116"/>
          <p:cNvSpPr txBox="1"/>
          <p:nvPr/>
        </p:nvSpPr>
        <p:spPr>
          <a:xfrm>
            <a:off x="8897112" y="2359152"/>
            <a:ext cx="2423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7A90"/>
                </a:solidFill>
                <a:latin typeface="Arial"/>
                <a:ea typeface="Arial"/>
                <a:cs typeface="Arial"/>
                <a:sym typeface="Arial"/>
              </a:rPr>
              <a:t>Genie Code: in-product help 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h7b99a9c04b46e204_1_116"/>
          <p:cNvSpPr/>
          <p:nvPr/>
        </p:nvSpPr>
        <p:spPr>
          <a:xfrm>
            <a:off x="3566160" y="2743200"/>
            <a:ext cx="2493300" cy="1783200"/>
          </a:xfrm>
          <a:prstGeom prst="roundRect">
            <a:avLst>
              <a:gd fmla="val 6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h7b99a9c04b46e204_1_116"/>
          <p:cNvSpPr/>
          <p:nvPr/>
        </p:nvSpPr>
        <p:spPr>
          <a:xfrm>
            <a:off x="3767328" y="2944368"/>
            <a:ext cx="457200" cy="457200"/>
          </a:xfrm>
          <a:prstGeom prst="ellipse">
            <a:avLst/>
          </a:prstGeom>
          <a:solidFill>
            <a:srgbClr val="0F20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_white.png" id="847" name="Google Shape;847;h7b99a9c04b46e204_1_1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877056" y="305409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h7b99a9c04b46e204_1_116"/>
          <p:cNvSpPr txBox="1"/>
          <p:nvPr/>
        </p:nvSpPr>
        <p:spPr>
          <a:xfrm>
            <a:off x="4343400" y="3053610"/>
            <a:ext cx="1578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h7b99a9c04b46e204_1_116"/>
          <p:cNvSpPr txBox="1"/>
          <p:nvPr/>
        </p:nvSpPr>
        <p:spPr>
          <a:xfrm>
            <a:off x="3767328" y="3547872"/>
            <a:ext cx="2127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SQL Editor · Queries · Dashboards · Genie Agents · Alerts · Query History · SQL Warehouses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h7b99a9c04b46e204_1_116"/>
          <p:cNvSpPr/>
          <p:nvPr/>
        </p:nvSpPr>
        <p:spPr>
          <a:xfrm>
            <a:off x="6333743" y="2743200"/>
            <a:ext cx="2493300" cy="1783200"/>
          </a:xfrm>
          <a:prstGeom prst="roundRect">
            <a:avLst>
              <a:gd fmla="val 6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h7b99a9c04b46e204_1_116"/>
          <p:cNvSpPr/>
          <p:nvPr/>
        </p:nvSpPr>
        <p:spPr>
          <a:xfrm>
            <a:off x="6534911" y="2944368"/>
            <a:ext cx="457200" cy="457200"/>
          </a:xfrm>
          <a:prstGeom prst="ellipse">
            <a:avLst/>
          </a:prstGeom>
          <a:solidFill>
            <a:srgbClr val="0F20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f_white.png" id="852" name="Google Shape;852;h7b99a9c04b46e204_1_1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44639" y="305409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h7b99a9c04b46e204_1_116"/>
          <p:cNvSpPr txBox="1"/>
          <p:nvPr/>
        </p:nvSpPr>
        <p:spPr>
          <a:xfrm>
            <a:off x="7110983" y="2944368"/>
            <a:ext cx="157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h7b99a9c04b46e204_1_116"/>
          <p:cNvSpPr txBox="1"/>
          <p:nvPr/>
        </p:nvSpPr>
        <p:spPr>
          <a:xfrm>
            <a:off x="6534911" y="3547872"/>
            <a:ext cx="2127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Runs · Data Ingestion</a:t>
            </a:r>
            <a:b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(+ Jobs &amp; Pipelines in the top group)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h7b99a9c04b46e204_1_116"/>
          <p:cNvSpPr/>
          <p:nvPr/>
        </p:nvSpPr>
        <p:spPr>
          <a:xfrm>
            <a:off x="9101328" y="2743200"/>
            <a:ext cx="2493300" cy="1783200"/>
          </a:xfrm>
          <a:prstGeom prst="roundRect">
            <a:avLst>
              <a:gd fmla="val 6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h7b99a9c04b46e204_1_116"/>
          <p:cNvSpPr/>
          <p:nvPr/>
        </p:nvSpPr>
        <p:spPr>
          <a:xfrm>
            <a:off x="9302496" y="2944368"/>
            <a:ext cx="457200" cy="457200"/>
          </a:xfrm>
          <a:prstGeom prst="ellipse">
            <a:avLst/>
          </a:prstGeom>
          <a:solidFill>
            <a:srgbClr val="0F20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del_white.png" id="857" name="Google Shape;857;h7b99a9c04b46e204_1_1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412224" y="305409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h7b99a9c04b46e204_1_116"/>
          <p:cNvSpPr txBox="1"/>
          <p:nvPr/>
        </p:nvSpPr>
        <p:spPr>
          <a:xfrm>
            <a:off x="9878568" y="3053610"/>
            <a:ext cx="1578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AI/ML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h7b99a9c04b46e204_1_116"/>
          <p:cNvSpPr txBox="1"/>
          <p:nvPr/>
        </p:nvSpPr>
        <p:spPr>
          <a:xfrm>
            <a:off x="9302496" y="3547872"/>
            <a:ext cx="2127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Playground · Agents · AI Gateway · Experiments · Features · Models · Serving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h7b99a9c04b46e204_1_116"/>
          <p:cNvSpPr/>
          <p:nvPr/>
        </p:nvSpPr>
        <p:spPr>
          <a:xfrm>
            <a:off x="3566160" y="4800600"/>
            <a:ext cx="8028300" cy="1600200"/>
          </a:xfrm>
          <a:prstGeom prst="roundRect">
            <a:avLst>
              <a:gd fmla="val 5000" name="adj"/>
            </a:avLst>
          </a:prstGeom>
          <a:solidFill>
            <a:srgbClr val="0F20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ome_white.png" id="861" name="Google Shape;861;h7b99a9c04b46e204_1_1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840480" y="50292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h7b99a9c04b46e204_1_116"/>
          <p:cNvSpPr txBox="1"/>
          <p:nvPr/>
        </p:nvSpPr>
        <p:spPr>
          <a:xfrm>
            <a:off x="4251960" y="4983480"/>
            <a:ext cx="274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Homepage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h7b99a9c04b46e204_1_116"/>
          <p:cNvSpPr/>
          <p:nvPr/>
        </p:nvSpPr>
        <p:spPr>
          <a:xfrm>
            <a:off x="3840480" y="5513832"/>
            <a:ext cx="1732800" cy="685800"/>
          </a:xfrm>
          <a:prstGeom prst="roundRect">
            <a:avLst>
              <a:gd fmla="val 12000" name="adj"/>
            </a:avLst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h7b99a9c04b46e204_1_116"/>
          <p:cNvSpPr txBox="1"/>
          <p:nvPr/>
        </p:nvSpPr>
        <p:spPr>
          <a:xfrm>
            <a:off x="3977640" y="5550408"/>
            <a:ext cx="145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Ask Genie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h7b99a9c04b46e204_1_116"/>
          <p:cNvSpPr txBox="1"/>
          <p:nvPr/>
        </p:nvSpPr>
        <p:spPr>
          <a:xfrm>
            <a:off x="3977640" y="5833872"/>
            <a:ext cx="145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9C9D2"/>
                </a:solidFill>
                <a:latin typeface="Arial"/>
                <a:ea typeface="Arial"/>
                <a:cs typeface="Arial"/>
                <a:sym typeface="Arial"/>
              </a:rPr>
              <a:t>Natural-language entry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h7b99a9c04b46e204_1_116"/>
          <p:cNvSpPr/>
          <p:nvPr/>
        </p:nvSpPr>
        <p:spPr>
          <a:xfrm>
            <a:off x="5756148" y="5513832"/>
            <a:ext cx="1732800" cy="685800"/>
          </a:xfrm>
          <a:prstGeom prst="roundRect">
            <a:avLst>
              <a:gd fmla="val 12000" name="adj"/>
            </a:avLst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h7b99a9c04b46e204_1_116"/>
          <p:cNvSpPr txBox="1"/>
          <p:nvPr/>
        </p:nvSpPr>
        <p:spPr>
          <a:xfrm>
            <a:off x="5893308" y="5550408"/>
            <a:ext cx="145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Suggested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h7b99a9c04b46e204_1_116"/>
          <p:cNvSpPr txBox="1"/>
          <p:nvPr/>
        </p:nvSpPr>
        <p:spPr>
          <a:xfrm>
            <a:off x="5893308" y="5833872"/>
            <a:ext cx="1458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9C9D2"/>
                </a:solidFill>
                <a:latin typeface="Arial"/>
                <a:ea typeface="Arial"/>
                <a:cs typeface="Arial"/>
                <a:sym typeface="Arial"/>
              </a:rPr>
              <a:t>From your activity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h7b99a9c04b46e204_1_116"/>
          <p:cNvSpPr/>
          <p:nvPr/>
        </p:nvSpPr>
        <p:spPr>
          <a:xfrm>
            <a:off x="7671816" y="5513832"/>
            <a:ext cx="1732800" cy="685800"/>
          </a:xfrm>
          <a:prstGeom prst="roundRect">
            <a:avLst>
              <a:gd fmla="val 12000" name="adj"/>
            </a:avLst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h7b99a9c04b46e204_1_116"/>
          <p:cNvSpPr txBox="1"/>
          <p:nvPr/>
        </p:nvSpPr>
        <p:spPr>
          <a:xfrm>
            <a:off x="7808976" y="5550408"/>
            <a:ext cx="145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Favorited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h7b99a9c04b46e204_1_116"/>
          <p:cNvSpPr txBox="1"/>
          <p:nvPr/>
        </p:nvSpPr>
        <p:spPr>
          <a:xfrm>
            <a:off x="7808976" y="5833872"/>
            <a:ext cx="1458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9C9D2"/>
                </a:solidFill>
                <a:latin typeface="Arial"/>
                <a:ea typeface="Arial"/>
                <a:cs typeface="Arial"/>
                <a:sym typeface="Arial"/>
              </a:rPr>
              <a:t>Your starred objects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h7b99a9c04b46e204_1_116"/>
          <p:cNvSpPr/>
          <p:nvPr/>
        </p:nvSpPr>
        <p:spPr>
          <a:xfrm>
            <a:off x="9587484" y="5513832"/>
            <a:ext cx="1732800" cy="685800"/>
          </a:xfrm>
          <a:prstGeom prst="roundRect">
            <a:avLst>
              <a:gd fmla="val 12000" name="adj"/>
            </a:avLst>
          </a:prstGeom>
          <a:solidFill>
            <a:srgbClr val="1B3A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h7b99a9c04b46e204_1_116"/>
          <p:cNvSpPr txBox="1"/>
          <p:nvPr/>
        </p:nvSpPr>
        <p:spPr>
          <a:xfrm>
            <a:off x="9724644" y="5550408"/>
            <a:ext cx="145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Popular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h7b99a9c04b46e204_1_116"/>
          <p:cNvSpPr txBox="1"/>
          <p:nvPr/>
        </p:nvSpPr>
        <p:spPr>
          <a:xfrm>
            <a:off x="9724644" y="5833872"/>
            <a:ext cx="1458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9C9D2"/>
                </a:solidFill>
                <a:latin typeface="Arial"/>
                <a:ea typeface="Arial"/>
                <a:cs typeface="Arial"/>
                <a:sym typeface="Arial"/>
              </a:rPr>
              <a:t>Most used, last 30 days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h7b99a9c04b46e204_1_180"/>
          <p:cNvSpPr txBox="1"/>
          <p:nvPr/>
        </p:nvSpPr>
        <p:spPr>
          <a:xfrm>
            <a:off x="594360" y="365760"/>
            <a:ext cx="1097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Discovery Workflow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h7b99a9c04b46e204_1_180"/>
          <p:cNvSpPr txBox="1"/>
          <p:nvPr/>
        </p:nvSpPr>
        <p:spPr>
          <a:xfrm>
            <a:off x="594360" y="1051560"/>
            <a:ext cx="10972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E8432A"/>
                </a:solidFill>
                <a:latin typeface="Arial"/>
                <a:ea typeface="Arial"/>
                <a:cs typeface="Arial"/>
                <a:sym typeface="Arial"/>
              </a:rPr>
              <a:t>From a keyword to a trusted, query-ready table in five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1" name="Google Shape;881;h7b99a9c04b46e204_1_180"/>
          <p:cNvCxnSpPr/>
          <p:nvPr/>
        </p:nvCxnSpPr>
        <p:spPr>
          <a:xfrm>
            <a:off x="1618488" y="2103120"/>
            <a:ext cx="8952000" cy="0"/>
          </a:xfrm>
          <a:prstGeom prst="straightConnector1">
            <a:avLst/>
          </a:prstGeom>
          <a:noFill/>
          <a:ln cap="flat" cmpd="sng" w="25400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882" name="Google Shape;882;h7b99a9c04b46e204_1_180"/>
          <p:cNvSpPr/>
          <p:nvPr/>
        </p:nvSpPr>
        <p:spPr>
          <a:xfrm>
            <a:off x="1298448" y="1783080"/>
            <a:ext cx="640200" cy="640200"/>
          </a:xfrm>
          <a:prstGeom prst="ellipse">
            <a:avLst/>
          </a:prstGeom>
          <a:solidFill>
            <a:srgbClr val="E843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h7b99a9c04b46e204_1_180"/>
          <p:cNvSpPr txBox="1"/>
          <p:nvPr/>
        </p:nvSpPr>
        <p:spPr>
          <a:xfrm>
            <a:off x="1298448" y="1946366"/>
            <a:ext cx="64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h7b99a9c04b46e204_1_180"/>
          <p:cNvSpPr/>
          <p:nvPr/>
        </p:nvSpPr>
        <p:spPr>
          <a:xfrm>
            <a:off x="594360" y="2651760"/>
            <a:ext cx="2048400" cy="1463100"/>
          </a:xfrm>
          <a:prstGeom prst="roundRect">
            <a:avLst>
              <a:gd fmla="val 6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arch_navy.png" id="885" name="Google Shape;885;h7b99a9c04b46e204_1_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834639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h7b99a9c04b46e204_1_180"/>
          <p:cNvSpPr txBox="1"/>
          <p:nvPr/>
        </p:nvSpPr>
        <p:spPr>
          <a:xfrm>
            <a:off x="1161288" y="2861748"/>
            <a:ext cx="1362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h7b99a9c04b46e204_1_180"/>
          <p:cNvSpPr txBox="1"/>
          <p:nvPr/>
        </p:nvSpPr>
        <p:spPr>
          <a:xfrm>
            <a:off x="777240" y="3264408"/>
            <a:ext cx="172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Top-bar keyword or semantic search over table, column names &amp; comments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h7b99a9c04b46e204_1_180"/>
          <p:cNvSpPr/>
          <p:nvPr/>
        </p:nvSpPr>
        <p:spPr>
          <a:xfrm>
            <a:off x="3536441" y="1783080"/>
            <a:ext cx="640200" cy="640200"/>
          </a:xfrm>
          <a:prstGeom prst="ellipse">
            <a:avLst/>
          </a:prstGeom>
          <a:solidFill>
            <a:srgbClr val="E843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h7b99a9c04b46e204_1_180"/>
          <p:cNvSpPr txBox="1"/>
          <p:nvPr/>
        </p:nvSpPr>
        <p:spPr>
          <a:xfrm>
            <a:off x="3536441" y="1932759"/>
            <a:ext cx="64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h7b99a9c04b46e204_1_180"/>
          <p:cNvSpPr/>
          <p:nvPr/>
        </p:nvSpPr>
        <p:spPr>
          <a:xfrm>
            <a:off x="2832353" y="2651760"/>
            <a:ext cx="2048400" cy="1463100"/>
          </a:xfrm>
          <a:prstGeom prst="roundRect">
            <a:avLst>
              <a:gd fmla="val 6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ass_navy.png" id="891" name="Google Shape;891;h7b99a9c04b46e204_1_1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5234" y="2834639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h7b99a9c04b46e204_1_180"/>
          <p:cNvSpPr txBox="1"/>
          <p:nvPr/>
        </p:nvSpPr>
        <p:spPr>
          <a:xfrm>
            <a:off x="3399282" y="2849610"/>
            <a:ext cx="1362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Browse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h7b99a9c04b46e204_1_180"/>
          <p:cNvSpPr txBox="1"/>
          <p:nvPr/>
        </p:nvSpPr>
        <p:spPr>
          <a:xfrm>
            <a:off x="3015234" y="3264408"/>
            <a:ext cx="1728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Catalog Explorer, or the Discover page by business domain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h7b99a9c04b46e204_1_180"/>
          <p:cNvSpPr/>
          <p:nvPr/>
        </p:nvSpPr>
        <p:spPr>
          <a:xfrm>
            <a:off x="5774436" y="1783080"/>
            <a:ext cx="640200" cy="640200"/>
          </a:xfrm>
          <a:prstGeom prst="ellipse">
            <a:avLst/>
          </a:prstGeom>
          <a:solidFill>
            <a:srgbClr val="E843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h7b99a9c04b46e204_1_180"/>
          <p:cNvSpPr txBox="1"/>
          <p:nvPr/>
        </p:nvSpPr>
        <p:spPr>
          <a:xfrm>
            <a:off x="5774436" y="1932759"/>
            <a:ext cx="64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h7b99a9c04b46e204_1_180"/>
          <p:cNvSpPr/>
          <p:nvPr/>
        </p:nvSpPr>
        <p:spPr>
          <a:xfrm>
            <a:off x="5070348" y="2651760"/>
            <a:ext cx="2048400" cy="1463100"/>
          </a:xfrm>
          <a:prstGeom prst="roundRect">
            <a:avLst>
              <a:gd fmla="val 6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_navy.png" id="897" name="Google Shape;897;h7b99a9c04b46e204_1_1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3228" y="2834639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h7b99a9c04b46e204_1_180"/>
          <p:cNvSpPr txBox="1"/>
          <p:nvPr/>
        </p:nvSpPr>
        <p:spPr>
          <a:xfrm>
            <a:off x="5637276" y="2849610"/>
            <a:ext cx="1362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Inspect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h7b99a9c04b46e204_1_180"/>
          <p:cNvSpPr txBox="1"/>
          <p:nvPr/>
        </p:nvSpPr>
        <p:spPr>
          <a:xfrm>
            <a:off x="5253228" y="3264408"/>
            <a:ext cx="1728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Columns, comments, Sample Data, details, permissions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h7b99a9c04b46e204_1_180"/>
          <p:cNvSpPr/>
          <p:nvPr/>
        </p:nvSpPr>
        <p:spPr>
          <a:xfrm>
            <a:off x="8012430" y="1783080"/>
            <a:ext cx="640200" cy="640200"/>
          </a:xfrm>
          <a:prstGeom prst="ellipse">
            <a:avLst/>
          </a:prstGeom>
          <a:solidFill>
            <a:srgbClr val="E843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h7b99a9c04b46e204_1_180"/>
          <p:cNvSpPr txBox="1"/>
          <p:nvPr/>
        </p:nvSpPr>
        <p:spPr>
          <a:xfrm>
            <a:off x="8012430" y="1932759"/>
            <a:ext cx="64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h7b99a9c04b46e204_1_180"/>
          <p:cNvSpPr/>
          <p:nvPr/>
        </p:nvSpPr>
        <p:spPr>
          <a:xfrm>
            <a:off x="7308342" y="2651760"/>
            <a:ext cx="2048400" cy="1463100"/>
          </a:xfrm>
          <a:prstGeom prst="roundRect">
            <a:avLst>
              <a:gd fmla="val 6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it_navy.png" id="903" name="Google Shape;903;h7b99a9c04b46e204_1_1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1221" y="2834639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h7b99a9c04b46e204_1_180"/>
          <p:cNvSpPr txBox="1"/>
          <p:nvPr/>
        </p:nvSpPr>
        <p:spPr>
          <a:xfrm>
            <a:off x="7875269" y="2825334"/>
            <a:ext cx="1362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Trust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h7b99a9c04b46e204_1_180"/>
          <p:cNvSpPr txBox="1"/>
          <p:nvPr/>
        </p:nvSpPr>
        <p:spPr>
          <a:xfrm>
            <a:off x="7491221" y="3264408"/>
            <a:ext cx="1728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Lineage, history &amp; insights: top queries and users (30 days)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h7b99a9c04b46e204_1_180"/>
          <p:cNvSpPr/>
          <p:nvPr/>
        </p:nvSpPr>
        <p:spPr>
          <a:xfrm>
            <a:off x="10250424" y="1783080"/>
            <a:ext cx="640200" cy="640200"/>
          </a:xfrm>
          <a:prstGeom prst="ellipse">
            <a:avLst/>
          </a:prstGeom>
          <a:solidFill>
            <a:srgbClr val="E843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h7b99a9c04b46e204_1_180"/>
          <p:cNvSpPr txBox="1"/>
          <p:nvPr/>
        </p:nvSpPr>
        <p:spPr>
          <a:xfrm>
            <a:off x="10250424" y="1932759"/>
            <a:ext cx="64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h7b99a9c04b46e204_1_180"/>
          <p:cNvSpPr/>
          <p:nvPr/>
        </p:nvSpPr>
        <p:spPr>
          <a:xfrm>
            <a:off x="9546336" y="2651760"/>
            <a:ext cx="2048400" cy="1463100"/>
          </a:xfrm>
          <a:prstGeom prst="roundRect">
            <a:avLst>
              <a:gd fmla="val 6000" name="adj"/>
            </a:avLst>
          </a:prstGeom>
          <a:solidFill>
            <a:srgbClr val="F2F4F6"/>
          </a:solidFill>
          <a:ln cap="flat" cmpd="sng" w="9525">
            <a:solidFill>
              <a:srgbClr val="C9D3D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de_navy.png" id="909" name="Google Shape;909;h7b99a9c04b46e204_1_18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29215" y="2834639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h7b99a9c04b46e204_1_180"/>
          <p:cNvSpPr txBox="1"/>
          <p:nvPr/>
        </p:nvSpPr>
        <p:spPr>
          <a:xfrm>
            <a:off x="10113263" y="2849610"/>
            <a:ext cx="1362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h7b99a9c04b46e204_1_180"/>
          <p:cNvSpPr txBox="1"/>
          <p:nvPr/>
        </p:nvSpPr>
        <p:spPr>
          <a:xfrm>
            <a:off x="9729215" y="3264408"/>
            <a:ext cx="1728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Catalog pane in notebooks &amp; SQL editor, or ask Genie 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h7b99a9c04b46e204_1_180"/>
          <p:cNvSpPr/>
          <p:nvPr/>
        </p:nvSpPr>
        <p:spPr>
          <a:xfrm>
            <a:off x="594360" y="4434840"/>
            <a:ext cx="6035100" cy="1965900"/>
          </a:xfrm>
          <a:prstGeom prst="roundRect">
            <a:avLst>
              <a:gd fmla="val 5000" name="adj"/>
            </a:avLst>
          </a:prstGeom>
          <a:solidFill>
            <a:srgbClr val="0F202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h7b99a9c04b46e204_1_180"/>
          <p:cNvSpPr txBox="1"/>
          <p:nvPr/>
        </p:nvSpPr>
        <p:spPr>
          <a:xfrm>
            <a:off x="868680" y="4572000"/>
            <a:ext cx="5486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E7356"/>
                </a:solidFill>
                <a:latin typeface="Arial"/>
                <a:ea typeface="Arial"/>
                <a:cs typeface="Arial"/>
                <a:sym typeface="Arial"/>
              </a:rPr>
              <a:t>Same discovery, in 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h7b99a9c04b46e204_1_180"/>
          <p:cNvSpPr txBox="1"/>
          <p:nvPr/>
        </p:nvSpPr>
        <p:spPr>
          <a:xfrm>
            <a:off x="868680" y="4937759"/>
            <a:ext cx="55779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SHOW CATALOGS;</a:t>
            </a:r>
            <a:r>
              <a:rPr b="0" i="0" lang="en-US" sz="1200" u="none" cap="none" strike="noStrike">
                <a:solidFill>
                  <a:srgbClr val="7A98A8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-- what can I see?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SHOW TABLES IN sales.gold;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DESCRIBE TABLE EXTENDED sales.gold.orders;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DESCRIBE HISTORY sales.gold.orders;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LIST '/Volumes/sales/gold/raw_files/';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h7b99a9c04b46e204_1_180"/>
          <p:cNvSpPr/>
          <p:nvPr/>
        </p:nvSpPr>
        <p:spPr>
          <a:xfrm>
            <a:off x="6903720" y="4434840"/>
            <a:ext cx="4690800" cy="1965900"/>
          </a:xfrm>
          <a:prstGeom prst="roundRect">
            <a:avLst>
              <a:gd fmla="val 5000" name="adj"/>
            </a:avLst>
          </a:prstGeom>
          <a:solidFill>
            <a:srgbClr val="FDEC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arkles_orange.png" id="916" name="Google Shape;916;h7b99a9c04b46e204_1_18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78040" y="4636007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h7b99a9c04b46e204_1_180"/>
          <p:cNvSpPr txBox="1"/>
          <p:nvPr/>
        </p:nvSpPr>
        <p:spPr>
          <a:xfrm>
            <a:off x="7589520" y="4647983"/>
            <a:ext cx="377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F1F2E"/>
                </a:solidFill>
                <a:latin typeface="Arial"/>
                <a:ea typeface="Arial"/>
                <a:cs typeface="Arial"/>
                <a:sym typeface="Arial"/>
              </a:rPr>
              <a:t>AI-assisted discovery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h7b99a9c04b46e204_1_180"/>
          <p:cNvSpPr txBox="1"/>
          <p:nvPr/>
        </p:nvSpPr>
        <p:spPr>
          <a:xfrm>
            <a:off x="7178040" y="5166359"/>
            <a:ext cx="4233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AI-generated comments </a:t>
            </a:r>
            <a:r>
              <a:rPr b="0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describe tables &amp; columns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Genie One </a:t>
            </a:r>
            <a:r>
              <a:rPr b="0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answers data questions in plain English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Genie Code </a:t>
            </a:r>
            <a:r>
              <a:rPr b="0" i="0" lang="en-US" sz="13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explains lineage and usage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h7b99a9c04b46e204_1_225"/>
          <p:cNvSpPr txBox="1"/>
          <p:nvPr/>
        </p:nvSpPr>
        <p:spPr>
          <a:xfrm>
            <a:off x="1524010" y="3017560"/>
            <a:ext cx="9144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Lakeflow and Data Ingestion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h7b99a9c04b46e204_1_549"/>
          <p:cNvSpPr/>
          <p:nvPr/>
        </p:nvSpPr>
        <p:spPr>
          <a:xfrm>
            <a:off x="502920" y="1380744"/>
            <a:ext cx="11192400" cy="3276900"/>
          </a:xfrm>
          <a:prstGeom prst="roundRect">
            <a:avLst>
              <a:gd fmla="val 4186" name="adj"/>
            </a:avLst>
          </a:prstGeom>
          <a:solidFill>
            <a:srgbClr val="FFFFFF"/>
          </a:solidFill>
          <a:ln cap="flat" cmpd="sng" w="12700">
            <a:solidFill>
              <a:srgbClr val="F8C9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h7b99a9c04b46e204_1_549"/>
          <p:cNvSpPr/>
          <p:nvPr/>
        </p:nvSpPr>
        <p:spPr>
          <a:xfrm>
            <a:off x="4382902" y="914400"/>
            <a:ext cx="3426000" cy="485100"/>
          </a:xfrm>
          <a:prstGeom prst="roundRect">
            <a:avLst>
              <a:gd fmla="val 22624" name="adj"/>
            </a:avLst>
          </a:prstGeom>
          <a:solidFill>
            <a:srgbClr val="FFFFFF"/>
          </a:solidFill>
          <a:ln cap="flat" cmpd="sng" w="12700">
            <a:solidFill>
              <a:srgbClr val="F8C9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h7b99a9c04b46e204_1_549"/>
          <p:cNvSpPr/>
          <p:nvPr/>
        </p:nvSpPr>
        <p:spPr>
          <a:xfrm>
            <a:off x="4401556" y="1349654"/>
            <a:ext cx="3388800" cy="7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h7b99a9c04b46e204_1_549"/>
          <p:cNvSpPr txBox="1"/>
          <p:nvPr/>
        </p:nvSpPr>
        <p:spPr>
          <a:xfrm>
            <a:off x="4382902" y="914400"/>
            <a:ext cx="34260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databricks </a:t>
            </a:r>
            <a:r>
              <a:rPr b="1" i="0" lang="en-US" sz="2200" u="none" cap="none" strike="noStrike">
                <a:solidFill>
                  <a:srgbClr val="EE6C50"/>
                </a:solidFill>
                <a:latin typeface="Arial"/>
                <a:ea typeface="Arial"/>
                <a:cs typeface="Arial"/>
                <a:sym typeface="Arial"/>
              </a:rPr>
              <a:t>LAKEFLOW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h7b99a9c04b46e204_1_549"/>
          <p:cNvSpPr txBox="1"/>
          <p:nvPr/>
        </p:nvSpPr>
        <p:spPr>
          <a:xfrm>
            <a:off x="502920" y="1486449"/>
            <a:ext cx="111924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6C5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E6C50"/>
                </a:solidFill>
                <a:latin typeface="Arial"/>
                <a:ea typeface="Arial"/>
                <a:cs typeface="Arial"/>
                <a:sym typeface="Arial"/>
              </a:rPr>
              <a:t>UNIFIED DATA ENGINEERING FOR THE DATA INTELLIGENCE PLATFORM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h7b99a9c04b46e204_1_549"/>
          <p:cNvSpPr/>
          <p:nvPr/>
        </p:nvSpPr>
        <p:spPr>
          <a:xfrm>
            <a:off x="677022" y="1927921"/>
            <a:ext cx="3513000" cy="1560600"/>
          </a:xfrm>
          <a:prstGeom prst="roundRect">
            <a:avLst>
              <a:gd fmla="val 3515" name="adj"/>
            </a:avLst>
          </a:prstGeom>
          <a:solidFill>
            <a:srgbClr val="FFFFFF"/>
          </a:solidFill>
          <a:ln cap="flat" cmpd="sng" w="9525">
            <a:solidFill>
              <a:srgbClr val="E8DA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h7b99a9c04b46e204_1_549"/>
          <p:cNvSpPr/>
          <p:nvPr/>
        </p:nvSpPr>
        <p:spPr>
          <a:xfrm>
            <a:off x="677022" y="1927921"/>
            <a:ext cx="3513000" cy="808200"/>
          </a:xfrm>
          <a:prstGeom prst="rect">
            <a:avLst/>
          </a:prstGeom>
          <a:solidFill>
            <a:srgbClr val="EE6C50"/>
          </a:solidFill>
          <a:ln cap="flat" cmpd="sng" w="12700">
            <a:solidFill>
              <a:srgbClr val="EE6C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h7b99a9c04b46e204_1_549"/>
          <p:cNvSpPr txBox="1"/>
          <p:nvPr/>
        </p:nvSpPr>
        <p:spPr>
          <a:xfrm>
            <a:off x="677022" y="1927921"/>
            <a:ext cx="35130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CONNECT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h7b99a9c04b46e204_1_549"/>
          <p:cNvSpPr txBox="1"/>
          <p:nvPr/>
        </p:nvSpPr>
        <p:spPr>
          <a:xfrm>
            <a:off x="722742" y="2845979"/>
            <a:ext cx="34218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Efficient ingestion connectors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h7b99a9c04b46e204_1_549"/>
          <p:cNvSpPr/>
          <p:nvPr/>
        </p:nvSpPr>
        <p:spPr>
          <a:xfrm>
            <a:off x="4345595" y="1927921"/>
            <a:ext cx="3507000" cy="1560600"/>
          </a:xfrm>
          <a:prstGeom prst="roundRect">
            <a:avLst>
              <a:gd fmla="val 3515" name="adj"/>
            </a:avLst>
          </a:prstGeom>
          <a:solidFill>
            <a:srgbClr val="FFFFFF"/>
          </a:solidFill>
          <a:ln cap="flat" cmpd="sng" w="9525">
            <a:solidFill>
              <a:srgbClr val="E8DA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h7b99a9c04b46e204_1_549"/>
          <p:cNvSpPr/>
          <p:nvPr/>
        </p:nvSpPr>
        <p:spPr>
          <a:xfrm>
            <a:off x="4345595" y="1927921"/>
            <a:ext cx="3507000" cy="939000"/>
          </a:xfrm>
          <a:prstGeom prst="rect">
            <a:avLst/>
          </a:prstGeom>
          <a:solidFill>
            <a:srgbClr val="EE6C50"/>
          </a:solidFill>
          <a:ln cap="flat" cmpd="sng" w="12700">
            <a:solidFill>
              <a:srgbClr val="EE6C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h7b99a9c04b46e204_1_549"/>
          <p:cNvSpPr txBox="1"/>
          <p:nvPr/>
        </p:nvSpPr>
        <p:spPr>
          <a:xfrm>
            <a:off x="4345595" y="1927921"/>
            <a:ext cx="3507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APACHE SPARK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DECLARATIVE PIPELINES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(SDP)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h7b99a9c04b46e204_1_549"/>
          <p:cNvSpPr txBox="1"/>
          <p:nvPr/>
        </p:nvSpPr>
        <p:spPr>
          <a:xfrm>
            <a:off x="4391315" y="2976555"/>
            <a:ext cx="3415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Accelerated ETL development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h7b99a9c04b46e204_1_549"/>
          <p:cNvSpPr/>
          <p:nvPr/>
        </p:nvSpPr>
        <p:spPr>
          <a:xfrm>
            <a:off x="8007949" y="1927921"/>
            <a:ext cx="3513000" cy="1560600"/>
          </a:xfrm>
          <a:prstGeom prst="roundRect">
            <a:avLst>
              <a:gd fmla="val 3515" name="adj"/>
            </a:avLst>
          </a:prstGeom>
          <a:solidFill>
            <a:srgbClr val="FFFFFF"/>
          </a:solidFill>
          <a:ln cap="flat" cmpd="sng" w="9525">
            <a:solidFill>
              <a:srgbClr val="E8DA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h7b99a9c04b46e204_1_549"/>
          <p:cNvSpPr/>
          <p:nvPr/>
        </p:nvSpPr>
        <p:spPr>
          <a:xfrm>
            <a:off x="8007949" y="1927921"/>
            <a:ext cx="3513000" cy="808200"/>
          </a:xfrm>
          <a:prstGeom prst="rect">
            <a:avLst/>
          </a:prstGeom>
          <a:solidFill>
            <a:srgbClr val="EE6C50"/>
          </a:solidFill>
          <a:ln cap="flat" cmpd="sng" w="12700">
            <a:solidFill>
              <a:srgbClr val="EE6C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h7b99a9c04b46e204_1_549"/>
          <p:cNvSpPr txBox="1"/>
          <p:nvPr/>
        </p:nvSpPr>
        <p:spPr>
          <a:xfrm>
            <a:off x="8007949" y="1927921"/>
            <a:ext cx="35130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JOBS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h7b99a9c04b46e204_1_549"/>
          <p:cNvSpPr txBox="1"/>
          <p:nvPr/>
        </p:nvSpPr>
        <p:spPr>
          <a:xfrm>
            <a:off x="8053669" y="2845979"/>
            <a:ext cx="34218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Reliable orchestration for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analytics and AI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h7b99a9c04b46e204_1_549"/>
          <p:cNvSpPr/>
          <p:nvPr/>
        </p:nvSpPr>
        <p:spPr>
          <a:xfrm>
            <a:off x="670804" y="3637849"/>
            <a:ext cx="10850400" cy="858000"/>
          </a:xfrm>
          <a:prstGeom prst="roundRect">
            <a:avLst>
              <a:gd fmla="val 10656" name="adj"/>
            </a:avLst>
          </a:prstGeom>
          <a:solidFill>
            <a:srgbClr val="EE6C50"/>
          </a:solidFill>
          <a:ln cap="flat" cmpd="sng" w="12700">
            <a:solidFill>
              <a:srgbClr val="EE6C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h7b99a9c04b46e204_1_549"/>
          <p:cNvSpPr txBox="1"/>
          <p:nvPr/>
        </p:nvSpPr>
        <p:spPr>
          <a:xfrm>
            <a:off x="670804" y="3637849"/>
            <a:ext cx="10850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INDUSTRY LEADING DATA PROCESSING ENGINE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(Apache Spark + Structured Streaming)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h7b99a9c04b46e204_1_549"/>
          <p:cNvSpPr/>
          <p:nvPr/>
        </p:nvSpPr>
        <p:spPr>
          <a:xfrm>
            <a:off x="515356" y="4763292"/>
            <a:ext cx="11173500" cy="485100"/>
          </a:xfrm>
          <a:prstGeom prst="roundRect">
            <a:avLst>
              <a:gd fmla="val 9427" name="adj"/>
            </a:avLst>
          </a:prstGeom>
          <a:solidFill>
            <a:srgbClr val="FFFFFF"/>
          </a:solidFill>
          <a:ln cap="flat" cmpd="sng" w="9525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h7b99a9c04b46e204_1_549"/>
          <p:cNvSpPr/>
          <p:nvPr/>
        </p:nvSpPr>
        <p:spPr>
          <a:xfrm>
            <a:off x="515356" y="4763292"/>
            <a:ext cx="2997000" cy="485100"/>
          </a:xfrm>
          <a:prstGeom prst="rect">
            <a:avLst/>
          </a:prstGeom>
          <a:solidFill>
            <a:srgbClr val="6B8896"/>
          </a:solidFill>
          <a:ln cap="flat" cmpd="sng" w="12700">
            <a:solidFill>
              <a:srgbClr val="6B8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h7b99a9c04b46e204_1_549"/>
          <p:cNvSpPr txBox="1"/>
          <p:nvPr/>
        </p:nvSpPr>
        <p:spPr>
          <a:xfrm>
            <a:off x="670804" y="4763292"/>
            <a:ext cx="27981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UNIFIED GOVERNANCE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h7b99a9c04b46e204_1_549"/>
          <p:cNvSpPr/>
          <p:nvPr/>
        </p:nvSpPr>
        <p:spPr>
          <a:xfrm>
            <a:off x="515356" y="5329123"/>
            <a:ext cx="11173500" cy="485100"/>
          </a:xfrm>
          <a:prstGeom prst="roundRect">
            <a:avLst>
              <a:gd fmla="val 9427" name="adj"/>
            </a:avLst>
          </a:prstGeom>
          <a:solidFill>
            <a:srgbClr val="FFFFFF"/>
          </a:solidFill>
          <a:ln cap="flat" cmpd="sng" w="9525">
            <a:solidFill>
              <a:srgbClr val="E4E4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h7b99a9c04b46e204_1_549"/>
          <p:cNvSpPr/>
          <p:nvPr/>
        </p:nvSpPr>
        <p:spPr>
          <a:xfrm>
            <a:off x="515356" y="5329123"/>
            <a:ext cx="2997000" cy="485100"/>
          </a:xfrm>
          <a:prstGeom prst="rect">
            <a:avLst/>
          </a:prstGeom>
          <a:solidFill>
            <a:srgbClr val="6B8896"/>
          </a:solidFill>
          <a:ln cap="flat" cmpd="sng" w="12700">
            <a:solidFill>
              <a:srgbClr val="6B8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h7b99a9c04b46e204_1_549"/>
          <p:cNvSpPr txBox="1"/>
          <p:nvPr/>
        </p:nvSpPr>
        <p:spPr>
          <a:xfrm>
            <a:off x="670804" y="5329123"/>
            <a:ext cx="27981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OPTIMIZED STORAGE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h7b99a9c04b46e204_1_549"/>
          <p:cNvSpPr txBox="1"/>
          <p:nvPr/>
        </p:nvSpPr>
        <p:spPr>
          <a:xfrm>
            <a:off x="3512393" y="4763292"/>
            <a:ext cx="81765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Unity Catalog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h7b99a9c04b46e204_1_549"/>
          <p:cNvSpPr txBox="1"/>
          <p:nvPr/>
        </p:nvSpPr>
        <p:spPr>
          <a:xfrm>
            <a:off x="5439948" y="5329123"/>
            <a:ext cx="16167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Delta Lake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h7b99a9c04b46e204_1_549"/>
          <p:cNvSpPr txBox="1"/>
          <p:nvPr/>
        </p:nvSpPr>
        <p:spPr>
          <a:xfrm>
            <a:off x="6938467" y="5329123"/>
            <a:ext cx="16167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Parquet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h7b99a9c04b46e204_1_549"/>
          <p:cNvSpPr txBox="1"/>
          <p:nvPr/>
        </p:nvSpPr>
        <p:spPr>
          <a:xfrm>
            <a:off x="8287756" y="5329123"/>
            <a:ext cx="16167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Iceberg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8" name="Google Shape;958;h7b99a9c04b46e204_1_549"/>
          <p:cNvCxnSpPr/>
          <p:nvPr/>
        </p:nvCxnSpPr>
        <p:spPr>
          <a:xfrm>
            <a:off x="7062826" y="5497007"/>
            <a:ext cx="0" cy="155400"/>
          </a:xfrm>
          <a:prstGeom prst="straightConnector1">
            <a:avLst/>
          </a:prstGeom>
          <a:noFill/>
          <a:ln cap="flat" cmpd="sng" w="12700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9" name="Google Shape;959;h7b99a9c04b46e204_1_549"/>
          <p:cNvCxnSpPr/>
          <p:nvPr/>
        </p:nvCxnSpPr>
        <p:spPr>
          <a:xfrm>
            <a:off x="8430768" y="5497007"/>
            <a:ext cx="0" cy="155400"/>
          </a:xfrm>
          <a:prstGeom prst="straightConnector1">
            <a:avLst/>
          </a:prstGeom>
          <a:noFill/>
          <a:ln cap="flat" cmpd="sng" w="12700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h7b99a9c04b46e204_1_796"/>
          <p:cNvSpPr txBox="1"/>
          <p:nvPr/>
        </p:nvSpPr>
        <p:spPr>
          <a:xfrm>
            <a:off x="457200" y="563499"/>
            <a:ext cx="112008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Medallion Architecture (Multi Hop) Review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h7b99a9c04b46e204_1_796"/>
          <p:cNvSpPr txBox="1"/>
          <p:nvPr/>
        </p:nvSpPr>
        <p:spPr>
          <a:xfrm>
            <a:off x="457200" y="1019556"/>
            <a:ext cx="112008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5B6C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B5B6C"/>
                </a:solidFill>
                <a:latin typeface="Arial"/>
                <a:ea typeface="Arial"/>
                <a:cs typeface="Arial"/>
                <a:sym typeface="Arial"/>
              </a:rPr>
              <a:t>Progressively improving data quality across Bronze, Silver, and Gold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h7b99a9c04b46e204_1_796"/>
          <p:cNvSpPr/>
          <p:nvPr/>
        </p:nvSpPr>
        <p:spPr>
          <a:xfrm>
            <a:off x="463281" y="1506017"/>
            <a:ext cx="1532400" cy="358800"/>
          </a:xfrm>
          <a:prstGeom prst="rect">
            <a:avLst/>
          </a:prstGeom>
          <a:solidFill>
            <a:srgbClr val="F5F4F1"/>
          </a:solidFill>
          <a:ln cap="flat" cmpd="sng" w="9525">
            <a:solidFill>
              <a:srgbClr val="E4E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h7b99a9c04b46e204_1_796"/>
          <p:cNvSpPr txBox="1"/>
          <p:nvPr/>
        </p:nvSpPr>
        <p:spPr>
          <a:xfrm>
            <a:off x="463281" y="1506017"/>
            <a:ext cx="15324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Ingest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h7b99a9c04b46e204_1_796"/>
          <p:cNvSpPr/>
          <p:nvPr/>
        </p:nvSpPr>
        <p:spPr>
          <a:xfrm>
            <a:off x="2159813" y="1506017"/>
            <a:ext cx="7674000" cy="358800"/>
          </a:xfrm>
          <a:prstGeom prst="rect">
            <a:avLst/>
          </a:prstGeom>
          <a:solidFill>
            <a:srgbClr val="F5F4F1"/>
          </a:solidFill>
          <a:ln cap="flat" cmpd="sng" w="9525">
            <a:solidFill>
              <a:srgbClr val="E4E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h7b99a9c04b46e204_1_796"/>
          <p:cNvSpPr txBox="1"/>
          <p:nvPr/>
        </p:nvSpPr>
        <p:spPr>
          <a:xfrm>
            <a:off x="2159813" y="1506017"/>
            <a:ext cx="7674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Processing and Transformation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h7b99a9c04b46e204_1_796"/>
          <p:cNvSpPr/>
          <p:nvPr/>
        </p:nvSpPr>
        <p:spPr>
          <a:xfrm>
            <a:off x="9991832" y="1506017"/>
            <a:ext cx="1659900" cy="358800"/>
          </a:xfrm>
          <a:prstGeom prst="rect">
            <a:avLst/>
          </a:prstGeom>
          <a:solidFill>
            <a:srgbClr val="F5F4F1"/>
          </a:solidFill>
          <a:ln cap="flat" cmpd="sng" w="9525">
            <a:solidFill>
              <a:srgbClr val="E4E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h7b99a9c04b46e204_1_796"/>
          <p:cNvSpPr txBox="1"/>
          <p:nvPr/>
        </p:nvSpPr>
        <p:spPr>
          <a:xfrm>
            <a:off x="9991832" y="1506017"/>
            <a:ext cx="16599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Consumers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h7b99a9c04b46e204_1_796"/>
          <p:cNvSpPr/>
          <p:nvPr/>
        </p:nvSpPr>
        <p:spPr>
          <a:xfrm>
            <a:off x="2159813" y="1925589"/>
            <a:ext cx="7674000" cy="3125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h7b99a9c04b46e204_1_796"/>
          <p:cNvSpPr/>
          <p:nvPr/>
        </p:nvSpPr>
        <p:spPr>
          <a:xfrm>
            <a:off x="9991832" y="1925589"/>
            <a:ext cx="1659900" cy="3125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orkflow icon" id="975" name="Google Shape;975;h7b99a9c04b46e204_1_7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015" y="2399889"/>
            <a:ext cx="668884" cy="668884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h7b99a9c04b46e204_1_796"/>
          <p:cNvSpPr txBox="1"/>
          <p:nvPr/>
        </p:nvSpPr>
        <p:spPr>
          <a:xfrm>
            <a:off x="621381" y="3147822"/>
            <a:ext cx="12162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Batch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nSearch icon" id="977" name="Google Shape;977;h7b99a9c04b46e204_1_7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409" y="3831908"/>
            <a:ext cx="760095" cy="760095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h7b99a9c04b46e204_1_796"/>
          <p:cNvSpPr txBox="1"/>
          <p:nvPr/>
        </p:nvSpPr>
        <p:spPr>
          <a:xfrm>
            <a:off x="621381" y="4637608"/>
            <a:ext cx="12162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Streaming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9" name="Google Shape;979;h7b99a9c04b46e204_1_796"/>
          <p:cNvCxnSpPr/>
          <p:nvPr/>
        </p:nvCxnSpPr>
        <p:spPr>
          <a:xfrm>
            <a:off x="1691594" y="2722169"/>
            <a:ext cx="595800" cy="0"/>
          </a:xfrm>
          <a:prstGeom prst="straightConnector1">
            <a:avLst/>
          </a:prstGeom>
          <a:noFill/>
          <a:ln cap="flat" cmpd="sng" w="31750">
            <a:solidFill>
              <a:srgbClr val="2B5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" name="Google Shape;980;h7b99a9c04b46e204_1_796"/>
          <p:cNvCxnSpPr/>
          <p:nvPr/>
        </p:nvCxnSpPr>
        <p:spPr>
          <a:xfrm>
            <a:off x="2287509" y="2722169"/>
            <a:ext cx="0" cy="474300"/>
          </a:xfrm>
          <a:prstGeom prst="straightConnector1">
            <a:avLst/>
          </a:prstGeom>
          <a:noFill/>
          <a:ln cap="flat" cmpd="sng" w="31750">
            <a:solidFill>
              <a:srgbClr val="2B5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1" name="Google Shape;981;h7b99a9c04b46e204_1_796"/>
          <p:cNvCxnSpPr/>
          <p:nvPr/>
        </p:nvCxnSpPr>
        <p:spPr>
          <a:xfrm>
            <a:off x="2287509" y="3196468"/>
            <a:ext cx="705300" cy="0"/>
          </a:xfrm>
          <a:prstGeom prst="straightConnector1">
            <a:avLst/>
          </a:prstGeom>
          <a:noFill/>
          <a:ln cap="flat" cmpd="sng" w="31750">
            <a:solidFill>
              <a:srgbClr val="2B5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2" name="Google Shape;982;h7b99a9c04b46e204_1_796"/>
          <p:cNvCxnSpPr/>
          <p:nvPr/>
        </p:nvCxnSpPr>
        <p:spPr>
          <a:xfrm>
            <a:off x="1691594" y="4193713"/>
            <a:ext cx="595800" cy="0"/>
          </a:xfrm>
          <a:prstGeom prst="straightConnector1">
            <a:avLst/>
          </a:prstGeom>
          <a:noFill/>
          <a:ln cap="flat" cmpd="sng" w="31750">
            <a:solidFill>
              <a:srgbClr val="2B5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3" name="Google Shape;983;h7b99a9c04b46e204_1_796"/>
          <p:cNvCxnSpPr/>
          <p:nvPr/>
        </p:nvCxnSpPr>
        <p:spPr>
          <a:xfrm rot="10800000">
            <a:off x="2287509" y="3439812"/>
            <a:ext cx="0" cy="753900"/>
          </a:xfrm>
          <a:prstGeom prst="straightConnector1">
            <a:avLst/>
          </a:prstGeom>
          <a:noFill/>
          <a:ln cap="flat" cmpd="sng" w="31750">
            <a:solidFill>
              <a:srgbClr val="2B5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4" name="Google Shape;984;h7b99a9c04b46e204_1_796"/>
          <p:cNvCxnSpPr/>
          <p:nvPr/>
        </p:nvCxnSpPr>
        <p:spPr>
          <a:xfrm>
            <a:off x="2287509" y="3439698"/>
            <a:ext cx="705300" cy="0"/>
          </a:xfrm>
          <a:prstGeom prst="straightConnector1">
            <a:avLst/>
          </a:prstGeom>
          <a:noFill/>
          <a:ln cap="flat" cmpd="sng" w="31750">
            <a:solidFill>
              <a:srgbClr val="2B50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5" name="Google Shape;985;h7b99a9c04b46e204_1_796"/>
          <p:cNvSpPr/>
          <p:nvPr/>
        </p:nvSpPr>
        <p:spPr>
          <a:xfrm>
            <a:off x="4993447" y="2059366"/>
            <a:ext cx="2274300" cy="364800"/>
          </a:xfrm>
          <a:prstGeom prst="rect">
            <a:avLst/>
          </a:prstGeom>
          <a:solidFill>
            <a:srgbClr val="2B5060"/>
          </a:solidFill>
          <a:ln cap="flat" cmpd="sng" w="12700">
            <a:solidFill>
              <a:srgbClr val="2B5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h7b99a9c04b46e204_1_796"/>
          <p:cNvSpPr txBox="1"/>
          <p:nvPr/>
        </p:nvSpPr>
        <p:spPr>
          <a:xfrm>
            <a:off x="4993447" y="2059366"/>
            <a:ext cx="2274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Quality Levels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7" name="Google Shape;987;h7b99a9c04b46e204_1_796"/>
          <p:cNvCxnSpPr/>
          <p:nvPr/>
        </p:nvCxnSpPr>
        <p:spPr>
          <a:xfrm rot="10800000">
            <a:off x="3862447" y="2241789"/>
            <a:ext cx="1131000" cy="0"/>
          </a:xfrm>
          <a:prstGeom prst="straightConnector1">
            <a:avLst/>
          </a:prstGeom>
          <a:noFill/>
          <a:ln cap="flat" cmpd="sng" w="31750">
            <a:solidFill>
              <a:srgbClr val="2B5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8" name="Google Shape;988;h7b99a9c04b46e204_1_796"/>
          <p:cNvCxnSpPr/>
          <p:nvPr/>
        </p:nvCxnSpPr>
        <p:spPr>
          <a:xfrm>
            <a:off x="3862426" y="2241789"/>
            <a:ext cx="0" cy="237300"/>
          </a:xfrm>
          <a:prstGeom prst="straightConnector1">
            <a:avLst/>
          </a:prstGeom>
          <a:noFill/>
          <a:ln cap="flat" cmpd="sng" w="31750">
            <a:solidFill>
              <a:srgbClr val="2B5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9" name="Google Shape;989;h7b99a9c04b46e204_1_796"/>
          <p:cNvCxnSpPr/>
          <p:nvPr/>
        </p:nvCxnSpPr>
        <p:spPr>
          <a:xfrm>
            <a:off x="7267651" y="2241789"/>
            <a:ext cx="778200" cy="0"/>
          </a:xfrm>
          <a:prstGeom prst="straightConnector1">
            <a:avLst/>
          </a:prstGeom>
          <a:noFill/>
          <a:ln cap="flat" cmpd="sng" w="31750">
            <a:solidFill>
              <a:srgbClr val="2B5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0" name="Google Shape;990;h7b99a9c04b46e204_1_796"/>
          <p:cNvCxnSpPr/>
          <p:nvPr/>
        </p:nvCxnSpPr>
        <p:spPr>
          <a:xfrm>
            <a:off x="8045988" y="2241789"/>
            <a:ext cx="0" cy="237300"/>
          </a:xfrm>
          <a:prstGeom prst="straightConnector1">
            <a:avLst/>
          </a:prstGeom>
          <a:noFill/>
          <a:ln cap="flat" cmpd="sng" w="31750">
            <a:solidFill>
              <a:srgbClr val="2B50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1" name="Google Shape;991;h7b99a9c04b46e204_1_796"/>
          <p:cNvSpPr txBox="1"/>
          <p:nvPr/>
        </p:nvSpPr>
        <p:spPr>
          <a:xfrm>
            <a:off x="3084088" y="2448535"/>
            <a:ext cx="18243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5B6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B5B6C"/>
                </a:solidFill>
                <a:latin typeface="Arial"/>
                <a:ea typeface="Arial"/>
                <a:cs typeface="Arial"/>
                <a:sym typeface="Arial"/>
              </a:rPr>
              <a:t>Bronze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h7b99a9c04b46e204_1_796"/>
          <p:cNvSpPr/>
          <p:nvPr/>
        </p:nvSpPr>
        <p:spPr>
          <a:xfrm>
            <a:off x="3564468" y="3038368"/>
            <a:ext cx="869400" cy="608100"/>
          </a:xfrm>
          <a:prstGeom prst="can">
            <a:avLst>
              <a:gd fmla="val 25000" name="adj"/>
            </a:avLst>
          </a:prstGeom>
          <a:solidFill>
            <a:srgbClr val="FFFFFF"/>
          </a:solidFill>
          <a:ln cap="flat" cmpd="sng" w="31750">
            <a:solidFill>
              <a:srgbClr val="C9A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h7b99a9c04b46e204_1_796"/>
          <p:cNvSpPr/>
          <p:nvPr/>
        </p:nvSpPr>
        <p:spPr>
          <a:xfrm>
            <a:off x="3619195" y="3512668"/>
            <a:ext cx="291900" cy="291900"/>
          </a:xfrm>
          <a:prstGeom prst="ellipse">
            <a:avLst/>
          </a:prstGeom>
          <a:solidFill>
            <a:srgbClr val="C9A27A"/>
          </a:solidFill>
          <a:ln cap="flat" cmpd="sng" w="12700">
            <a:solidFill>
              <a:srgbClr val="C9A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iangle icon" id="994" name="Google Shape;994;h7b99a9c04b46e204_1_7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6084" y="3579556"/>
            <a:ext cx="158100" cy="1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h7b99a9c04b46e204_1_796"/>
          <p:cNvSpPr/>
          <p:nvPr/>
        </p:nvSpPr>
        <p:spPr>
          <a:xfrm>
            <a:off x="3230027" y="3859271"/>
            <a:ext cx="1532400" cy="626400"/>
          </a:xfrm>
          <a:prstGeom prst="rect">
            <a:avLst/>
          </a:prstGeom>
          <a:solidFill>
            <a:srgbClr val="D4A67E"/>
          </a:solidFill>
          <a:ln cap="flat" cmpd="sng" w="12700">
            <a:solidFill>
              <a:srgbClr val="D4A6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h7b99a9c04b46e204_1_796"/>
          <p:cNvSpPr txBox="1"/>
          <p:nvPr/>
        </p:nvSpPr>
        <p:spPr>
          <a:xfrm>
            <a:off x="3230027" y="3859271"/>
            <a:ext cx="15324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Raw Data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Ingestion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h7b99a9c04b46e204_1_796"/>
          <p:cNvSpPr txBox="1"/>
          <p:nvPr/>
        </p:nvSpPr>
        <p:spPr>
          <a:xfrm>
            <a:off x="5127224" y="2448535"/>
            <a:ext cx="18243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5B6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B5B6C"/>
                </a:solidFill>
                <a:latin typeface="Arial"/>
                <a:ea typeface="Arial"/>
                <a:cs typeface="Arial"/>
                <a:sym typeface="Arial"/>
              </a:rPr>
              <a:t>Silver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h7b99a9c04b46e204_1_796"/>
          <p:cNvSpPr/>
          <p:nvPr/>
        </p:nvSpPr>
        <p:spPr>
          <a:xfrm>
            <a:off x="5607604" y="3038368"/>
            <a:ext cx="869400" cy="608100"/>
          </a:xfrm>
          <a:prstGeom prst="can">
            <a:avLst>
              <a:gd fmla="val 25000" name="adj"/>
            </a:avLst>
          </a:prstGeom>
          <a:solidFill>
            <a:srgbClr val="FFFFFF"/>
          </a:solidFill>
          <a:ln cap="flat" cmpd="sng" w="31750">
            <a:solidFill>
              <a:srgbClr val="A8A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h7b99a9c04b46e204_1_796"/>
          <p:cNvSpPr/>
          <p:nvPr/>
        </p:nvSpPr>
        <p:spPr>
          <a:xfrm>
            <a:off x="5662331" y="3512668"/>
            <a:ext cx="291900" cy="291900"/>
          </a:xfrm>
          <a:prstGeom prst="ellipse">
            <a:avLst/>
          </a:prstGeom>
          <a:solidFill>
            <a:srgbClr val="A8A8A8"/>
          </a:solidFill>
          <a:ln cap="flat" cmpd="sng" w="12700">
            <a:solidFill>
              <a:srgbClr val="A8A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iangle icon" id="1000" name="Google Shape;1000;h7b99a9c04b46e204_1_7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29219" y="3579556"/>
            <a:ext cx="158100" cy="1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h7b99a9c04b46e204_1_796"/>
          <p:cNvSpPr/>
          <p:nvPr/>
        </p:nvSpPr>
        <p:spPr>
          <a:xfrm>
            <a:off x="5273162" y="3859271"/>
            <a:ext cx="1532400" cy="626400"/>
          </a:xfrm>
          <a:prstGeom prst="rect">
            <a:avLst/>
          </a:prstGeom>
          <a:solidFill>
            <a:srgbClr val="A0A0A0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h7b99a9c04b46e204_1_796"/>
          <p:cNvSpPr txBox="1"/>
          <p:nvPr/>
        </p:nvSpPr>
        <p:spPr>
          <a:xfrm>
            <a:off x="5273162" y="3859271"/>
            <a:ext cx="15324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Cleaned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h7b99a9c04b46e204_1_796"/>
          <p:cNvSpPr txBox="1"/>
          <p:nvPr/>
        </p:nvSpPr>
        <p:spPr>
          <a:xfrm>
            <a:off x="7176440" y="2448535"/>
            <a:ext cx="18243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5B6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B5B6C"/>
                </a:solidFill>
                <a:latin typeface="Arial"/>
                <a:ea typeface="Arial"/>
                <a:cs typeface="Arial"/>
                <a:sym typeface="Arial"/>
              </a:rPr>
              <a:t>Gold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h7b99a9c04b46e204_1_796"/>
          <p:cNvSpPr/>
          <p:nvPr/>
        </p:nvSpPr>
        <p:spPr>
          <a:xfrm>
            <a:off x="7656820" y="3038368"/>
            <a:ext cx="869400" cy="608100"/>
          </a:xfrm>
          <a:prstGeom prst="can">
            <a:avLst>
              <a:gd fmla="val 25000" name="adj"/>
            </a:avLst>
          </a:prstGeom>
          <a:solidFill>
            <a:srgbClr val="FFFFFF"/>
          </a:solidFill>
          <a:ln cap="flat" cmpd="sng" w="31750">
            <a:solidFill>
              <a:srgbClr val="F3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h7b99a9c04b46e204_1_796"/>
          <p:cNvSpPr/>
          <p:nvPr/>
        </p:nvSpPr>
        <p:spPr>
          <a:xfrm>
            <a:off x="7711547" y="3512668"/>
            <a:ext cx="291900" cy="291900"/>
          </a:xfrm>
          <a:prstGeom prst="ellipse">
            <a:avLst/>
          </a:prstGeom>
          <a:solidFill>
            <a:srgbClr val="F3C142"/>
          </a:solidFill>
          <a:ln cap="flat" cmpd="sng" w="12700">
            <a:solidFill>
              <a:srgbClr val="F3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iangle icon" id="1006" name="Google Shape;1006;h7b99a9c04b46e204_1_7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8435" y="3579556"/>
            <a:ext cx="158100" cy="1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h7b99a9c04b46e204_1_796"/>
          <p:cNvSpPr/>
          <p:nvPr/>
        </p:nvSpPr>
        <p:spPr>
          <a:xfrm>
            <a:off x="7322378" y="3859271"/>
            <a:ext cx="1532400" cy="626400"/>
          </a:xfrm>
          <a:prstGeom prst="rect">
            <a:avLst/>
          </a:prstGeom>
          <a:solidFill>
            <a:srgbClr val="F5C242"/>
          </a:solidFill>
          <a:ln cap="flat" cmpd="sng" w="12700">
            <a:solidFill>
              <a:srgbClr val="F5C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h7b99a9c04b46e204_1_796"/>
          <p:cNvSpPr txBox="1"/>
          <p:nvPr/>
        </p:nvSpPr>
        <p:spPr>
          <a:xfrm>
            <a:off x="7322378" y="3859271"/>
            <a:ext cx="15324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Level Aggs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9" name="Google Shape;1009;h7b99a9c04b46e204_1_796"/>
          <p:cNvCxnSpPr/>
          <p:nvPr/>
        </p:nvCxnSpPr>
        <p:spPr>
          <a:xfrm>
            <a:off x="4604278" y="3342406"/>
            <a:ext cx="820800" cy="0"/>
          </a:xfrm>
          <a:prstGeom prst="straightConnector1">
            <a:avLst/>
          </a:prstGeom>
          <a:noFill/>
          <a:ln cap="flat" cmpd="sng" w="31750">
            <a:solidFill>
              <a:srgbClr val="2B5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0" name="Google Shape;1010;h7b99a9c04b46e204_1_796"/>
          <p:cNvCxnSpPr/>
          <p:nvPr/>
        </p:nvCxnSpPr>
        <p:spPr>
          <a:xfrm>
            <a:off x="6653494" y="3342406"/>
            <a:ext cx="814800" cy="0"/>
          </a:xfrm>
          <a:prstGeom prst="straightConnector1">
            <a:avLst/>
          </a:prstGeom>
          <a:noFill/>
          <a:ln cap="flat" cmpd="sng" w="31750">
            <a:solidFill>
              <a:srgbClr val="2B5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1" name="Google Shape;1011;h7b99a9c04b46e204_1_796"/>
          <p:cNvCxnSpPr/>
          <p:nvPr/>
        </p:nvCxnSpPr>
        <p:spPr>
          <a:xfrm>
            <a:off x="8800003" y="3330245"/>
            <a:ext cx="1185600" cy="0"/>
          </a:xfrm>
          <a:prstGeom prst="straightConnector1">
            <a:avLst/>
          </a:prstGeom>
          <a:noFill/>
          <a:ln cap="flat" cmpd="sng" w="31750">
            <a:solidFill>
              <a:srgbClr val="2B506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ChartColumn icon" id="1012" name="Google Shape;1012;h7b99a9c04b46e204_1_7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84706" y="1928630"/>
            <a:ext cx="577672" cy="577672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h7b99a9c04b46e204_1_796"/>
          <p:cNvSpPr txBox="1"/>
          <p:nvPr/>
        </p:nvSpPr>
        <p:spPr>
          <a:xfrm>
            <a:off x="10064801" y="2673523"/>
            <a:ext cx="15201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506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B5060"/>
                </a:solidFill>
                <a:latin typeface="Arial"/>
                <a:ea typeface="Arial"/>
                <a:cs typeface="Arial"/>
                <a:sym typeface="Arial"/>
              </a:rPr>
              <a:t>BI &amp; Reporting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pu icon" id="1014" name="Google Shape;1014;h7b99a9c04b46e204_1_79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84706" y="2938036"/>
            <a:ext cx="577672" cy="577672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h7b99a9c04b46e204_1_796"/>
          <p:cNvSpPr txBox="1"/>
          <p:nvPr/>
        </p:nvSpPr>
        <p:spPr>
          <a:xfrm>
            <a:off x="10064801" y="3640364"/>
            <a:ext cx="15201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506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B5060"/>
                </a:solidFill>
                <a:latin typeface="Arial"/>
                <a:ea typeface="Arial"/>
                <a:cs typeface="Arial"/>
                <a:sym typeface="Arial"/>
              </a:rPr>
              <a:t>ML &amp; AI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lobe icon" id="1016" name="Google Shape;1016;h7b99a9c04b46e204_1_79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84706" y="3923119"/>
            <a:ext cx="577672" cy="577672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h7b99a9c04b46e204_1_796"/>
          <p:cNvSpPr txBox="1"/>
          <p:nvPr/>
        </p:nvSpPr>
        <p:spPr>
          <a:xfrm>
            <a:off x="10064801" y="4596787"/>
            <a:ext cx="15201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506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B5060"/>
                </a:solidFill>
                <a:latin typeface="Arial"/>
                <a:ea typeface="Arial"/>
                <a:cs typeface="Arial"/>
                <a:sym typeface="Arial"/>
              </a:rPr>
              <a:t>Streaming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506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B5060"/>
                </a:solidFill>
                <a:latin typeface="Arial"/>
                <a:ea typeface="Arial"/>
                <a:cs typeface="Arial"/>
                <a:sym typeface="Arial"/>
              </a:rPr>
              <a:t>Analytics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iangle icon" id="1018" name="Google Shape;1018;h7b99a9c04b46e204_1_79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13732" y="5136231"/>
            <a:ext cx="547268" cy="547268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h7b99a9c04b46e204_1_796"/>
          <p:cNvSpPr txBox="1"/>
          <p:nvPr/>
        </p:nvSpPr>
        <p:spPr>
          <a:xfrm>
            <a:off x="5303566" y="5154473"/>
            <a:ext cx="20067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DELTA LAKE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h7b99a9c04b46e204_1_584"/>
          <p:cNvSpPr/>
          <p:nvPr/>
        </p:nvSpPr>
        <p:spPr>
          <a:xfrm>
            <a:off x="557418" y="987369"/>
            <a:ext cx="3031500" cy="4005600"/>
          </a:xfrm>
          <a:prstGeom prst="roundRect">
            <a:avLst>
              <a:gd fmla="val 16590" name="adj"/>
            </a:avLst>
          </a:prstGeom>
          <a:solidFill>
            <a:srgbClr val="F7F6F3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h7b99a9c04b46e204_1_584"/>
          <p:cNvSpPr txBox="1"/>
          <p:nvPr/>
        </p:nvSpPr>
        <p:spPr>
          <a:xfrm>
            <a:off x="557418" y="1096366"/>
            <a:ext cx="30315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Sources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h7b99a9c04b46e204_1_584"/>
          <p:cNvSpPr/>
          <p:nvPr/>
        </p:nvSpPr>
        <p:spPr>
          <a:xfrm>
            <a:off x="761787" y="1763969"/>
            <a:ext cx="2704500" cy="490500"/>
          </a:xfrm>
          <a:prstGeom prst="roundRect">
            <a:avLst>
              <a:gd fmla="val 18643" name="adj"/>
            </a:avLst>
          </a:prstGeom>
          <a:solidFill>
            <a:srgbClr val="FFFFFF"/>
          </a:solidFill>
          <a:ln cap="flat" cmpd="sng" w="12700">
            <a:solidFill>
              <a:srgbClr val="1B2A3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h7b99a9c04b46e204_1_584"/>
          <p:cNvSpPr txBox="1"/>
          <p:nvPr/>
        </p:nvSpPr>
        <p:spPr>
          <a:xfrm>
            <a:off x="761787" y="1763969"/>
            <a:ext cx="2704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On prem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h7b99a9c04b46e204_1_584"/>
          <p:cNvSpPr/>
          <p:nvPr/>
        </p:nvSpPr>
        <p:spPr>
          <a:xfrm>
            <a:off x="761787" y="2363450"/>
            <a:ext cx="2704500" cy="490500"/>
          </a:xfrm>
          <a:prstGeom prst="roundRect">
            <a:avLst>
              <a:gd fmla="val 18643" name="adj"/>
            </a:avLst>
          </a:prstGeom>
          <a:solidFill>
            <a:srgbClr val="FFFFFF"/>
          </a:solidFill>
          <a:ln cap="flat" cmpd="sng" w="12700">
            <a:solidFill>
              <a:srgbClr val="1B2A3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h7b99a9c04b46e204_1_584"/>
          <p:cNvSpPr txBox="1"/>
          <p:nvPr/>
        </p:nvSpPr>
        <p:spPr>
          <a:xfrm>
            <a:off x="761787" y="2363450"/>
            <a:ext cx="2704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Databases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h7b99a9c04b46e204_1_584"/>
          <p:cNvSpPr/>
          <p:nvPr/>
        </p:nvSpPr>
        <p:spPr>
          <a:xfrm>
            <a:off x="761787" y="2962930"/>
            <a:ext cx="2704500" cy="490500"/>
          </a:xfrm>
          <a:prstGeom prst="roundRect">
            <a:avLst>
              <a:gd fmla="val 18643" name="adj"/>
            </a:avLst>
          </a:prstGeom>
          <a:solidFill>
            <a:srgbClr val="FFFFFF"/>
          </a:solidFill>
          <a:ln cap="flat" cmpd="sng" w="12700">
            <a:solidFill>
              <a:srgbClr val="1B2A3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h7b99a9c04b46e204_1_584"/>
          <p:cNvSpPr txBox="1"/>
          <p:nvPr/>
        </p:nvSpPr>
        <p:spPr>
          <a:xfrm>
            <a:off x="761787" y="2962930"/>
            <a:ext cx="2704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Cloud Storage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h7b99a9c04b46e204_1_584"/>
          <p:cNvSpPr/>
          <p:nvPr/>
        </p:nvSpPr>
        <p:spPr>
          <a:xfrm>
            <a:off x="761787" y="3562411"/>
            <a:ext cx="2704500" cy="490500"/>
          </a:xfrm>
          <a:prstGeom prst="roundRect">
            <a:avLst>
              <a:gd fmla="val 18643" name="adj"/>
            </a:avLst>
          </a:prstGeom>
          <a:solidFill>
            <a:srgbClr val="FFFFFF"/>
          </a:solidFill>
          <a:ln cap="flat" cmpd="sng" w="12700">
            <a:solidFill>
              <a:srgbClr val="1B2A3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h7b99a9c04b46e204_1_584"/>
          <p:cNvSpPr txBox="1"/>
          <p:nvPr/>
        </p:nvSpPr>
        <p:spPr>
          <a:xfrm>
            <a:off x="761787" y="3562411"/>
            <a:ext cx="2704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SaaS applications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h7b99a9c04b46e204_1_584"/>
          <p:cNvSpPr/>
          <p:nvPr/>
        </p:nvSpPr>
        <p:spPr>
          <a:xfrm>
            <a:off x="761787" y="4161892"/>
            <a:ext cx="2704500" cy="490500"/>
          </a:xfrm>
          <a:prstGeom prst="roundRect">
            <a:avLst>
              <a:gd fmla="val 18643" name="adj"/>
            </a:avLst>
          </a:prstGeom>
          <a:solidFill>
            <a:srgbClr val="FFFFFF"/>
          </a:solidFill>
          <a:ln cap="flat" cmpd="sng" w="12700">
            <a:solidFill>
              <a:srgbClr val="1B2A3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h7b99a9c04b46e204_1_584"/>
          <p:cNvSpPr txBox="1"/>
          <p:nvPr/>
        </p:nvSpPr>
        <p:spPr>
          <a:xfrm>
            <a:off x="761787" y="4161892"/>
            <a:ext cx="2704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Event Streams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7" name="Google Shape;1037;h7b99a9c04b46e204_1_584"/>
          <p:cNvCxnSpPr/>
          <p:nvPr/>
        </p:nvCxnSpPr>
        <p:spPr>
          <a:xfrm>
            <a:off x="3588883" y="1947901"/>
            <a:ext cx="1124100" cy="817500"/>
          </a:xfrm>
          <a:prstGeom prst="straightConnector1">
            <a:avLst/>
          </a:prstGeom>
          <a:noFill/>
          <a:ln cap="flat" cmpd="sng" w="31750">
            <a:solidFill>
              <a:srgbClr val="D8B4F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38" name="Google Shape;1038;h7b99a9c04b46e204_1_584"/>
          <p:cNvCxnSpPr/>
          <p:nvPr/>
        </p:nvCxnSpPr>
        <p:spPr>
          <a:xfrm>
            <a:off x="3588883" y="2240829"/>
            <a:ext cx="1124100" cy="613200"/>
          </a:xfrm>
          <a:prstGeom prst="straightConnector1">
            <a:avLst/>
          </a:prstGeom>
          <a:noFill/>
          <a:ln cap="flat" cmpd="sng" w="31750">
            <a:solidFill>
              <a:srgbClr val="F4A6D7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39" name="Google Shape;1039;h7b99a9c04b46e204_1_584"/>
          <p:cNvCxnSpPr/>
          <p:nvPr/>
        </p:nvCxnSpPr>
        <p:spPr>
          <a:xfrm>
            <a:off x="3588883" y="2526944"/>
            <a:ext cx="1124100" cy="408600"/>
          </a:xfrm>
          <a:prstGeom prst="straightConnector1">
            <a:avLst/>
          </a:prstGeom>
          <a:noFill/>
          <a:ln cap="flat" cmpd="sng" w="31750">
            <a:solidFill>
              <a:srgbClr val="B6E3A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40" name="Google Shape;1040;h7b99a9c04b46e204_1_584"/>
          <p:cNvCxnSpPr/>
          <p:nvPr/>
        </p:nvCxnSpPr>
        <p:spPr>
          <a:xfrm>
            <a:off x="3588883" y="2833497"/>
            <a:ext cx="1124100" cy="204300"/>
          </a:xfrm>
          <a:prstGeom prst="straightConnector1">
            <a:avLst/>
          </a:prstGeom>
          <a:noFill/>
          <a:ln cap="flat" cmpd="sng" w="31750">
            <a:solidFill>
              <a:srgbClr val="F3E6A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41" name="Google Shape;1041;h7b99a9c04b46e204_1_584"/>
          <p:cNvCxnSpPr/>
          <p:nvPr/>
        </p:nvCxnSpPr>
        <p:spPr>
          <a:xfrm>
            <a:off x="3588883" y="3119613"/>
            <a:ext cx="1124100" cy="6900"/>
          </a:xfrm>
          <a:prstGeom prst="straightConnector1">
            <a:avLst/>
          </a:prstGeom>
          <a:noFill/>
          <a:ln cap="flat" cmpd="sng" w="31750">
            <a:solidFill>
              <a:srgbClr val="F9C9A8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42" name="Google Shape;1042;h7b99a9c04b46e204_1_584"/>
          <p:cNvCxnSpPr/>
          <p:nvPr/>
        </p:nvCxnSpPr>
        <p:spPr>
          <a:xfrm flipH="1" rot="10800000">
            <a:off x="3588883" y="3208116"/>
            <a:ext cx="1124100" cy="190800"/>
          </a:xfrm>
          <a:prstGeom prst="straightConnector1">
            <a:avLst/>
          </a:prstGeom>
          <a:noFill/>
          <a:ln cap="flat" cmpd="sng" w="31750">
            <a:solidFill>
              <a:srgbClr val="F5A9A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43" name="Google Shape;1043;h7b99a9c04b46e204_1_584"/>
          <p:cNvCxnSpPr/>
          <p:nvPr/>
        </p:nvCxnSpPr>
        <p:spPr>
          <a:xfrm flipH="1" rot="10800000">
            <a:off x="3588883" y="3289932"/>
            <a:ext cx="1124100" cy="395100"/>
          </a:xfrm>
          <a:prstGeom prst="straightConnector1">
            <a:avLst/>
          </a:prstGeom>
          <a:noFill/>
          <a:ln cap="flat" cmpd="sng" w="31750">
            <a:solidFill>
              <a:srgbClr val="A6C8F4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44" name="Google Shape;1044;h7b99a9c04b46e204_1_584"/>
          <p:cNvCxnSpPr/>
          <p:nvPr/>
        </p:nvCxnSpPr>
        <p:spPr>
          <a:xfrm flipH="1" rot="10800000">
            <a:off x="3588883" y="3378384"/>
            <a:ext cx="1124100" cy="613200"/>
          </a:xfrm>
          <a:prstGeom prst="straightConnector1">
            <a:avLst/>
          </a:prstGeom>
          <a:noFill/>
          <a:ln cap="flat" cmpd="sng" w="31750">
            <a:solidFill>
              <a:srgbClr val="E0A6F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45" name="Google Shape;1045;h7b99a9c04b46e204_1_584"/>
          <p:cNvCxnSpPr/>
          <p:nvPr/>
        </p:nvCxnSpPr>
        <p:spPr>
          <a:xfrm flipH="1" rot="10800000">
            <a:off x="3588883" y="3466976"/>
            <a:ext cx="1124100" cy="797100"/>
          </a:xfrm>
          <a:prstGeom prst="straightConnector1">
            <a:avLst/>
          </a:prstGeom>
          <a:noFill/>
          <a:ln cap="flat" cmpd="sng" w="31750">
            <a:solidFill>
              <a:srgbClr val="F6C3A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46" name="Google Shape;1046;h7b99a9c04b46e204_1_584"/>
          <p:cNvSpPr/>
          <p:nvPr/>
        </p:nvSpPr>
        <p:spPr>
          <a:xfrm>
            <a:off x="4563039" y="987369"/>
            <a:ext cx="7002900" cy="485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806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h7b99a9c04b46e204_1_584"/>
          <p:cNvSpPr txBox="1"/>
          <p:nvPr/>
        </p:nvSpPr>
        <p:spPr>
          <a:xfrm>
            <a:off x="4563039" y="1096366"/>
            <a:ext cx="70029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Intelligence Platform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h7b99a9c04b46e204_1_584"/>
          <p:cNvSpPr/>
          <p:nvPr/>
        </p:nvSpPr>
        <p:spPr>
          <a:xfrm>
            <a:off x="4712909" y="1552788"/>
            <a:ext cx="2704500" cy="2718000"/>
          </a:xfrm>
          <a:prstGeom prst="rect">
            <a:avLst/>
          </a:prstGeom>
          <a:solidFill>
            <a:srgbClr val="EE6C50"/>
          </a:solidFill>
          <a:ln cap="flat" cmpd="sng" w="12700">
            <a:solidFill>
              <a:srgbClr val="EE6C5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h7b99a9c04b46e204_1_584"/>
          <p:cNvSpPr txBox="1"/>
          <p:nvPr/>
        </p:nvSpPr>
        <p:spPr>
          <a:xfrm>
            <a:off x="4712909" y="1552788"/>
            <a:ext cx="2704500" cy="27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Lakeflow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Connect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h7b99a9c04b46e204_1_584"/>
          <p:cNvSpPr/>
          <p:nvPr/>
        </p:nvSpPr>
        <p:spPr>
          <a:xfrm>
            <a:off x="7417384" y="1668597"/>
            <a:ext cx="2862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5B5B5"/>
          </a:solidFill>
          <a:ln cap="flat" cmpd="sng" w="12700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h7b99a9c04b46e204_1_584"/>
          <p:cNvSpPr/>
          <p:nvPr/>
        </p:nvSpPr>
        <p:spPr>
          <a:xfrm>
            <a:off x="7710312" y="1552788"/>
            <a:ext cx="3746700" cy="58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E8A7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Column icon" id="1052" name="Google Shape;1052;h7b99a9c04b46e204_1_5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7302" y="1580037"/>
            <a:ext cx="531358" cy="531358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h7b99a9c04b46e204_1_584"/>
          <p:cNvSpPr txBox="1"/>
          <p:nvPr/>
        </p:nvSpPr>
        <p:spPr>
          <a:xfrm>
            <a:off x="8711717" y="1552788"/>
            <a:ext cx="17031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Streaming Analytics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h7b99a9c04b46e204_1_584"/>
          <p:cNvSpPr/>
          <p:nvPr/>
        </p:nvSpPr>
        <p:spPr>
          <a:xfrm>
            <a:off x="7417384" y="2370262"/>
            <a:ext cx="2862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5B5B5"/>
          </a:solidFill>
          <a:ln cap="flat" cmpd="sng" w="12700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h7b99a9c04b46e204_1_584"/>
          <p:cNvSpPr/>
          <p:nvPr/>
        </p:nvSpPr>
        <p:spPr>
          <a:xfrm>
            <a:off x="7710312" y="2247641"/>
            <a:ext cx="3746700" cy="599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E8A7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etwork icon" id="1056" name="Google Shape;1056;h7b99a9c04b46e204_1_5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7302" y="2281702"/>
            <a:ext cx="531358" cy="531358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h7b99a9c04b46e204_1_584"/>
          <p:cNvSpPr txBox="1"/>
          <p:nvPr/>
        </p:nvSpPr>
        <p:spPr>
          <a:xfrm>
            <a:off x="8711717" y="2247641"/>
            <a:ext cx="17031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Science &amp; ML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h7b99a9c04b46e204_1_584"/>
          <p:cNvSpPr/>
          <p:nvPr/>
        </p:nvSpPr>
        <p:spPr>
          <a:xfrm>
            <a:off x="7417384" y="3068521"/>
            <a:ext cx="2862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5B5B5"/>
          </a:solidFill>
          <a:ln cap="flat" cmpd="sng" w="12700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h7b99a9c04b46e204_1_584"/>
          <p:cNvSpPr/>
          <p:nvPr/>
        </p:nvSpPr>
        <p:spPr>
          <a:xfrm>
            <a:off x="7710312" y="2949306"/>
            <a:ext cx="3746700" cy="592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E8A7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 icon" id="1060" name="Google Shape;1060;h7b99a9c04b46e204_1_5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37302" y="2979961"/>
            <a:ext cx="531358" cy="531358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h7b99a9c04b46e204_1_584"/>
          <p:cNvSpPr txBox="1"/>
          <p:nvPr/>
        </p:nvSpPr>
        <p:spPr>
          <a:xfrm>
            <a:off x="8711717" y="2949306"/>
            <a:ext cx="17031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Sharing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h7b99a9c04b46e204_1_584"/>
          <p:cNvSpPr/>
          <p:nvPr/>
        </p:nvSpPr>
        <p:spPr>
          <a:xfrm>
            <a:off x="7417384" y="3766779"/>
            <a:ext cx="2862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5B5B5"/>
          </a:solidFill>
          <a:ln cap="flat" cmpd="sng" w="12700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h7b99a9c04b46e204_1_584"/>
          <p:cNvSpPr/>
          <p:nvPr/>
        </p:nvSpPr>
        <p:spPr>
          <a:xfrm>
            <a:off x="7710312" y="3650971"/>
            <a:ext cx="3746700" cy="58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E8A7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ChartColumn icon" id="1064" name="Google Shape;1064;h7b99a9c04b46e204_1_58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7302" y="3678220"/>
            <a:ext cx="531358" cy="531358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h7b99a9c04b46e204_1_584"/>
          <p:cNvSpPr txBox="1"/>
          <p:nvPr/>
        </p:nvSpPr>
        <p:spPr>
          <a:xfrm>
            <a:off x="8711717" y="3650971"/>
            <a:ext cx="17031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BI &amp; Reporting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h7b99a9c04b46e204_1_584"/>
          <p:cNvSpPr/>
          <p:nvPr/>
        </p:nvSpPr>
        <p:spPr>
          <a:xfrm>
            <a:off x="4719721" y="4407134"/>
            <a:ext cx="6675900" cy="58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h7b99a9c04b46e204_1_584"/>
          <p:cNvSpPr txBox="1"/>
          <p:nvPr/>
        </p:nvSpPr>
        <p:spPr>
          <a:xfrm>
            <a:off x="4719721" y="4407134"/>
            <a:ext cx="6675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Unified Governance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h7b99a9c04b46e204_1_584"/>
          <p:cNvSpPr/>
          <p:nvPr/>
        </p:nvSpPr>
        <p:spPr>
          <a:xfrm>
            <a:off x="4719721" y="5081549"/>
            <a:ext cx="6675900" cy="58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h7b99a9c04b46e204_1_584"/>
          <p:cNvSpPr txBox="1"/>
          <p:nvPr/>
        </p:nvSpPr>
        <p:spPr>
          <a:xfrm>
            <a:off x="4719721" y="5081549"/>
            <a:ext cx="6675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Efficient Compute &amp; Storage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h7b99a9c04b46e204_1_633"/>
          <p:cNvSpPr/>
          <p:nvPr/>
        </p:nvSpPr>
        <p:spPr>
          <a:xfrm>
            <a:off x="457200" y="1143000"/>
            <a:ext cx="3634500" cy="4549200"/>
          </a:xfrm>
          <a:prstGeom prst="roundRect">
            <a:avLst>
              <a:gd fmla="val 3522" name="adj"/>
            </a:avLst>
          </a:prstGeom>
          <a:solidFill>
            <a:srgbClr val="FFFFFF"/>
          </a:solidFill>
          <a:ln cap="flat" cmpd="sng" w="25400">
            <a:solidFill>
              <a:srgbClr val="EE6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oudUpload icon" id="1076" name="Google Shape;1076;h7b99a9c04b46e204_1_6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7661" y="1364340"/>
            <a:ext cx="873709" cy="873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h7b99a9c04b46e204_1_633"/>
          <p:cNvSpPr txBox="1"/>
          <p:nvPr/>
        </p:nvSpPr>
        <p:spPr>
          <a:xfrm>
            <a:off x="684364" y="2337069"/>
            <a:ext cx="32619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Upload Files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h7b99a9c04b46e204_1_633"/>
          <p:cNvSpPr txBox="1"/>
          <p:nvPr/>
        </p:nvSpPr>
        <p:spPr>
          <a:xfrm>
            <a:off x="684364" y="2837996"/>
            <a:ext cx="3261900" cy="27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Upload local files to Databricks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Upload a file to a volume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Create a table from a local file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h7b99a9c04b46e204_1_633"/>
          <p:cNvSpPr/>
          <p:nvPr/>
        </p:nvSpPr>
        <p:spPr>
          <a:xfrm>
            <a:off x="4266572" y="1143000"/>
            <a:ext cx="3634500" cy="4549200"/>
          </a:xfrm>
          <a:prstGeom prst="roundRect">
            <a:avLst>
              <a:gd fmla="val 3522" name="adj"/>
            </a:avLst>
          </a:prstGeom>
          <a:solidFill>
            <a:srgbClr val="FFFFFF"/>
          </a:solidFill>
          <a:ln cap="flat" cmpd="sng" w="25400">
            <a:solidFill>
              <a:srgbClr val="EE6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oud icon" id="1080" name="Google Shape;1080;h7b99a9c04b46e204_1_6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7033" y="1364340"/>
            <a:ext cx="873709" cy="873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h7b99a9c04b46e204_1_633"/>
          <p:cNvSpPr txBox="1"/>
          <p:nvPr/>
        </p:nvSpPr>
        <p:spPr>
          <a:xfrm>
            <a:off x="4493737" y="2337069"/>
            <a:ext cx="32619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Standard Connectors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h7b99a9c04b46e204_1_633"/>
          <p:cNvSpPr txBox="1"/>
          <p:nvPr/>
        </p:nvSpPr>
        <p:spPr>
          <a:xfrm>
            <a:off x="4493737" y="2837996"/>
            <a:ext cx="3261900" cy="27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Supported Sources: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Cloud Object Storage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Kafka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Other Sources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Ingestion Methods: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Batch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Incremental Batch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Streaming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h7b99a9c04b46e204_1_633"/>
          <p:cNvSpPr/>
          <p:nvPr/>
        </p:nvSpPr>
        <p:spPr>
          <a:xfrm>
            <a:off x="8070119" y="1143000"/>
            <a:ext cx="3634500" cy="4549200"/>
          </a:xfrm>
          <a:prstGeom prst="roundRect">
            <a:avLst>
              <a:gd fmla="val 3522" name="adj"/>
            </a:avLst>
          </a:prstGeom>
          <a:solidFill>
            <a:srgbClr val="FFFFFF"/>
          </a:solidFill>
          <a:ln cap="flat" cmpd="sng" w="25400">
            <a:solidFill>
              <a:srgbClr val="EE6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orkflow icon" id="1084" name="Google Shape;1084;h7b99a9c04b46e204_1_6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50580" y="1364340"/>
            <a:ext cx="873709" cy="873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h7b99a9c04b46e204_1_633"/>
          <p:cNvSpPr txBox="1"/>
          <p:nvPr/>
        </p:nvSpPr>
        <p:spPr>
          <a:xfrm>
            <a:off x="8297284" y="2337069"/>
            <a:ext cx="32619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Managed Connectors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h7b99a9c04b46e204_1_633"/>
          <p:cNvSpPr txBox="1"/>
          <p:nvPr/>
        </p:nvSpPr>
        <p:spPr>
          <a:xfrm>
            <a:off x="8297284" y="2837996"/>
            <a:ext cx="3261900" cy="27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Ingest data into the lakehouse from: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Software as a Service (SaaS) applications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Databases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Leverage efficient </a:t>
            </a:r>
            <a:r>
              <a:rPr b="1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incremental reads and writes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Faster, scalable, and more cost-efficient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h7b99a9c04b46e204_1_649"/>
          <p:cNvSpPr/>
          <p:nvPr/>
        </p:nvSpPr>
        <p:spPr>
          <a:xfrm>
            <a:off x="494233" y="160477"/>
            <a:ext cx="11191800" cy="6555900"/>
          </a:xfrm>
          <a:prstGeom prst="roundRect">
            <a:avLst>
              <a:gd fmla="val 2790" name="adj"/>
            </a:avLst>
          </a:prstGeom>
          <a:solidFill>
            <a:srgbClr val="F7F6F3"/>
          </a:solidFill>
          <a:ln cap="flat" cmpd="sng" w="9525">
            <a:solidFill>
              <a:srgbClr val="EFE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h7b99a9c04b46e204_1_649"/>
          <p:cNvSpPr/>
          <p:nvPr/>
        </p:nvSpPr>
        <p:spPr>
          <a:xfrm>
            <a:off x="494233" y="160477"/>
            <a:ext cx="11191800" cy="83100"/>
          </a:xfrm>
          <a:prstGeom prst="roundRect">
            <a:avLst>
              <a:gd fmla="val 54945" name="adj"/>
            </a:avLst>
          </a:prstGeom>
          <a:solidFill>
            <a:srgbClr val="3F74B5"/>
          </a:solidFill>
          <a:ln cap="flat" cmpd="sng" w="12700">
            <a:solidFill>
              <a:srgbClr val="3F74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oud icon" id="1094" name="Google Shape;1094;h7b99a9c04b46e204_1_6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3018" y="294208"/>
            <a:ext cx="505206" cy="505206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h7b99a9c04b46e204_1_649"/>
          <p:cNvSpPr txBox="1"/>
          <p:nvPr/>
        </p:nvSpPr>
        <p:spPr>
          <a:xfrm>
            <a:off x="5558180" y="318211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Batch Ingestion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h7b99a9c04b46e204_1_649"/>
          <p:cNvSpPr/>
          <p:nvPr/>
        </p:nvSpPr>
        <p:spPr>
          <a:xfrm>
            <a:off x="1902866" y="1242212"/>
            <a:ext cx="3025200" cy="600300"/>
          </a:xfrm>
          <a:prstGeom prst="rect">
            <a:avLst/>
          </a:prstGeom>
          <a:solidFill>
            <a:srgbClr val="F4654A"/>
          </a:solidFill>
          <a:ln cap="flat" cmpd="sng" w="9525">
            <a:solidFill>
              <a:srgbClr val="D95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h7b99a9c04b46e204_1_649"/>
          <p:cNvSpPr txBox="1"/>
          <p:nvPr/>
        </p:nvSpPr>
        <p:spPr>
          <a:xfrm>
            <a:off x="1948586" y="1242212"/>
            <a:ext cx="29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data is re-ingested each time the pipeline runs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8" name="Google Shape;1098;h7b99a9c04b46e204_1_649"/>
          <p:cNvCxnSpPr/>
          <p:nvPr/>
        </p:nvCxnSpPr>
        <p:spPr>
          <a:xfrm rot="10800000">
            <a:off x="1736367" y="1545336"/>
            <a:ext cx="166500" cy="0"/>
          </a:xfrm>
          <a:prstGeom prst="straightConnector1">
            <a:avLst/>
          </a:prstGeom>
          <a:noFill/>
          <a:ln cap="flat" cmpd="sng" w="254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9" name="Google Shape;1099;h7b99a9c04b46e204_1_649"/>
          <p:cNvCxnSpPr/>
          <p:nvPr/>
        </p:nvCxnSpPr>
        <p:spPr>
          <a:xfrm>
            <a:off x="1736446" y="1545336"/>
            <a:ext cx="0" cy="416100"/>
          </a:xfrm>
          <a:prstGeom prst="straightConnector1">
            <a:avLst/>
          </a:prstGeom>
          <a:noFill/>
          <a:ln cap="flat" cmpd="sng" w="254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0" name="Google Shape;1100;h7b99a9c04b46e204_1_649"/>
          <p:cNvCxnSpPr/>
          <p:nvPr/>
        </p:nvCxnSpPr>
        <p:spPr>
          <a:xfrm>
            <a:off x="1736446" y="1961388"/>
            <a:ext cx="1058100" cy="0"/>
          </a:xfrm>
          <a:prstGeom prst="straightConnector1">
            <a:avLst/>
          </a:prstGeom>
          <a:noFill/>
          <a:ln cap="flat" cmpd="sng" w="254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1" name="Google Shape;1101;h7b99a9c04b46e204_1_649"/>
          <p:cNvCxnSpPr/>
          <p:nvPr/>
        </p:nvCxnSpPr>
        <p:spPr>
          <a:xfrm>
            <a:off x="2794406" y="1961388"/>
            <a:ext cx="0" cy="118800"/>
          </a:xfrm>
          <a:prstGeom prst="straightConnector1">
            <a:avLst/>
          </a:prstGeom>
          <a:noFill/>
          <a:ln cap="flat" cmpd="sng" w="254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2" name="Google Shape;1102;h7b99a9c04b46e204_1_649"/>
          <p:cNvSpPr/>
          <p:nvPr/>
        </p:nvSpPr>
        <p:spPr>
          <a:xfrm>
            <a:off x="1100480" y="2080260"/>
            <a:ext cx="4475400" cy="3875100"/>
          </a:xfrm>
          <a:prstGeom prst="rect">
            <a:avLst/>
          </a:prstGeom>
          <a:solidFill>
            <a:srgbClr val="F7F6F3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h7b99a9c04b46e204_1_649"/>
          <p:cNvSpPr txBox="1"/>
          <p:nvPr/>
        </p:nvSpPr>
        <p:spPr>
          <a:xfrm>
            <a:off x="1422806" y="2101291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Source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h7b99a9c04b46e204_1_649"/>
          <p:cNvSpPr txBox="1"/>
          <p:nvPr/>
        </p:nvSpPr>
        <p:spPr>
          <a:xfrm>
            <a:off x="1213409" y="2834183"/>
            <a:ext cx="89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Day 1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h7b99a9c04b46e204_1_649"/>
          <p:cNvSpPr/>
          <p:nvPr/>
        </p:nvSpPr>
        <p:spPr>
          <a:xfrm>
            <a:off x="2223821" y="2656789"/>
            <a:ext cx="1141200" cy="909300"/>
          </a:xfrm>
          <a:prstGeom prst="can">
            <a:avLst>
              <a:gd fmla="val 25000" name="adj"/>
            </a:avLst>
          </a:prstGeom>
          <a:solidFill>
            <a:srgbClr val="FFFFFF"/>
          </a:solidFill>
          <a:ln cap="flat" cmpd="sng" w="15875">
            <a:solidFill>
              <a:srgbClr val="1B2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h7b99a9c04b46e204_1_649"/>
          <p:cNvSpPr/>
          <p:nvPr/>
        </p:nvSpPr>
        <p:spPr>
          <a:xfrm>
            <a:off x="2515057" y="2953969"/>
            <a:ext cx="142500" cy="142500"/>
          </a:xfrm>
          <a:prstGeom prst="rect">
            <a:avLst/>
          </a:prstGeom>
          <a:solidFill>
            <a:srgbClr val="F4654A"/>
          </a:solidFill>
          <a:ln cap="flat" cmpd="sng" w="127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h7b99a9c04b46e204_1_649"/>
          <p:cNvSpPr/>
          <p:nvPr/>
        </p:nvSpPr>
        <p:spPr>
          <a:xfrm>
            <a:off x="2723083" y="2953969"/>
            <a:ext cx="142500" cy="142500"/>
          </a:xfrm>
          <a:prstGeom prst="rect">
            <a:avLst/>
          </a:prstGeom>
          <a:solidFill>
            <a:srgbClr val="F4654A"/>
          </a:solidFill>
          <a:ln cap="flat" cmpd="sng" w="127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h7b99a9c04b46e204_1_649"/>
          <p:cNvSpPr/>
          <p:nvPr/>
        </p:nvSpPr>
        <p:spPr>
          <a:xfrm>
            <a:off x="2931109" y="2953969"/>
            <a:ext cx="142500" cy="142500"/>
          </a:xfrm>
          <a:prstGeom prst="rect">
            <a:avLst/>
          </a:prstGeom>
          <a:solidFill>
            <a:srgbClr val="F4654A"/>
          </a:solidFill>
          <a:ln cap="flat" cmpd="sng" w="127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h7b99a9c04b46e204_1_649"/>
          <p:cNvSpPr/>
          <p:nvPr/>
        </p:nvSpPr>
        <p:spPr>
          <a:xfrm>
            <a:off x="3804818" y="2918308"/>
            <a:ext cx="748800" cy="38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654A"/>
          </a:solidFill>
          <a:ln cap="flat" cmpd="sng" w="9525">
            <a:solidFill>
              <a:srgbClr val="D95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 icon" id="1110" name="Google Shape;1110;h7b99a9c04b46e204_1_6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9569" y="2811323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h7b99a9c04b46e204_1_649"/>
          <p:cNvSpPr txBox="1"/>
          <p:nvPr/>
        </p:nvSpPr>
        <p:spPr>
          <a:xfrm>
            <a:off x="1213409" y="3939692"/>
            <a:ext cx="89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Day 2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h7b99a9c04b46e204_1_649"/>
          <p:cNvSpPr/>
          <p:nvPr/>
        </p:nvSpPr>
        <p:spPr>
          <a:xfrm>
            <a:off x="2223821" y="3762299"/>
            <a:ext cx="1141200" cy="909300"/>
          </a:xfrm>
          <a:prstGeom prst="can">
            <a:avLst>
              <a:gd fmla="val 25000" name="adj"/>
            </a:avLst>
          </a:prstGeom>
          <a:solidFill>
            <a:srgbClr val="FFFFFF"/>
          </a:solidFill>
          <a:ln cap="flat" cmpd="sng" w="15875">
            <a:solidFill>
              <a:srgbClr val="1B2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h7b99a9c04b46e204_1_649"/>
          <p:cNvSpPr/>
          <p:nvPr/>
        </p:nvSpPr>
        <p:spPr>
          <a:xfrm>
            <a:off x="2515057" y="4053535"/>
            <a:ext cx="142500" cy="142500"/>
          </a:xfrm>
          <a:prstGeom prst="rect">
            <a:avLst/>
          </a:prstGeom>
          <a:solidFill>
            <a:srgbClr val="F4654A"/>
          </a:solidFill>
          <a:ln cap="flat" cmpd="sng" w="127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h7b99a9c04b46e204_1_649"/>
          <p:cNvSpPr/>
          <p:nvPr/>
        </p:nvSpPr>
        <p:spPr>
          <a:xfrm>
            <a:off x="2723083" y="4053535"/>
            <a:ext cx="142500" cy="142500"/>
          </a:xfrm>
          <a:prstGeom prst="rect">
            <a:avLst/>
          </a:prstGeom>
          <a:solidFill>
            <a:srgbClr val="F4654A"/>
          </a:solidFill>
          <a:ln cap="flat" cmpd="sng" w="127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h7b99a9c04b46e204_1_649"/>
          <p:cNvSpPr/>
          <p:nvPr/>
        </p:nvSpPr>
        <p:spPr>
          <a:xfrm>
            <a:off x="2931109" y="4053535"/>
            <a:ext cx="142500" cy="142500"/>
          </a:xfrm>
          <a:prstGeom prst="rect">
            <a:avLst/>
          </a:prstGeom>
          <a:solidFill>
            <a:srgbClr val="F4654A"/>
          </a:solidFill>
          <a:ln cap="flat" cmpd="sng" w="127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h7b99a9c04b46e204_1_649"/>
          <p:cNvSpPr/>
          <p:nvPr/>
        </p:nvSpPr>
        <p:spPr>
          <a:xfrm>
            <a:off x="2515057" y="4255618"/>
            <a:ext cx="142500" cy="142500"/>
          </a:xfrm>
          <a:prstGeom prst="rect">
            <a:avLst/>
          </a:prstGeom>
          <a:solidFill>
            <a:srgbClr val="6B8794"/>
          </a:solidFill>
          <a:ln cap="flat" cmpd="sng" w="12700">
            <a:solidFill>
              <a:srgbClr val="6B87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h7b99a9c04b46e204_1_649"/>
          <p:cNvSpPr/>
          <p:nvPr/>
        </p:nvSpPr>
        <p:spPr>
          <a:xfrm>
            <a:off x="2723083" y="4255618"/>
            <a:ext cx="142500" cy="142500"/>
          </a:xfrm>
          <a:prstGeom prst="rect">
            <a:avLst/>
          </a:prstGeom>
          <a:solidFill>
            <a:srgbClr val="6B8794"/>
          </a:solidFill>
          <a:ln cap="flat" cmpd="sng" w="12700">
            <a:solidFill>
              <a:srgbClr val="6B87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h7b99a9c04b46e204_1_649"/>
          <p:cNvSpPr/>
          <p:nvPr/>
        </p:nvSpPr>
        <p:spPr>
          <a:xfrm>
            <a:off x="2931109" y="4255618"/>
            <a:ext cx="142500" cy="142500"/>
          </a:xfrm>
          <a:prstGeom prst="rect">
            <a:avLst/>
          </a:prstGeom>
          <a:solidFill>
            <a:srgbClr val="6B8794"/>
          </a:solidFill>
          <a:ln cap="flat" cmpd="sng" w="12700">
            <a:solidFill>
              <a:srgbClr val="6B87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h7b99a9c04b46e204_1_649"/>
          <p:cNvSpPr/>
          <p:nvPr/>
        </p:nvSpPr>
        <p:spPr>
          <a:xfrm>
            <a:off x="3804818" y="4023817"/>
            <a:ext cx="748800" cy="38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654A"/>
          </a:solidFill>
          <a:ln cap="flat" cmpd="sng" w="9525">
            <a:solidFill>
              <a:srgbClr val="D95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 icon" id="1120" name="Google Shape;1120;h7b99a9c04b46e204_1_6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9569" y="3916832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h7b99a9c04b46e204_1_649"/>
          <p:cNvSpPr txBox="1"/>
          <p:nvPr/>
        </p:nvSpPr>
        <p:spPr>
          <a:xfrm>
            <a:off x="1213409" y="5039258"/>
            <a:ext cx="89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Day 3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h7b99a9c04b46e204_1_649"/>
          <p:cNvSpPr/>
          <p:nvPr/>
        </p:nvSpPr>
        <p:spPr>
          <a:xfrm>
            <a:off x="2223821" y="4867808"/>
            <a:ext cx="1141200" cy="909300"/>
          </a:xfrm>
          <a:prstGeom prst="can">
            <a:avLst>
              <a:gd fmla="val 25000" name="adj"/>
            </a:avLst>
          </a:prstGeom>
          <a:solidFill>
            <a:srgbClr val="FFFFFF"/>
          </a:solidFill>
          <a:ln cap="flat" cmpd="sng" w="15875">
            <a:solidFill>
              <a:srgbClr val="1B2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h7b99a9c04b46e204_1_649"/>
          <p:cNvSpPr/>
          <p:nvPr/>
        </p:nvSpPr>
        <p:spPr>
          <a:xfrm>
            <a:off x="2515057" y="5147158"/>
            <a:ext cx="142500" cy="142500"/>
          </a:xfrm>
          <a:prstGeom prst="rect">
            <a:avLst/>
          </a:prstGeom>
          <a:solidFill>
            <a:srgbClr val="F4654A"/>
          </a:solidFill>
          <a:ln cap="flat" cmpd="sng" w="127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h7b99a9c04b46e204_1_649"/>
          <p:cNvSpPr/>
          <p:nvPr/>
        </p:nvSpPr>
        <p:spPr>
          <a:xfrm>
            <a:off x="2723083" y="5147158"/>
            <a:ext cx="142500" cy="142500"/>
          </a:xfrm>
          <a:prstGeom prst="rect">
            <a:avLst/>
          </a:prstGeom>
          <a:solidFill>
            <a:srgbClr val="F4654A"/>
          </a:solidFill>
          <a:ln cap="flat" cmpd="sng" w="127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h7b99a9c04b46e204_1_649"/>
          <p:cNvSpPr/>
          <p:nvPr/>
        </p:nvSpPr>
        <p:spPr>
          <a:xfrm>
            <a:off x="2931109" y="5147158"/>
            <a:ext cx="142500" cy="142500"/>
          </a:xfrm>
          <a:prstGeom prst="rect">
            <a:avLst/>
          </a:prstGeom>
          <a:solidFill>
            <a:srgbClr val="F4654A"/>
          </a:solidFill>
          <a:ln cap="flat" cmpd="sng" w="127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h7b99a9c04b46e204_1_649"/>
          <p:cNvSpPr/>
          <p:nvPr/>
        </p:nvSpPr>
        <p:spPr>
          <a:xfrm>
            <a:off x="2515057" y="5349240"/>
            <a:ext cx="142500" cy="142500"/>
          </a:xfrm>
          <a:prstGeom prst="rect">
            <a:avLst/>
          </a:prstGeom>
          <a:solidFill>
            <a:srgbClr val="6B8794"/>
          </a:solidFill>
          <a:ln cap="flat" cmpd="sng" w="12700">
            <a:solidFill>
              <a:srgbClr val="6B87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h7b99a9c04b46e204_1_649"/>
          <p:cNvSpPr/>
          <p:nvPr/>
        </p:nvSpPr>
        <p:spPr>
          <a:xfrm>
            <a:off x="2723083" y="5349240"/>
            <a:ext cx="142500" cy="142500"/>
          </a:xfrm>
          <a:prstGeom prst="rect">
            <a:avLst/>
          </a:prstGeom>
          <a:solidFill>
            <a:srgbClr val="6B8794"/>
          </a:solidFill>
          <a:ln cap="flat" cmpd="sng" w="12700">
            <a:solidFill>
              <a:srgbClr val="6B87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h7b99a9c04b46e204_1_649"/>
          <p:cNvSpPr/>
          <p:nvPr/>
        </p:nvSpPr>
        <p:spPr>
          <a:xfrm>
            <a:off x="2931109" y="5349240"/>
            <a:ext cx="142500" cy="142500"/>
          </a:xfrm>
          <a:prstGeom prst="rect">
            <a:avLst/>
          </a:prstGeom>
          <a:solidFill>
            <a:srgbClr val="6B8794"/>
          </a:solidFill>
          <a:ln cap="flat" cmpd="sng" w="12700">
            <a:solidFill>
              <a:srgbClr val="6B87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h7b99a9c04b46e204_1_649"/>
          <p:cNvSpPr/>
          <p:nvPr/>
        </p:nvSpPr>
        <p:spPr>
          <a:xfrm>
            <a:off x="2515057" y="5551322"/>
            <a:ext cx="142500" cy="1425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h7b99a9c04b46e204_1_649"/>
          <p:cNvSpPr/>
          <p:nvPr/>
        </p:nvSpPr>
        <p:spPr>
          <a:xfrm>
            <a:off x="2723083" y="5551322"/>
            <a:ext cx="142500" cy="1425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h7b99a9c04b46e204_1_649"/>
          <p:cNvSpPr/>
          <p:nvPr/>
        </p:nvSpPr>
        <p:spPr>
          <a:xfrm>
            <a:off x="2931109" y="5551322"/>
            <a:ext cx="142500" cy="1425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h7b99a9c04b46e204_1_649"/>
          <p:cNvSpPr/>
          <p:nvPr/>
        </p:nvSpPr>
        <p:spPr>
          <a:xfrm>
            <a:off x="3804818" y="5123383"/>
            <a:ext cx="748800" cy="38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654A"/>
          </a:solidFill>
          <a:ln cap="flat" cmpd="sng" w="9525">
            <a:solidFill>
              <a:srgbClr val="D95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 icon" id="1133" name="Google Shape;1133;h7b99a9c04b46e204_1_6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9569" y="5016398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h7b99a9c04b46e204_1_649"/>
          <p:cNvSpPr txBox="1"/>
          <p:nvPr/>
        </p:nvSpPr>
        <p:spPr>
          <a:xfrm>
            <a:off x="6443777" y="2050542"/>
            <a:ext cx="50520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Load data as </a:t>
            </a:r>
            <a:r>
              <a:rPr b="1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batches of rows into Databricks</a:t>
            </a: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, often based on a schedule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Traditional batch ingestion </a:t>
            </a:r>
            <a:r>
              <a:rPr b="1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processes all records</a:t>
            </a: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 each time it runs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h7b99a9c04b46e204_1_649"/>
          <p:cNvSpPr/>
          <p:nvPr/>
        </p:nvSpPr>
        <p:spPr>
          <a:xfrm>
            <a:off x="6188202" y="3625596"/>
            <a:ext cx="5289900" cy="1693800"/>
          </a:xfrm>
          <a:prstGeom prst="roundRect">
            <a:avLst>
              <a:gd fmla="val 6478" name="adj"/>
            </a:avLst>
          </a:prstGeom>
          <a:solidFill>
            <a:srgbClr val="E7EAEE"/>
          </a:solidFill>
          <a:ln cap="flat" cmpd="sng" w="12700">
            <a:solidFill>
              <a:srgbClr val="E7EA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h7b99a9c04b46e204_1_649"/>
          <p:cNvSpPr/>
          <p:nvPr/>
        </p:nvSpPr>
        <p:spPr>
          <a:xfrm>
            <a:off x="6188202" y="3698748"/>
            <a:ext cx="47400" cy="1547700"/>
          </a:xfrm>
          <a:prstGeom prst="rect">
            <a:avLst/>
          </a:prstGeom>
          <a:solidFill>
            <a:srgbClr val="3F74B5"/>
          </a:solidFill>
          <a:ln cap="flat" cmpd="sng" w="12700">
            <a:solidFill>
              <a:srgbClr val="3F74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h7b99a9c04b46e204_1_649"/>
          <p:cNvSpPr txBox="1"/>
          <p:nvPr/>
        </p:nvSpPr>
        <p:spPr>
          <a:xfrm>
            <a:off x="6378397" y="3756355"/>
            <a:ext cx="4755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Common techniques include: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h7b99a9c04b46e204_1_649"/>
          <p:cNvSpPr txBox="1"/>
          <p:nvPr/>
        </p:nvSpPr>
        <p:spPr>
          <a:xfrm>
            <a:off x="6378397" y="4190238"/>
            <a:ext cx="4933200" cy="1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1.  The SQL statement: </a:t>
            </a:r>
            <a:r>
              <a:rPr b="0" i="0" lang="en-US" sz="1400" u="none" cap="none" strike="noStrike">
                <a:solidFill>
                  <a:srgbClr val="1B2A33"/>
                </a:solidFill>
                <a:highlight>
                  <a:srgbClr val="ECECEC"/>
                </a:highlight>
                <a:latin typeface="Courier New"/>
                <a:ea typeface="Courier New"/>
                <a:cs typeface="Courier New"/>
                <a:sym typeface="Courier New"/>
              </a:rPr>
              <a:t>CREATE TABLE AS SELECT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2.  The Python method: </a:t>
            </a:r>
            <a:r>
              <a:rPr b="0" i="0" lang="en-US" sz="1400" u="none" cap="none" strike="noStrike">
                <a:solidFill>
                  <a:srgbClr val="1B2A33"/>
                </a:solidFill>
                <a:highlight>
                  <a:srgbClr val="ECECEC"/>
                </a:highlight>
                <a:latin typeface="Courier New"/>
                <a:ea typeface="Courier New"/>
                <a:cs typeface="Courier New"/>
                <a:sym typeface="Courier New"/>
              </a:rPr>
              <a:t>spark.read.load()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h7b99a9c04b46e204_1_700"/>
          <p:cNvSpPr/>
          <p:nvPr/>
        </p:nvSpPr>
        <p:spPr>
          <a:xfrm>
            <a:off x="1083363" y="246559"/>
            <a:ext cx="10036800" cy="6469200"/>
          </a:xfrm>
          <a:prstGeom prst="roundRect">
            <a:avLst>
              <a:gd fmla="val 2827" name="adj"/>
            </a:avLst>
          </a:prstGeom>
          <a:solidFill>
            <a:srgbClr val="F7F6F3"/>
          </a:solidFill>
          <a:ln cap="flat" cmpd="sng" w="9525">
            <a:solidFill>
              <a:srgbClr val="EFE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h7b99a9c04b46e204_1_700"/>
          <p:cNvSpPr/>
          <p:nvPr/>
        </p:nvSpPr>
        <p:spPr>
          <a:xfrm>
            <a:off x="1083363" y="246559"/>
            <a:ext cx="10036800" cy="74100"/>
          </a:xfrm>
          <a:prstGeom prst="roundRect">
            <a:avLst>
              <a:gd fmla="val 61790" name="adj"/>
            </a:avLst>
          </a:prstGeom>
          <a:solidFill>
            <a:srgbClr val="4CA575"/>
          </a:solidFill>
          <a:ln cap="flat" cmpd="sng" w="12700">
            <a:solidFill>
              <a:srgbClr val="4CA5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oud icon" id="1146" name="Google Shape;1146;h7b99a9c04b46e204_1_7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410" y="391903"/>
            <a:ext cx="449245" cy="449245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h7b99a9c04b46e204_1_700"/>
          <p:cNvSpPr txBox="1"/>
          <p:nvPr/>
        </p:nvSpPr>
        <p:spPr>
          <a:xfrm>
            <a:off x="5026146" y="387925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Incremental Batch Ingestion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h7b99a9c04b46e204_1_700"/>
          <p:cNvSpPr/>
          <p:nvPr/>
        </p:nvSpPr>
        <p:spPr>
          <a:xfrm>
            <a:off x="2135124" y="1182045"/>
            <a:ext cx="3678600" cy="623700"/>
          </a:xfrm>
          <a:prstGeom prst="rect">
            <a:avLst/>
          </a:prstGeom>
          <a:solidFill>
            <a:srgbClr val="F4654A"/>
          </a:solidFill>
          <a:ln cap="flat" cmpd="sng" w="9525">
            <a:solidFill>
              <a:srgbClr val="D95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h7b99a9c04b46e204_1_700"/>
          <p:cNvSpPr txBox="1"/>
          <p:nvPr/>
        </p:nvSpPr>
        <p:spPr>
          <a:xfrm>
            <a:off x="2180844" y="1182045"/>
            <a:ext cx="35871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Ingests (appends) new data</a:t>
            </a: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only, skipping previously loaded records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0" name="Google Shape;1150;h7b99a9c04b46e204_1_700"/>
          <p:cNvCxnSpPr/>
          <p:nvPr/>
        </p:nvCxnSpPr>
        <p:spPr>
          <a:xfrm rot="10800000">
            <a:off x="1960824" y="1499159"/>
            <a:ext cx="174300" cy="0"/>
          </a:xfrm>
          <a:prstGeom prst="straightConnector1">
            <a:avLst/>
          </a:prstGeom>
          <a:noFill/>
          <a:ln cap="flat" cmpd="sng" w="254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1" name="Google Shape;1151;h7b99a9c04b46e204_1_700"/>
          <p:cNvCxnSpPr/>
          <p:nvPr/>
        </p:nvCxnSpPr>
        <p:spPr>
          <a:xfrm>
            <a:off x="1960711" y="1499159"/>
            <a:ext cx="0" cy="528600"/>
          </a:xfrm>
          <a:prstGeom prst="straightConnector1">
            <a:avLst/>
          </a:prstGeom>
          <a:noFill/>
          <a:ln cap="flat" cmpd="sng" w="254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2" name="Google Shape;1152;h7b99a9c04b46e204_1_700"/>
          <p:cNvCxnSpPr/>
          <p:nvPr/>
        </p:nvCxnSpPr>
        <p:spPr>
          <a:xfrm>
            <a:off x="1960711" y="2027682"/>
            <a:ext cx="1136400" cy="0"/>
          </a:xfrm>
          <a:prstGeom prst="straightConnector1">
            <a:avLst/>
          </a:prstGeom>
          <a:noFill/>
          <a:ln cap="flat" cmpd="sng" w="254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3" name="Google Shape;1153;h7b99a9c04b46e204_1_700"/>
          <p:cNvCxnSpPr/>
          <p:nvPr/>
        </p:nvCxnSpPr>
        <p:spPr>
          <a:xfrm>
            <a:off x="3097036" y="2027682"/>
            <a:ext cx="0" cy="222000"/>
          </a:xfrm>
          <a:prstGeom prst="straightConnector1">
            <a:avLst/>
          </a:prstGeom>
          <a:noFill/>
          <a:ln cap="flat" cmpd="sng" w="254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4" name="Google Shape;1154;h7b99a9c04b46e204_1_700"/>
          <p:cNvSpPr/>
          <p:nvPr/>
        </p:nvSpPr>
        <p:spPr>
          <a:xfrm>
            <a:off x="1331769" y="2249662"/>
            <a:ext cx="4482000" cy="4016700"/>
          </a:xfrm>
          <a:prstGeom prst="rect">
            <a:avLst/>
          </a:prstGeom>
          <a:solidFill>
            <a:srgbClr val="F7F6F3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h7b99a9c04b46e204_1_700"/>
          <p:cNvSpPr txBox="1"/>
          <p:nvPr/>
        </p:nvSpPr>
        <p:spPr>
          <a:xfrm>
            <a:off x="1714866" y="2274753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Source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h7b99a9c04b46e204_1_700"/>
          <p:cNvSpPr txBox="1"/>
          <p:nvPr/>
        </p:nvSpPr>
        <p:spPr>
          <a:xfrm>
            <a:off x="1448044" y="3048244"/>
            <a:ext cx="84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Day 1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h7b99a9c04b46e204_1_700"/>
          <p:cNvSpPr/>
          <p:nvPr/>
        </p:nvSpPr>
        <p:spPr>
          <a:xfrm>
            <a:off x="2499805" y="2852178"/>
            <a:ext cx="1178700" cy="946200"/>
          </a:xfrm>
          <a:prstGeom prst="can">
            <a:avLst>
              <a:gd fmla="val 25000" name="adj"/>
            </a:avLst>
          </a:prstGeom>
          <a:solidFill>
            <a:srgbClr val="FFFFFF"/>
          </a:solidFill>
          <a:ln cap="flat" cmpd="sng" w="15875">
            <a:solidFill>
              <a:srgbClr val="1B2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h7b99a9c04b46e204_1_700"/>
          <p:cNvSpPr/>
          <p:nvPr/>
        </p:nvSpPr>
        <p:spPr>
          <a:xfrm>
            <a:off x="2795778" y="3148151"/>
            <a:ext cx="147900" cy="147900"/>
          </a:xfrm>
          <a:prstGeom prst="rect">
            <a:avLst/>
          </a:prstGeom>
          <a:solidFill>
            <a:srgbClr val="F4654A"/>
          </a:solidFill>
          <a:ln cap="flat" cmpd="sng" w="127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h7b99a9c04b46e204_1_700"/>
          <p:cNvSpPr/>
          <p:nvPr/>
        </p:nvSpPr>
        <p:spPr>
          <a:xfrm>
            <a:off x="3012473" y="3148151"/>
            <a:ext cx="147900" cy="147900"/>
          </a:xfrm>
          <a:prstGeom prst="rect">
            <a:avLst/>
          </a:prstGeom>
          <a:solidFill>
            <a:srgbClr val="F4654A"/>
          </a:solidFill>
          <a:ln cap="flat" cmpd="sng" w="127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h7b99a9c04b46e204_1_700"/>
          <p:cNvSpPr/>
          <p:nvPr/>
        </p:nvSpPr>
        <p:spPr>
          <a:xfrm>
            <a:off x="3229167" y="3148151"/>
            <a:ext cx="147900" cy="147900"/>
          </a:xfrm>
          <a:prstGeom prst="rect">
            <a:avLst/>
          </a:prstGeom>
          <a:solidFill>
            <a:srgbClr val="F4654A"/>
          </a:solidFill>
          <a:ln cap="flat" cmpd="sng" w="127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ttings icon" id="1161" name="Google Shape;1161;h7b99a9c04b46e204_1_7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1835" y="3158722"/>
            <a:ext cx="327684" cy="327684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h7b99a9c04b46e204_1_700"/>
          <p:cNvSpPr/>
          <p:nvPr/>
        </p:nvSpPr>
        <p:spPr>
          <a:xfrm>
            <a:off x="4132942" y="3153436"/>
            <a:ext cx="782100" cy="33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654A"/>
          </a:solidFill>
          <a:ln cap="flat" cmpd="sng" w="9525">
            <a:solidFill>
              <a:srgbClr val="D95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 icon" id="1163" name="Google Shape;1163;h7b99a9c04b46e204_1_7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8428" y="3042447"/>
            <a:ext cx="560235" cy="560235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h7b99a9c04b46e204_1_700"/>
          <p:cNvSpPr txBox="1"/>
          <p:nvPr/>
        </p:nvSpPr>
        <p:spPr>
          <a:xfrm>
            <a:off x="1448044" y="4189854"/>
            <a:ext cx="84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Day 2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h7b99a9c04b46e204_1_700"/>
          <p:cNvSpPr/>
          <p:nvPr/>
        </p:nvSpPr>
        <p:spPr>
          <a:xfrm>
            <a:off x="2499805" y="3993788"/>
            <a:ext cx="1178700" cy="946200"/>
          </a:xfrm>
          <a:prstGeom prst="can">
            <a:avLst>
              <a:gd fmla="val 25000" name="adj"/>
            </a:avLst>
          </a:prstGeom>
          <a:solidFill>
            <a:srgbClr val="FFFFFF"/>
          </a:solidFill>
          <a:ln cap="flat" cmpd="sng" w="15875">
            <a:solidFill>
              <a:srgbClr val="1B2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h7b99a9c04b46e204_1_700"/>
          <p:cNvSpPr/>
          <p:nvPr/>
        </p:nvSpPr>
        <p:spPr>
          <a:xfrm>
            <a:off x="2795778" y="4289761"/>
            <a:ext cx="147900" cy="1479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h7b99a9c04b46e204_1_700"/>
          <p:cNvSpPr/>
          <p:nvPr/>
        </p:nvSpPr>
        <p:spPr>
          <a:xfrm>
            <a:off x="3012473" y="4289761"/>
            <a:ext cx="147900" cy="1479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h7b99a9c04b46e204_1_700"/>
          <p:cNvSpPr/>
          <p:nvPr/>
        </p:nvSpPr>
        <p:spPr>
          <a:xfrm>
            <a:off x="3229167" y="4289761"/>
            <a:ext cx="147900" cy="1479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h7b99a9c04b46e204_1_700"/>
          <p:cNvSpPr/>
          <p:nvPr/>
        </p:nvSpPr>
        <p:spPr>
          <a:xfrm>
            <a:off x="2795778" y="4501171"/>
            <a:ext cx="147900" cy="147900"/>
          </a:xfrm>
          <a:prstGeom prst="rect">
            <a:avLst/>
          </a:prstGeom>
          <a:solidFill>
            <a:srgbClr val="6B8794"/>
          </a:solidFill>
          <a:ln cap="flat" cmpd="sng" w="12700">
            <a:solidFill>
              <a:srgbClr val="6B87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h7b99a9c04b46e204_1_700"/>
          <p:cNvSpPr/>
          <p:nvPr/>
        </p:nvSpPr>
        <p:spPr>
          <a:xfrm>
            <a:off x="3012473" y="4501171"/>
            <a:ext cx="147900" cy="147900"/>
          </a:xfrm>
          <a:prstGeom prst="rect">
            <a:avLst/>
          </a:prstGeom>
          <a:solidFill>
            <a:srgbClr val="6B8794"/>
          </a:solidFill>
          <a:ln cap="flat" cmpd="sng" w="12700">
            <a:solidFill>
              <a:srgbClr val="6B87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h7b99a9c04b46e204_1_700"/>
          <p:cNvSpPr/>
          <p:nvPr/>
        </p:nvSpPr>
        <p:spPr>
          <a:xfrm>
            <a:off x="3229167" y="4501171"/>
            <a:ext cx="147900" cy="147900"/>
          </a:xfrm>
          <a:prstGeom prst="rect">
            <a:avLst/>
          </a:prstGeom>
          <a:solidFill>
            <a:srgbClr val="6B8794"/>
          </a:solidFill>
          <a:ln cap="flat" cmpd="sng" w="12700">
            <a:solidFill>
              <a:srgbClr val="6B87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ttings icon" id="1172" name="Google Shape;1172;h7b99a9c04b46e204_1_7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1835" y="4300332"/>
            <a:ext cx="327684" cy="327684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h7b99a9c04b46e204_1_700"/>
          <p:cNvSpPr/>
          <p:nvPr/>
        </p:nvSpPr>
        <p:spPr>
          <a:xfrm>
            <a:off x="4132942" y="4295047"/>
            <a:ext cx="782100" cy="33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654A"/>
          </a:solidFill>
          <a:ln cap="flat" cmpd="sng" w="9525">
            <a:solidFill>
              <a:srgbClr val="D95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 icon" id="1174" name="Google Shape;1174;h7b99a9c04b46e204_1_7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8428" y="4184057"/>
            <a:ext cx="560235" cy="560235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h7b99a9c04b46e204_1_700"/>
          <p:cNvSpPr txBox="1"/>
          <p:nvPr/>
        </p:nvSpPr>
        <p:spPr>
          <a:xfrm>
            <a:off x="1448044" y="5331464"/>
            <a:ext cx="84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Day 3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h7b99a9c04b46e204_1_700"/>
          <p:cNvSpPr/>
          <p:nvPr/>
        </p:nvSpPr>
        <p:spPr>
          <a:xfrm>
            <a:off x="2499805" y="5135398"/>
            <a:ext cx="1178700" cy="946200"/>
          </a:xfrm>
          <a:prstGeom prst="can">
            <a:avLst>
              <a:gd fmla="val 25000" name="adj"/>
            </a:avLst>
          </a:prstGeom>
          <a:solidFill>
            <a:srgbClr val="FFFFFF"/>
          </a:solidFill>
          <a:ln cap="flat" cmpd="sng" w="15875">
            <a:solidFill>
              <a:srgbClr val="1B2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h7b99a9c04b46e204_1_700"/>
          <p:cNvSpPr/>
          <p:nvPr/>
        </p:nvSpPr>
        <p:spPr>
          <a:xfrm>
            <a:off x="2795778" y="5431371"/>
            <a:ext cx="147900" cy="1479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h7b99a9c04b46e204_1_700"/>
          <p:cNvSpPr/>
          <p:nvPr/>
        </p:nvSpPr>
        <p:spPr>
          <a:xfrm>
            <a:off x="3012473" y="5431371"/>
            <a:ext cx="147900" cy="1479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h7b99a9c04b46e204_1_700"/>
          <p:cNvSpPr/>
          <p:nvPr/>
        </p:nvSpPr>
        <p:spPr>
          <a:xfrm>
            <a:off x="3229167" y="5431371"/>
            <a:ext cx="147900" cy="1479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h7b99a9c04b46e204_1_700"/>
          <p:cNvSpPr/>
          <p:nvPr/>
        </p:nvSpPr>
        <p:spPr>
          <a:xfrm>
            <a:off x="2795778" y="5642781"/>
            <a:ext cx="147900" cy="1479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h7b99a9c04b46e204_1_700"/>
          <p:cNvSpPr/>
          <p:nvPr/>
        </p:nvSpPr>
        <p:spPr>
          <a:xfrm>
            <a:off x="3012473" y="5642781"/>
            <a:ext cx="147900" cy="1479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h7b99a9c04b46e204_1_700"/>
          <p:cNvSpPr/>
          <p:nvPr/>
        </p:nvSpPr>
        <p:spPr>
          <a:xfrm>
            <a:off x="3229167" y="5642781"/>
            <a:ext cx="147900" cy="1479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h7b99a9c04b46e204_1_700"/>
          <p:cNvSpPr/>
          <p:nvPr/>
        </p:nvSpPr>
        <p:spPr>
          <a:xfrm>
            <a:off x="2795778" y="5854190"/>
            <a:ext cx="147900" cy="1479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h7b99a9c04b46e204_1_700"/>
          <p:cNvSpPr/>
          <p:nvPr/>
        </p:nvSpPr>
        <p:spPr>
          <a:xfrm>
            <a:off x="3012473" y="5854190"/>
            <a:ext cx="147900" cy="1479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h7b99a9c04b46e204_1_700"/>
          <p:cNvSpPr/>
          <p:nvPr/>
        </p:nvSpPr>
        <p:spPr>
          <a:xfrm>
            <a:off x="3229167" y="5854190"/>
            <a:ext cx="147900" cy="1479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ttings icon" id="1186" name="Google Shape;1186;h7b99a9c04b46e204_1_7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1835" y="5441942"/>
            <a:ext cx="327684" cy="327684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h7b99a9c04b46e204_1_700"/>
          <p:cNvSpPr/>
          <p:nvPr/>
        </p:nvSpPr>
        <p:spPr>
          <a:xfrm>
            <a:off x="4132942" y="5436657"/>
            <a:ext cx="782100" cy="33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654A"/>
          </a:solidFill>
          <a:ln cap="flat" cmpd="sng" w="9525">
            <a:solidFill>
              <a:srgbClr val="D95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 icon" id="1188" name="Google Shape;1188;h7b99a9c04b46e204_1_7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8428" y="5325667"/>
            <a:ext cx="560235" cy="560235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h7b99a9c04b46e204_1_700"/>
          <p:cNvSpPr txBox="1"/>
          <p:nvPr/>
        </p:nvSpPr>
        <p:spPr>
          <a:xfrm>
            <a:off x="6400306" y="1789847"/>
            <a:ext cx="4545300" cy="1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1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Only new data is ingested</a:t>
            </a: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 — previously loaded records are </a:t>
            </a:r>
            <a:r>
              <a:rPr b="1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skipped automatically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Provides </a:t>
            </a:r>
            <a:r>
              <a:rPr b="1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faster</a:t>
            </a: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 and more </a:t>
            </a:r>
            <a:r>
              <a:rPr b="1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resource-efficient</a:t>
            </a: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 ingestion by processing less data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h7b99a9c04b46e204_1_700"/>
          <p:cNvSpPr/>
          <p:nvPr/>
        </p:nvSpPr>
        <p:spPr>
          <a:xfrm>
            <a:off x="6194182" y="3174577"/>
            <a:ext cx="4730400" cy="2463000"/>
          </a:xfrm>
          <a:prstGeom prst="roundRect">
            <a:avLst>
              <a:gd fmla="val 4455" name="adj"/>
            </a:avLst>
          </a:prstGeom>
          <a:solidFill>
            <a:srgbClr val="E8EEE9"/>
          </a:solidFill>
          <a:ln cap="flat" cmpd="sng" w="12700">
            <a:solidFill>
              <a:srgbClr val="E8E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h7b99a9c04b46e204_1_700"/>
          <p:cNvSpPr/>
          <p:nvPr/>
        </p:nvSpPr>
        <p:spPr>
          <a:xfrm>
            <a:off x="6194182" y="3247729"/>
            <a:ext cx="42300" cy="2316600"/>
          </a:xfrm>
          <a:prstGeom prst="rect">
            <a:avLst/>
          </a:prstGeom>
          <a:solidFill>
            <a:srgbClr val="4CA575"/>
          </a:solidFill>
          <a:ln cap="flat" cmpd="sng" w="12700">
            <a:solidFill>
              <a:srgbClr val="4CA5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h7b99a9c04b46e204_1_700"/>
          <p:cNvSpPr txBox="1"/>
          <p:nvPr/>
        </p:nvSpPr>
        <p:spPr>
          <a:xfrm>
            <a:off x="6363310" y="3290852"/>
            <a:ext cx="42282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Common techniques include: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h7b99a9c04b46e204_1_700"/>
          <p:cNvSpPr txBox="1"/>
          <p:nvPr/>
        </p:nvSpPr>
        <p:spPr>
          <a:xfrm>
            <a:off x="6363310" y="3676674"/>
            <a:ext cx="44133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1.  The SQL statement: </a:t>
            </a:r>
            <a:r>
              <a:rPr b="0" i="0" lang="en-US" sz="1400" u="none" cap="none" strike="noStrike">
                <a:solidFill>
                  <a:srgbClr val="1B2A33"/>
                </a:solidFill>
                <a:highlight>
                  <a:srgbClr val="ECECEC"/>
                </a:highlight>
                <a:latin typeface="Courier New"/>
                <a:ea typeface="Courier New"/>
                <a:cs typeface="Courier New"/>
                <a:sym typeface="Courier New"/>
              </a:rPr>
              <a:t>COPY INTO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2.  The Python method: </a:t>
            </a:r>
            <a:r>
              <a:rPr b="0" i="0" lang="en-US" sz="1400" u="none" cap="none" strike="noStrike">
                <a:solidFill>
                  <a:srgbClr val="1B2A33"/>
                </a:solidFill>
                <a:highlight>
                  <a:srgbClr val="ECECEC"/>
                </a:highlight>
                <a:latin typeface="Courier New"/>
                <a:ea typeface="Courier New"/>
                <a:cs typeface="Courier New"/>
                <a:sym typeface="Courier New"/>
              </a:rPr>
              <a:t>spark.readStream</a:t>
            </a: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 (Auto Loader with a timed trigger)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3.  Declarative Pipelines: </a:t>
            </a:r>
            <a:r>
              <a:rPr b="0" i="0" lang="en-US" sz="1400" u="none" cap="none" strike="noStrike">
                <a:solidFill>
                  <a:srgbClr val="1B2A33"/>
                </a:solidFill>
                <a:highlight>
                  <a:srgbClr val="ECECEC"/>
                </a:highlight>
                <a:latin typeface="Courier New"/>
                <a:ea typeface="Courier New"/>
                <a:cs typeface="Courier New"/>
                <a:sym typeface="Courier New"/>
              </a:rPr>
              <a:t>CREATE OR REFRESH STREAMING TABLE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h7b99a9c04b46e204_1_754"/>
          <p:cNvSpPr/>
          <p:nvPr/>
        </p:nvSpPr>
        <p:spPr>
          <a:xfrm>
            <a:off x="865900" y="251423"/>
            <a:ext cx="10513200" cy="6554700"/>
          </a:xfrm>
          <a:prstGeom prst="roundRect">
            <a:avLst>
              <a:gd fmla="val 2790" name="adj"/>
            </a:avLst>
          </a:prstGeom>
          <a:solidFill>
            <a:srgbClr val="F7F6F3"/>
          </a:solidFill>
          <a:ln cap="flat" cmpd="sng" w="9525">
            <a:solidFill>
              <a:srgbClr val="EFE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h7b99a9c04b46e204_1_754"/>
          <p:cNvSpPr/>
          <p:nvPr/>
        </p:nvSpPr>
        <p:spPr>
          <a:xfrm>
            <a:off x="865900" y="251423"/>
            <a:ext cx="10513200" cy="77700"/>
          </a:xfrm>
          <a:prstGeom prst="roundRect">
            <a:avLst>
              <a:gd fmla="val 58740" name="adj"/>
            </a:avLst>
          </a:prstGeom>
          <a:solidFill>
            <a:srgbClr val="EF4E37"/>
          </a:solidFill>
          <a:ln cap="flat" cmpd="sng" w="12700">
            <a:solidFill>
              <a:srgbClr val="EF4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nSearch icon" id="1201" name="Google Shape;1201;h7b99a9c04b46e204_1_7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2641" y="387632"/>
            <a:ext cx="472562" cy="472562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h7b99a9c04b46e204_1_754"/>
          <p:cNvSpPr txBox="1"/>
          <p:nvPr/>
        </p:nvSpPr>
        <p:spPr>
          <a:xfrm>
            <a:off x="5391376" y="395313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Streaming Ingestion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h7b99a9c04b46e204_1_754"/>
          <p:cNvSpPr/>
          <p:nvPr/>
        </p:nvSpPr>
        <p:spPr>
          <a:xfrm>
            <a:off x="2083442" y="1374453"/>
            <a:ext cx="3002100" cy="594900"/>
          </a:xfrm>
          <a:prstGeom prst="rect">
            <a:avLst/>
          </a:prstGeom>
          <a:solidFill>
            <a:srgbClr val="F4654A"/>
          </a:solidFill>
          <a:ln cap="flat" cmpd="sng" w="9525">
            <a:solidFill>
              <a:srgbClr val="D95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h7b99a9c04b46e204_1_754"/>
          <p:cNvSpPr txBox="1"/>
          <p:nvPr/>
        </p:nvSpPr>
        <p:spPr>
          <a:xfrm>
            <a:off x="2129162" y="1374453"/>
            <a:ext cx="2910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Continuous loads</a:t>
            </a: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data as it is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generated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5" name="Google Shape;1205;h7b99a9c04b46e204_1_754"/>
          <p:cNvCxnSpPr/>
          <p:nvPr/>
        </p:nvCxnSpPr>
        <p:spPr>
          <a:xfrm rot="10800000">
            <a:off x="1916643" y="1674669"/>
            <a:ext cx="166800" cy="0"/>
          </a:xfrm>
          <a:prstGeom prst="straightConnector1">
            <a:avLst/>
          </a:prstGeom>
          <a:noFill/>
          <a:ln cap="flat" cmpd="sng" w="254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6" name="Google Shape;1206;h7b99a9c04b46e204_1_754"/>
          <p:cNvCxnSpPr/>
          <p:nvPr/>
        </p:nvCxnSpPr>
        <p:spPr>
          <a:xfrm>
            <a:off x="1916656" y="1674669"/>
            <a:ext cx="0" cy="489300"/>
          </a:xfrm>
          <a:prstGeom prst="straightConnector1">
            <a:avLst/>
          </a:prstGeom>
          <a:noFill/>
          <a:ln cap="flat" cmpd="sng" w="254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7" name="Google Shape;1207;h7b99a9c04b46e204_1_754"/>
          <p:cNvCxnSpPr/>
          <p:nvPr/>
        </p:nvCxnSpPr>
        <p:spPr>
          <a:xfrm>
            <a:off x="1916656" y="2163909"/>
            <a:ext cx="1006200" cy="0"/>
          </a:xfrm>
          <a:prstGeom prst="straightConnector1">
            <a:avLst/>
          </a:prstGeom>
          <a:noFill/>
          <a:ln cap="flat" cmpd="sng" w="254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8" name="Google Shape;1208;h7b99a9c04b46e204_1_754"/>
          <p:cNvCxnSpPr/>
          <p:nvPr/>
        </p:nvCxnSpPr>
        <p:spPr>
          <a:xfrm>
            <a:off x="2922934" y="2163909"/>
            <a:ext cx="0" cy="194700"/>
          </a:xfrm>
          <a:prstGeom prst="straightConnector1">
            <a:avLst/>
          </a:prstGeom>
          <a:noFill/>
          <a:ln cap="flat" cmpd="sng" w="254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9" name="Google Shape;1209;h7b99a9c04b46e204_1_754"/>
          <p:cNvSpPr/>
          <p:nvPr/>
        </p:nvSpPr>
        <p:spPr>
          <a:xfrm>
            <a:off x="1243950" y="2358494"/>
            <a:ext cx="4436400" cy="3841800"/>
          </a:xfrm>
          <a:prstGeom prst="rect">
            <a:avLst/>
          </a:prstGeom>
          <a:solidFill>
            <a:srgbClr val="F7F6F3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h7b99a9c04b46e204_1_754"/>
          <p:cNvSpPr txBox="1"/>
          <p:nvPr/>
        </p:nvSpPr>
        <p:spPr>
          <a:xfrm>
            <a:off x="1551334" y="2374514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Data Source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h7b99a9c04b46e204_1_754"/>
          <p:cNvSpPr txBox="1"/>
          <p:nvPr/>
        </p:nvSpPr>
        <p:spPr>
          <a:xfrm>
            <a:off x="1288426" y="3107131"/>
            <a:ext cx="119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T = 0 sec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h7b99a9c04b46e204_1_754"/>
          <p:cNvSpPr/>
          <p:nvPr/>
        </p:nvSpPr>
        <p:spPr>
          <a:xfrm>
            <a:off x="2361420" y="2936687"/>
            <a:ext cx="1122900" cy="900600"/>
          </a:xfrm>
          <a:prstGeom prst="can">
            <a:avLst>
              <a:gd fmla="val 25000" name="adj"/>
            </a:avLst>
          </a:prstGeom>
          <a:solidFill>
            <a:srgbClr val="FFFFFF"/>
          </a:solidFill>
          <a:ln cap="flat" cmpd="sng" w="15875">
            <a:solidFill>
              <a:srgbClr val="1B2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h7b99a9c04b46e204_1_754"/>
          <p:cNvSpPr/>
          <p:nvPr/>
        </p:nvSpPr>
        <p:spPr>
          <a:xfrm>
            <a:off x="2644957" y="3214665"/>
            <a:ext cx="144600" cy="144600"/>
          </a:xfrm>
          <a:prstGeom prst="rect">
            <a:avLst/>
          </a:prstGeom>
          <a:solidFill>
            <a:srgbClr val="F4654A"/>
          </a:solidFill>
          <a:ln cap="flat" cmpd="sng" w="127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h7b99a9c04b46e204_1_754"/>
          <p:cNvSpPr/>
          <p:nvPr/>
        </p:nvSpPr>
        <p:spPr>
          <a:xfrm>
            <a:off x="2850660" y="3214665"/>
            <a:ext cx="144600" cy="144600"/>
          </a:xfrm>
          <a:prstGeom prst="rect">
            <a:avLst/>
          </a:prstGeom>
          <a:solidFill>
            <a:srgbClr val="F4654A"/>
          </a:solidFill>
          <a:ln cap="flat" cmpd="sng" w="127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h7b99a9c04b46e204_1_754"/>
          <p:cNvSpPr/>
          <p:nvPr/>
        </p:nvSpPr>
        <p:spPr>
          <a:xfrm>
            <a:off x="3056364" y="3214665"/>
            <a:ext cx="144600" cy="144600"/>
          </a:xfrm>
          <a:prstGeom prst="rect">
            <a:avLst/>
          </a:prstGeom>
          <a:solidFill>
            <a:srgbClr val="F4654A"/>
          </a:solidFill>
          <a:ln cap="flat" cmpd="sng" w="12700">
            <a:solidFill>
              <a:srgbClr val="F465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h7b99a9c04b46e204_1_754"/>
          <p:cNvSpPr/>
          <p:nvPr/>
        </p:nvSpPr>
        <p:spPr>
          <a:xfrm>
            <a:off x="3923654" y="3203546"/>
            <a:ext cx="739500" cy="35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654A"/>
          </a:solidFill>
          <a:ln cap="flat" cmpd="sng" w="9525">
            <a:solidFill>
              <a:srgbClr val="D95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 icon" id="1217" name="Google Shape;1217;h7b99a9c04b46e204_1_7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6611" y="3103474"/>
            <a:ext cx="555955" cy="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h7b99a9c04b46e204_1_754"/>
          <p:cNvSpPr txBox="1"/>
          <p:nvPr/>
        </p:nvSpPr>
        <p:spPr>
          <a:xfrm>
            <a:off x="1288426" y="4196803"/>
            <a:ext cx="119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T = 5 sec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h7b99a9c04b46e204_1_754"/>
          <p:cNvSpPr/>
          <p:nvPr/>
        </p:nvSpPr>
        <p:spPr>
          <a:xfrm>
            <a:off x="2361420" y="4026359"/>
            <a:ext cx="1122900" cy="900600"/>
          </a:xfrm>
          <a:prstGeom prst="can">
            <a:avLst>
              <a:gd fmla="val 25000" name="adj"/>
            </a:avLst>
          </a:prstGeom>
          <a:solidFill>
            <a:srgbClr val="FFFFFF"/>
          </a:solidFill>
          <a:ln cap="flat" cmpd="sng" w="15875">
            <a:solidFill>
              <a:srgbClr val="1B2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h7b99a9c04b46e204_1_754"/>
          <p:cNvSpPr/>
          <p:nvPr/>
        </p:nvSpPr>
        <p:spPr>
          <a:xfrm>
            <a:off x="2644957" y="4510040"/>
            <a:ext cx="144600" cy="144600"/>
          </a:xfrm>
          <a:prstGeom prst="rect">
            <a:avLst/>
          </a:prstGeom>
          <a:solidFill>
            <a:srgbClr val="6B8794"/>
          </a:solidFill>
          <a:ln cap="flat" cmpd="sng" w="12700">
            <a:solidFill>
              <a:srgbClr val="6B87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h7b99a9c04b46e204_1_754"/>
          <p:cNvSpPr/>
          <p:nvPr/>
        </p:nvSpPr>
        <p:spPr>
          <a:xfrm>
            <a:off x="2850660" y="4510040"/>
            <a:ext cx="144600" cy="144600"/>
          </a:xfrm>
          <a:prstGeom prst="rect">
            <a:avLst/>
          </a:prstGeom>
          <a:solidFill>
            <a:srgbClr val="6B8794"/>
          </a:solidFill>
          <a:ln cap="flat" cmpd="sng" w="12700">
            <a:solidFill>
              <a:srgbClr val="6B87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h7b99a9c04b46e204_1_754"/>
          <p:cNvSpPr/>
          <p:nvPr/>
        </p:nvSpPr>
        <p:spPr>
          <a:xfrm>
            <a:off x="3056364" y="4510040"/>
            <a:ext cx="144600" cy="144600"/>
          </a:xfrm>
          <a:prstGeom prst="rect">
            <a:avLst/>
          </a:prstGeom>
          <a:solidFill>
            <a:srgbClr val="6B8794"/>
          </a:solidFill>
          <a:ln cap="flat" cmpd="sng" w="12700">
            <a:solidFill>
              <a:srgbClr val="6B87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h7b99a9c04b46e204_1_754"/>
          <p:cNvSpPr/>
          <p:nvPr/>
        </p:nvSpPr>
        <p:spPr>
          <a:xfrm>
            <a:off x="3923654" y="4293218"/>
            <a:ext cx="739500" cy="35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654A"/>
          </a:solidFill>
          <a:ln cap="flat" cmpd="sng" w="9525">
            <a:solidFill>
              <a:srgbClr val="D95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 icon" id="1224" name="Google Shape;1224;h7b99a9c04b46e204_1_7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6611" y="4193146"/>
            <a:ext cx="555955" cy="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h7b99a9c04b46e204_1_754"/>
          <p:cNvSpPr txBox="1"/>
          <p:nvPr/>
        </p:nvSpPr>
        <p:spPr>
          <a:xfrm>
            <a:off x="1288426" y="5292035"/>
            <a:ext cx="119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T = 10 sec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h7b99a9c04b46e204_1_754"/>
          <p:cNvSpPr/>
          <p:nvPr/>
        </p:nvSpPr>
        <p:spPr>
          <a:xfrm>
            <a:off x="2361420" y="5116031"/>
            <a:ext cx="1122900" cy="900600"/>
          </a:xfrm>
          <a:prstGeom prst="can">
            <a:avLst>
              <a:gd fmla="val 25000" name="adj"/>
            </a:avLst>
          </a:prstGeom>
          <a:solidFill>
            <a:srgbClr val="FFFFFF"/>
          </a:solidFill>
          <a:ln cap="flat" cmpd="sng" w="15875">
            <a:solidFill>
              <a:srgbClr val="1B2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h7b99a9c04b46e204_1_754"/>
          <p:cNvSpPr/>
          <p:nvPr/>
        </p:nvSpPr>
        <p:spPr>
          <a:xfrm>
            <a:off x="2644957" y="5799856"/>
            <a:ext cx="144600" cy="1446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h7b99a9c04b46e204_1_754"/>
          <p:cNvSpPr/>
          <p:nvPr/>
        </p:nvSpPr>
        <p:spPr>
          <a:xfrm>
            <a:off x="2850660" y="5799856"/>
            <a:ext cx="144600" cy="1446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h7b99a9c04b46e204_1_754"/>
          <p:cNvSpPr/>
          <p:nvPr/>
        </p:nvSpPr>
        <p:spPr>
          <a:xfrm>
            <a:off x="3056364" y="5799856"/>
            <a:ext cx="144600" cy="1446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h7b99a9c04b46e204_1_754"/>
          <p:cNvSpPr/>
          <p:nvPr/>
        </p:nvSpPr>
        <p:spPr>
          <a:xfrm>
            <a:off x="3923654" y="5388449"/>
            <a:ext cx="739500" cy="35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654A"/>
          </a:solidFill>
          <a:ln cap="flat" cmpd="sng" w="9525">
            <a:solidFill>
              <a:srgbClr val="D95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 icon" id="1231" name="Google Shape;1231;h7b99a9c04b46e204_1_7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6611" y="5288378"/>
            <a:ext cx="555955" cy="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232" name="Google Shape;1232;h7b99a9c04b46e204_1_754"/>
          <p:cNvSpPr txBox="1"/>
          <p:nvPr/>
        </p:nvSpPr>
        <p:spPr>
          <a:xfrm>
            <a:off x="6431012" y="2019361"/>
            <a:ext cx="4725600" cy="16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1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Continuously load data</a:t>
            </a: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 rows or batches of data rows as they are generated, so you can query them as they </a:t>
            </a:r>
            <a:r>
              <a:rPr b="1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arrive in near real-time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1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Micro-batch</a:t>
            </a: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 processes small batches at very </a:t>
            </a:r>
            <a:r>
              <a:rPr b="1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short, frequent intervals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h7b99a9c04b46e204_1_754"/>
          <p:cNvSpPr/>
          <p:nvPr/>
        </p:nvSpPr>
        <p:spPr>
          <a:xfrm>
            <a:off x="6219749" y="3781739"/>
            <a:ext cx="4959000" cy="1890300"/>
          </a:xfrm>
          <a:prstGeom prst="roundRect">
            <a:avLst>
              <a:gd fmla="val 5805" name="adj"/>
            </a:avLst>
          </a:prstGeom>
          <a:solidFill>
            <a:srgbClr val="F7E4DE"/>
          </a:solidFill>
          <a:ln cap="flat" cmpd="sng" w="12700">
            <a:solidFill>
              <a:srgbClr val="F7E4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h7b99a9c04b46e204_1_754"/>
          <p:cNvSpPr/>
          <p:nvPr/>
        </p:nvSpPr>
        <p:spPr>
          <a:xfrm>
            <a:off x="6219749" y="3854891"/>
            <a:ext cx="44400" cy="1743900"/>
          </a:xfrm>
          <a:prstGeom prst="rect">
            <a:avLst/>
          </a:prstGeom>
          <a:solidFill>
            <a:srgbClr val="EF4E37"/>
          </a:solidFill>
          <a:ln cap="flat" cmpd="sng" w="12700">
            <a:solidFill>
              <a:srgbClr val="EF4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h7b99a9c04b46e204_1_754"/>
          <p:cNvSpPr txBox="1"/>
          <p:nvPr/>
        </p:nvSpPr>
        <p:spPr>
          <a:xfrm>
            <a:off x="6397654" y="3904049"/>
            <a:ext cx="4447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Common techniques include: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h7b99a9c04b46e204_1_754"/>
          <p:cNvSpPr txBox="1"/>
          <p:nvPr/>
        </p:nvSpPr>
        <p:spPr>
          <a:xfrm>
            <a:off x="6397654" y="4309896"/>
            <a:ext cx="4625400" cy="1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1.  </a:t>
            </a:r>
            <a:r>
              <a:rPr b="0" i="0" lang="en-US" sz="1400" u="none" cap="none" strike="noStrike">
                <a:solidFill>
                  <a:srgbClr val="1B2A33"/>
                </a:solidFill>
                <a:highlight>
                  <a:srgbClr val="ECECEC"/>
                </a:highlight>
                <a:latin typeface="Courier New"/>
                <a:ea typeface="Courier New"/>
                <a:cs typeface="Courier New"/>
                <a:sym typeface="Courier New"/>
              </a:rPr>
              <a:t>spark.readStream</a:t>
            </a: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 (Auto Loader with continuous trigger)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2.  Declarative Pipelines (trigger mode continuous)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h7b99a9c04b46e204_1_857"/>
          <p:cNvSpPr/>
          <p:nvPr/>
        </p:nvSpPr>
        <p:spPr>
          <a:xfrm>
            <a:off x="502920" y="1399672"/>
            <a:ext cx="2897100" cy="2918100"/>
          </a:xfrm>
          <a:prstGeom prst="roundRect">
            <a:avLst>
              <a:gd fmla="val 6313" name="adj"/>
            </a:avLst>
          </a:prstGeom>
          <a:solidFill>
            <a:srgbClr val="F7F6F3"/>
          </a:solidFill>
          <a:ln cap="flat" cmpd="sng" w="9525">
            <a:solidFill>
              <a:srgbClr val="F0EE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h7b99a9c04b46e204_1_857"/>
          <p:cNvSpPr txBox="1"/>
          <p:nvPr/>
        </p:nvSpPr>
        <p:spPr>
          <a:xfrm>
            <a:off x="502920" y="1821576"/>
            <a:ext cx="28971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Cloud Storage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h7b99a9c04b46e204_1_857"/>
          <p:cNvSpPr txBox="1"/>
          <p:nvPr/>
        </p:nvSpPr>
        <p:spPr>
          <a:xfrm>
            <a:off x="784189" y="2384115"/>
            <a:ext cx="2390700" cy="16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 CSV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 JSON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 Parquet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•   etc.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h7b99a9c04b46e204_1_857"/>
          <p:cNvSpPr txBox="1"/>
          <p:nvPr/>
        </p:nvSpPr>
        <p:spPr>
          <a:xfrm>
            <a:off x="3526539" y="2521165"/>
            <a:ext cx="604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8896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6F8896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h7b99a9c04b46e204_1_857"/>
          <p:cNvSpPr txBox="1"/>
          <p:nvPr/>
        </p:nvSpPr>
        <p:spPr>
          <a:xfrm>
            <a:off x="8167485" y="2521165"/>
            <a:ext cx="604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8896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6F8896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h7b99a9c04b46e204_1_857"/>
          <p:cNvSpPr/>
          <p:nvPr/>
        </p:nvSpPr>
        <p:spPr>
          <a:xfrm>
            <a:off x="4159423" y="1202783"/>
            <a:ext cx="3881400" cy="3304800"/>
          </a:xfrm>
          <a:prstGeom prst="roundRect">
            <a:avLst>
              <a:gd fmla="val 5534" name="adj"/>
            </a:avLst>
          </a:prstGeom>
          <a:solidFill>
            <a:srgbClr val="5B97DB"/>
          </a:solidFill>
          <a:ln cap="flat" cmpd="sng" w="12700">
            <a:solidFill>
              <a:srgbClr val="5B97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h7b99a9c04b46e204_1_857"/>
          <p:cNvSpPr txBox="1"/>
          <p:nvPr/>
        </p:nvSpPr>
        <p:spPr>
          <a:xfrm>
            <a:off x="4159423" y="1469989"/>
            <a:ext cx="388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Ingestion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h7b99a9c04b46e204_1_857"/>
          <p:cNvSpPr/>
          <p:nvPr/>
        </p:nvSpPr>
        <p:spPr>
          <a:xfrm>
            <a:off x="4412565" y="2095814"/>
            <a:ext cx="3375300" cy="646800"/>
          </a:xfrm>
          <a:prstGeom prst="roundRect">
            <a:avLst>
              <a:gd fmla="val 1413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h7b99a9c04b46e204_1_857"/>
          <p:cNvSpPr txBox="1"/>
          <p:nvPr/>
        </p:nvSpPr>
        <p:spPr>
          <a:xfrm>
            <a:off x="4412565" y="2095814"/>
            <a:ext cx="33753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506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B5060"/>
                </a:solidFill>
                <a:latin typeface="Arial"/>
                <a:ea typeface="Arial"/>
                <a:cs typeface="Arial"/>
                <a:sym typeface="Arial"/>
              </a:rPr>
              <a:t>CREATE TABLE AS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h7b99a9c04b46e204_1_857"/>
          <p:cNvSpPr/>
          <p:nvPr/>
        </p:nvSpPr>
        <p:spPr>
          <a:xfrm>
            <a:off x="4412565" y="2855241"/>
            <a:ext cx="3375300" cy="639900"/>
          </a:xfrm>
          <a:prstGeom prst="roundRect">
            <a:avLst>
              <a:gd fmla="val 1429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h7b99a9c04b46e204_1_857"/>
          <p:cNvSpPr txBox="1"/>
          <p:nvPr/>
        </p:nvSpPr>
        <p:spPr>
          <a:xfrm>
            <a:off x="4412565" y="2855241"/>
            <a:ext cx="33753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506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B5060"/>
                </a:solidFill>
                <a:latin typeface="Arial"/>
                <a:ea typeface="Arial"/>
                <a:cs typeface="Arial"/>
                <a:sym typeface="Arial"/>
              </a:rPr>
              <a:t>COPY INTO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h7b99a9c04b46e204_1_857"/>
          <p:cNvSpPr/>
          <p:nvPr/>
        </p:nvSpPr>
        <p:spPr>
          <a:xfrm>
            <a:off x="4412565" y="3607637"/>
            <a:ext cx="3375300" cy="646800"/>
          </a:xfrm>
          <a:prstGeom prst="roundRect">
            <a:avLst>
              <a:gd fmla="val 1413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h7b99a9c04b46e204_1_857"/>
          <p:cNvSpPr txBox="1"/>
          <p:nvPr/>
        </p:nvSpPr>
        <p:spPr>
          <a:xfrm>
            <a:off x="4412565" y="3607637"/>
            <a:ext cx="33753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506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B5060"/>
                </a:solidFill>
                <a:latin typeface="Arial"/>
                <a:ea typeface="Arial"/>
                <a:cs typeface="Arial"/>
                <a:sym typeface="Arial"/>
              </a:rPr>
              <a:t>AUTO LOADER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h7b99a9c04b46e204_1_857"/>
          <p:cNvSpPr/>
          <p:nvPr/>
        </p:nvSpPr>
        <p:spPr>
          <a:xfrm>
            <a:off x="8793337" y="1202783"/>
            <a:ext cx="2904000" cy="3304800"/>
          </a:xfrm>
          <a:prstGeom prst="roundRect">
            <a:avLst>
              <a:gd fmla="val 6297" name="adj"/>
            </a:avLst>
          </a:prstGeom>
          <a:solidFill>
            <a:srgbClr val="F7F6F3"/>
          </a:solidFill>
          <a:ln cap="flat" cmpd="sng" w="9525">
            <a:solidFill>
              <a:srgbClr val="F0EE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h7b99a9c04b46e204_1_857"/>
          <p:cNvSpPr txBox="1"/>
          <p:nvPr/>
        </p:nvSpPr>
        <p:spPr>
          <a:xfrm>
            <a:off x="8793337" y="1610624"/>
            <a:ext cx="2904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Delta Table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le icon" id="1257" name="Google Shape;1257;h7b99a9c04b46e204_1_8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7749" y="2187227"/>
            <a:ext cx="1828251" cy="182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h7b99a9c04b46e204_1_857"/>
          <p:cNvSpPr/>
          <p:nvPr/>
        </p:nvSpPr>
        <p:spPr>
          <a:xfrm>
            <a:off x="502920" y="4767874"/>
            <a:ext cx="11250900" cy="801600"/>
          </a:xfrm>
          <a:prstGeom prst="roundRect">
            <a:avLst>
              <a:gd fmla="val 13688" name="adj"/>
            </a:avLst>
          </a:prstGeom>
          <a:solidFill>
            <a:srgbClr val="F7F6F3"/>
          </a:solidFill>
          <a:ln cap="flat" cmpd="sng" w="25400">
            <a:solidFill>
              <a:srgbClr val="5B97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h7b99a9c04b46e204_1_857"/>
          <p:cNvSpPr txBox="1"/>
          <p:nvPr/>
        </p:nvSpPr>
        <p:spPr>
          <a:xfrm>
            <a:off x="502920" y="4767874"/>
            <a:ext cx="11250900" cy="8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Convert </a:t>
            </a:r>
            <a:r>
              <a:rPr b="1" i="0" lang="en-US" sz="22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raw file formats</a:t>
            </a:r>
            <a:r>
              <a:rPr b="0" i="0" lang="en-US" sz="22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i="0" lang="en-US" sz="22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Delta tables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h7b99a9c04b46e204_1_879"/>
          <p:cNvSpPr/>
          <p:nvPr/>
        </p:nvSpPr>
        <p:spPr>
          <a:xfrm>
            <a:off x="502920" y="1280160"/>
            <a:ext cx="11160000" cy="4213500"/>
          </a:xfrm>
          <a:prstGeom prst="roundRect">
            <a:avLst>
              <a:gd fmla="val 4340" name="adj"/>
            </a:avLst>
          </a:prstGeom>
          <a:solidFill>
            <a:srgbClr val="F7F6F3"/>
          </a:solidFill>
          <a:ln cap="flat" cmpd="sng" w="9525">
            <a:solidFill>
              <a:srgbClr val="EFE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h7b99a9c04b46e204_1_879"/>
          <p:cNvSpPr/>
          <p:nvPr/>
        </p:nvSpPr>
        <p:spPr>
          <a:xfrm>
            <a:off x="502920" y="1280160"/>
            <a:ext cx="11160000" cy="81900"/>
          </a:xfrm>
          <a:prstGeom prst="roundRect">
            <a:avLst>
              <a:gd fmla="val 55804" name="adj"/>
            </a:avLst>
          </a:prstGeom>
          <a:solidFill>
            <a:srgbClr val="3F74B5"/>
          </a:solidFill>
          <a:ln cap="flat" cmpd="sng" w="12700">
            <a:solidFill>
              <a:srgbClr val="3F74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oud icon" id="1267" name="Google Shape;1267;h7b99a9c04b46e204_1_8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7820" y="1616659"/>
            <a:ext cx="497434" cy="497434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h7b99a9c04b46e204_1_879"/>
          <p:cNvSpPr txBox="1"/>
          <p:nvPr/>
        </p:nvSpPr>
        <p:spPr>
          <a:xfrm>
            <a:off x="4055181" y="1514246"/>
            <a:ext cx="46818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Method 1 - Batch -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B1B1B"/>
                </a:solidFill>
                <a:highlight>
                  <a:srgbClr val="ECECEC"/>
                </a:highlight>
                <a:latin typeface="Courier New"/>
                <a:ea typeface="Courier New"/>
                <a:cs typeface="Courier New"/>
                <a:sym typeface="Courier New"/>
              </a:rPr>
              <a:t>CREATE TABLE AS (CTAS)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h7b99a9c04b46e204_1_879"/>
          <p:cNvSpPr/>
          <p:nvPr/>
        </p:nvSpPr>
        <p:spPr>
          <a:xfrm>
            <a:off x="719450" y="2509114"/>
            <a:ext cx="4945200" cy="2147700"/>
          </a:xfrm>
          <a:prstGeom prst="roundRect">
            <a:avLst>
              <a:gd fmla="val 2554" name="adj"/>
            </a:avLst>
          </a:prstGeom>
          <a:solidFill>
            <a:srgbClr val="F8F8F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h7b99a9c04b46e204_1_879"/>
          <p:cNvSpPr txBox="1"/>
          <p:nvPr/>
        </p:nvSpPr>
        <p:spPr>
          <a:xfrm>
            <a:off x="836590" y="2836890"/>
            <a:ext cx="4710900" cy="17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E75B6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</a:t>
            </a: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new_table </a:t>
            </a:r>
            <a:r>
              <a:rPr b="0" i="0" lang="en-US" sz="1200" u="none" cap="none" strike="noStrike">
                <a:solidFill>
                  <a:srgbClr val="2E75B6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-US" sz="1200" u="none" cap="none" strike="noStrike">
                <a:solidFill>
                  <a:srgbClr val="2E75B6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200" u="none" cap="none" strike="noStrike">
                <a:solidFill>
                  <a:srgbClr val="8B5E34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-US" sz="1200" u="none" cap="none" strike="noStrike">
                <a:solidFill>
                  <a:srgbClr val="2E75B6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read_files</a:t>
            </a:r>
            <a:r>
              <a:rPr b="0" i="0" lang="en-US" sz="1200" u="none" cap="none" strike="noStrike">
                <a:solidFill>
                  <a:srgbClr val="8B5E3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US" sz="1200" u="none" cap="none" strike="noStrike">
                <a:solidFill>
                  <a:srgbClr val="8B5E34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path_to_file(s)</a:t>
            </a:r>
            <a:r>
              <a:rPr b="0" i="0" lang="en-US" sz="1200" u="none" cap="none" strike="noStrike">
                <a:solidFill>
                  <a:srgbClr val="8B5E34"/>
                </a:solidFill>
                <a:latin typeface="Courier New"/>
                <a:ea typeface="Courier New"/>
                <a:cs typeface="Courier New"/>
                <a:sym typeface="Courier New"/>
              </a:rPr>
              <a:t>&gt;,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format </a:t>
            </a:r>
            <a:r>
              <a:rPr b="0" i="0" lang="en-US" sz="1200" u="none" cap="none" strike="noStrike">
                <a:solidFill>
                  <a:srgbClr val="8B5E34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6A9A1F"/>
                </a:solidFill>
                <a:latin typeface="Courier New"/>
                <a:ea typeface="Courier New"/>
                <a:cs typeface="Courier New"/>
                <a:sym typeface="Courier New"/>
              </a:rPr>
              <a:t>'&lt;file_type&gt;'</a:t>
            </a:r>
            <a:r>
              <a:rPr b="0" i="0" lang="en-US" sz="1200" u="none" cap="none" strike="noStrike">
                <a:solidFill>
                  <a:srgbClr val="8B5E3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US" sz="1200" u="none" cap="none" strike="noStrike">
                <a:solidFill>
                  <a:srgbClr val="8B5E34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other_format_specific_options</a:t>
            </a:r>
            <a:r>
              <a:rPr b="0" i="0" lang="en-US" sz="1200" u="none" cap="none" strike="noStrike">
                <a:solidFill>
                  <a:srgbClr val="8B5E34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-US" sz="1200" u="none" cap="none" strike="noStrike">
                <a:solidFill>
                  <a:srgbClr val="8B5E3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h7b99a9c04b46e204_1_879"/>
          <p:cNvSpPr/>
          <p:nvPr/>
        </p:nvSpPr>
        <p:spPr>
          <a:xfrm>
            <a:off x="5020788" y="2596896"/>
            <a:ext cx="561900" cy="240000"/>
          </a:xfrm>
          <a:prstGeom prst="roundRect">
            <a:avLst>
              <a:gd fmla="val 19055" name="adj"/>
            </a:avLst>
          </a:prstGeom>
          <a:solidFill>
            <a:srgbClr val="DCDCDC"/>
          </a:solidFill>
          <a:ln cap="flat" cmpd="sng" w="9525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h7b99a9c04b46e204_1_879"/>
          <p:cNvSpPr txBox="1"/>
          <p:nvPr/>
        </p:nvSpPr>
        <p:spPr>
          <a:xfrm>
            <a:off x="5020788" y="2596896"/>
            <a:ext cx="56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Copy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h7b99a9c04b46e204_1_879"/>
          <p:cNvSpPr/>
          <p:nvPr/>
        </p:nvSpPr>
        <p:spPr>
          <a:xfrm>
            <a:off x="6179515" y="2333549"/>
            <a:ext cx="5266800" cy="883800"/>
          </a:xfrm>
          <a:prstGeom prst="roundRect">
            <a:avLst>
              <a:gd fmla="val 10348" name="adj"/>
            </a:avLst>
          </a:prstGeom>
          <a:solidFill>
            <a:srgbClr val="E7EAEE"/>
          </a:solidFill>
          <a:ln cap="flat" cmpd="sng" w="12700">
            <a:solidFill>
              <a:srgbClr val="E7EA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h7b99a9c04b46e204_1_879"/>
          <p:cNvSpPr/>
          <p:nvPr/>
        </p:nvSpPr>
        <p:spPr>
          <a:xfrm>
            <a:off x="6179515" y="2397557"/>
            <a:ext cx="46800" cy="755700"/>
          </a:xfrm>
          <a:prstGeom prst="rect">
            <a:avLst/>
          </a:prstGeom>
          <a:solidFill>
            <a:srgbClr val="3F74B5"/>
          </a:solidFill>
          <a:ln cap="flat" cmpd="sng" w="12700">
            <a:solidFill>
              <a:srgbClr val="3F74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h7b99a9c04b46e204_1_879"/>
          <p:cNvSpPr txBox="1"/>
          <p:nvPr/>
        </p:nvSpPr>
        <p:spPr>
          <a:xfrm>
            <a:off x="6366784" y="2333549"/>
            <a:ext cx="49158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B2A33"/>
                </a:solidFill>
                <a:highlight>
                  <a:srgbClr val="ECECEC"/>
                </a:highlight>
                <a:latin typeface="Courier New"/>
                <a:ea typeface="Courier New"/>
                <a:cs typeface="Courier New"/>
                <a:sym typeface="Courier New"/>
              </a:rPr>
              <a:t>CREATE TABLE AS (CTAS)</a:t>
            </a:r>
            <a:r>
              <a:rPr b="0" i="0" lang="en-US" sz="15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 creates a Delta table </a:t>
            </a:r>
            <a:r>
              <a:rPr b="1" i="0" lang="en-US" sz="15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by default</a:t>
            </a:r>
            <a:r>
              <a:rPr b="0" i="0" lang="en-US" sz="15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 from files in cloud object storage.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h7b99a9c04b46e204_1_879"/>
          <p:cNvSpPr/>
          <p:nvPr/>
        </p:nvSpPr>
        <p:spPr>
          <a:xfrm>
            <a:off x="6179515" y="3533242"/>
            <a:ext cx="5266800" cy="883800"/>
          </a:xfrm>
          <a:prstGeom prst="roundRect">
            <a:avLst>
              <a:gd fmla="val 10348" name="adj"/>
            </a:avLst>
          </a:prstGeom>
          <a:solidFill>
            <a:srgbClr val="E7EAEE"/>
          </a:solidFill>
          <a:ln cap="flat" cmpd="sng" w="12700">
            <a:solidFill>
              <a:srgbClr val="E7EA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h7b99a9c04b46e204_1_879"/>
          <p:cNvSpPr/>
          <p:nvPr/>
        </p:nvSpPr>
        <p:spPr>
          <a:xfrm>
            <a:off x="6179515" y="3597250"/>
            <a:ext cx="46800" cy="755700"/>
          </a:xfrm>
          <a:prstGeom prst="rect">
            <a:avLst/>
          </a:prstGeom>
          <a:solidFill>
            <a:srgbClr val="3F74B5"/>
          </a:solidFill>
          <a:ln cap="flat" cmpd="sng" w="12700">
            <a:solidFill>
              <a:srgbClr val="3F74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h7b99a9c04b46e204_1_879"/>
          <p:cNvSpPr txBox="1"/>
          <p:nvPr/>
        </p:nvSpPr>
        <p:spPr>
          <a:xfrm>
            <a:off x="6366784" y="3533242"/>
            <a:ext cx="49158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1500" u="none" cap="none" strike="noStrike">
                <a:solidFill>
                  <a:srgbClr val="1B2A33"/>
                </a:solidFill>
                <a:highlight>
                  <a:srgbClr val="ECECEC"/>
                </a:highlight>
                <a:latin typeface="Courier New"/>
                <a:ea typeface="Courier New"/>
                <a:cs typeface="Courier New"/>
                <a:sym typeface="Courier New"/>
              </a:rPr>
              <a:t>read_files()</a:t>
            </a:r>
            <a:r>
              <a:rPr b="0" i="0" lang="en-US" sz="15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 function reads files under a provided location and returns the data in </a:t>
            </a:r>
            <a:r>
              <a:rPr b="1" i="0" lang="en-US" sz="15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tabular form.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7b99a9c04b46e204_1_897"/>
          <p:cNvSpPr/>
          <p:nvPr/>
        </p:nvSpPr>
        <p:spPr>
          <a:xfrm>
            <a:off x="502920" y="1280160"/>
            <a:ext cx="11151900" cy="4209300"/>
          </a:xfrm>
          <a:prstGeom prst="roundRect">
            <a:avLst>
              <a:gd fmla="val 4345" name="adj"/>
            </a:avLst>
          </a:prstGeom>
          <a:solidFill>
            <a:srgbClr val="F7F6F3"/>
          </a:solidFill>
          <a:ln cap="flat" cmpd="sng" w="9525">
            <a:solidFill>
              <a:srgbClr val="EFE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h7b99a9c04b46e204_1_897"/>
          <p:cNvSpPr/>
          <p:nvPr/>
        </p:nvSpPr>
        <p:spPr>
          <a:xfrm>
            <a:off x="502920" y="1280160"/>
            <a:ext cx="11151900" cy="80400"/>
          </a:xfrm>
          <a:prstGeom prst="roundRect">
            <a:avLst>
              <a:gd fmla="val 56870" name="adj"/>
            </a:avLst>
          </a:prstGeom>
          <a:solidFill>
            <a:srgbClr val="46A574"/>
          </a:solidFill>
          <a:ln cap="flat" cmpd="sng" w="12700">
            <a:solidFill>
              <a:srgbClr val="46A5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oud icon" id="1286" name="Google Shape;1286;h7b99a9c04b46e204_1_8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2236" y="1616092"/>
            <a:ext cx="488107" cy="488107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h7b99a9c04b46e204_1_897"/>
          <p:cNvSpPr txBox="1"/>
          <p:nvPr/>
        </p:nvSpPr>
        <p:spPr>
          <a:xfrm>
            <a:off x="4017288" y="1498372"/>
            <a:ext cx="47088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Method 2 - Incremental Batch -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B1B1B"/>
                </a:solidFill>
                <a:highlight>
                  <a:srgbClr val="ECECEC"/>
                </a:highlight>
                <a:latin typeface="Courier New"/>
                <a:ea typeface="Courier New"/>
                <a:cs typeface="Courier New"/>
                <a:sym typeface="Courier New"/>
              </a:rPr>
              <a:t>COPY INTO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h7b99a9c04b46e204_1_897"/>
          <p:cNvSpPr/>
          <p:nvPr/>
        </p:nvSpPr>
        <p:spPr>
          <a:xfrm>
            <a:off x="721132" y="2503298"/>
            <a:ext cx="4944300" cy="2147700"/>
          </a:xfrm>
          <a:prstGeom prst="roundRect">
            <a:avLst>
              <a:gd fmla="val 2555" name="adj"/>
            </a:avLst>
          </a:prstGeom>
          <a:solidFill>
            <a:srgbClr val="F8F8F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h7b99a9c04b46e204_1_897"/>
          <p:cNvSpPr txBox="1"/>
          <p:nvPr/>
        </p:nvSpPr>
        <p:spPr>
          <a:xfrm>
            <a:off x="893405" y="2755589"/>
            <a:ext cx="4714500" cy="17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E75B6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</a:t>
            </a: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new_table;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    COPY </a:t>
            </a:r>
            <a:r>
              <a:rPr b="0" i="0" lang="en-US" sz="1200" u="none" cap="none" strike="noStrike">
                <a:solidFill>
                  <a:srgbClr val="2E75B6"/>
                </a:solidFill>
                <a:latin typeface="Courier New"/>
                <a:ea typeface="Courier New"/>
                <a:cs typeface="Courier New"/>
                <a:sym typeface="Courier New"/>
              </a:rPr>
              <a:t>INTO</a:t>
            </a: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new_table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1200" u="none" cap="none" strike="noStrike">
                <a:solidFill>
                  <a:srgbClr val="2E75B6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6A9A1F"/>
                </a:solidFill>
                <a:latin typeface="Courier New"/>
                <a:ea typeface="Courier New"/>
                <a:cs typeface="Courier New"/>
                <a:sym typeface="Courier New"/>
              </a:rPr>
              <a:t>'&lt;dir_path&gt;'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    FILEFORMAT = </a:t>
            </a:r>
            <a:r>
              <a:rPr b="0" i="0" lang="en-US" sz="1200" u="none" cap="none" strike="noStrike">
                <a:solidFill>
                  <a:srgbClr val="8B5E34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file_type</a:t>
            </a:r>
            <a:r>
              <a:rPr b="0" i="0" lang="en-US" sz="1200" u="none" cap="none" strike="noStrike">
                <a:solidFill>
                  <a:srgbClr val="8B5E34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FORMAT_OPTIONS </a:t>
            </a:r>
            <a:r>
              <a:rPr b="0" i="0" lang="en-US" sz="1200" u="none" cap="none" strike="noStrike">
                <a:solidFill>
                  <a:srgbClr val="8B5E34"/>
                </a:solidFill>
                <a:latin typeface="Courier New"/>
                <a:ea typeface="Courier New"/>
                <a:cs typeface="Courier New"/>
                <a:sym typeface="Courier New"/>
              </a:rPr>
              <a:t>(&lt;</a:t>
            </a: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r>
              <a:rPr b="0" i="0" lang="en-US" sz="1200" u="none" cap="none" strike="noStrike">
                <a:solidFill>
                  <a:srgbClr val="8B5E34"/>
                </a:solidFill>
                <a:latin typeface="Courier New"/>
                <a:ea typeface="Courier New"/>
                <a:cs typeface="Courier New"/>
                <a:sym typeface="Courier New"/>
              </a:rPr>
              <a:t>&gt;)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    COPY_OPTIONS </a:t>
            </a:r>
            <a:r>
              <a:rPr b="0" i="0" lang="en-US" sz="1200" u="none" cap="none" strike="noStrike">
                <a:solidFill>
                  <a:srgbClr val="8B5E34"/>
                </a:solidFill>
                <a:latin typeface="Courier New"/>
                <a:ea typeface="Courier New"/>
                <a:cs typeface="Courier New"/>
                <a:sym typeface="Courier New"/>
              </a:rPr>
              <a:t>(&lt;</a:t>
            </a:r>
            <a:r>
              <a:rPr b="0" i="0" lang="en-US" sz="12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r>
              <a:rPr b="0" i="0" lang="en-US" sz="1200" u="none" cap="none" strike="noStrike">
                <a:solidFill>
                  <a:srgbClr val="8B5E34"/>
                </a:solidFill>
                <a:latin typeface="Courier New"/>
                <a:ea typeface="Courier New"/>
                <a:cs typeface="Courier New"/>
                <a:sym typeface="Courier New"/>
              </a:rPr>
              <a:t>&gt;)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h7b99a9c04b46e204_1_897"/>
          <p:cNvSpPr/>
          <p:nvPr/>
        </p:nvSpPr>
        <p:spPr>
          <a:xfrm>
            <a:off x="5016472" y="2589434"/>
            <a:ext cx="551400" cy="235500"/>
          </a:xfrm>
          <a:prstGeom prst="roundRect">
            <a:avLst>
              <a:gd fmla="val 19419" name="adj"/>
            </a:avLst>
          </a:prstGeom>
          <a:solidFill>
            <a:srgbClr val="DCDCDC"/>
          </a:solidFill>
          <a:ln cap="flat" cmpd="sng" w="9525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h7b99a9c04b46e204_1_897"/>
          <p:cNvSpPr txBox="1"/>
          <p:nvPr/>
        </p:nvSpPr>
        <p:spPr>
          <a:xfrm>
            <a:off x="5016472" y="2589434"/>
            <a:ext cx="5514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Copy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h7b99a9c04b46e204_1_897"/>
          <p:cNvSpPr/>
          <p:nvPr/>
        </p:nvSpPr>
        <p:spPr>
          <a:xfrm>
            <a:off x="6176443" y="2331025"/>
            <a:ext cx="5265900" cy="1194300"/>
          </a:xfrm>
          <a:prstGeom prst="roundRect">
            <a:avLst>
              <a:gd fmla="val 7656" name="adj"/>
            </a:avLst>
          </a:prstGeom>
          <a:solidFill>
            <a:srgbClr val="E8EEE9"/>
          </a:solidFill>
          <a:ln cap="flat" cmpd="sng" w="12700">
            <a:solidFill>
              <a:srgbClr val="E8E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h7b99a9c04b46e204_1_897"/>
          <p:cNvSpPr/>
          <p:nvPr/>
        </p:nvSpPr>
        <p:spPr>
          <a:xfrm>
            <a:off x="6176443" y="2395033"/>
            <a:ext cx="45900" cy="1066500"/>
          </a:xfrm>
          <a:prstGeom prst="rect">
            <a:avLst/>
          </a:prstGeom>
          <a:solidFill>
            <a:srgbClr val="46A574"/>
          </a:solidFill>
          <a:ln cap="flat" cmpd="sng" w="12700">
            <a:solidFill>
              <a:srgbClr val="46A5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h7b99a9c04b46e204_1_897"/>
          <p:cNvSpPr txBox="1"/>
          <p:nvPr/>
        </p:nvSpPr>
        <p:spPr>
          <a:xfrm>
            <a:off x="6360201" y="2331025"/>
            <a:ext cx="49212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Use the </a:t>
            </a:r>
            <a:r>
              <a:rPr b="1" i="0" lang="en-US" sz="1500" u="none" cap="none" strike="noStrike">
                <a:solidFill>
                  <a:srgbClr val="1B2A33"/>
                </a:solidFill>
                <a:highlight>
                  <a:srgbClr val="ECECEC"/>
                </a:highlight>
                <a:latin typeface="Courier New"/>
                <a:ea typeface="Courier New"/>
                <a:cs typeface="Courier New"/>
                <a:sym typeface="Courier New"/>
              </a:rPr>
              <a:t>COPY INTO</a:t>
            </a:r>
            <a:r>
              <a:rPr b="0" i="0" lang="en-US" sz="15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 statement to copy files from cloud storage into the Delta table; this performs a bulk load from files in cloud object storage into the table.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h7b99a9c04b46e204_1_897"/>
          <p:cNvSpPr/>
          <p:nvPr/>
        </p:nvSpPr>
        <p:spPr>
          <a:xfrm>
            <a:off x="6176443" y="3841285"/>
            <a:ext cx="5265900" cy="1194300"/>
          </a:xfrm>
          <a:prstGeom prst="roundRect">
            <a:avLst>
              <a:gd fmla="val 7656" name="adj"/>
            </a:avLst>
          </a:prstGeom>
          <a:solidFill>
            <a:srgbClr val="E8EEE9"/>
          </a:solidFill>
          <a:ln cap="flat" cmpd="sng" w="12700">
            <a:solidFill>
              <a:srgbClr val="E8E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h7b99a9c04b46e204_1_897"/>
          <p:cNvSpPr/>
          <p:nvPr/>
        </p:nvSpPr>
        <p:spPr>
          <a:xfrm>
            <a:off x="6176443" y="3905293"/>
            <a:ext cx="45900" cy="1066500"/>
          </a:xfrm>
          <a:prstGeom prst="rect">
            <a:avLst/>
          </a:prstGeom>
          <a:solidFill>
            <a:srgbClr val="46A574"/>
          </a:solidFill>
          <a:ln cap="flat" cmpd="sng" w="12700">
            <a:solidFill>
              <a:srgbClr val="46A5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h7b99a9c04b46e204_1_897"/>
          <p:cNvSpPr txBox="1"/>
          <p:nvPr/>
        </p:nvSpPr>
        <p:spPr>
          <a:xfrm>
            <a:off x="6360201" y="3841285"/>
            <a:ext cx="49212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1500" u="none" cap="none" strike="noStrike">
                <a:solidFill>
                  <a:srgbClr val="1B2A33"/>
                </a:solidFill>
                <a:highlight>
                  <a:srgbClr val="ECECEC"/>
                </a:highlight>
                <a:latin typeface="Courier New"/>
                <a:ea typeface="Courier New"/>
                <a:cs typeface="Courier New"/>
                <a:sym typeface="Courier New"/>
              </a:rPr>
              <a:t>COPY INTO</a:t>
            </a:r>
            <a:r>
              <a:rPr b="0" i="0" lang="en-US" sz="1500" u="none" cap="none" strike="noStrike">
                <a:solidFill>
                  <a:srgbClr val="1B2A33"/>
                </a:solidFill>
                <a:latin typeface="Arial"/>
                <a:ea typeface="Arial"/>
                <a:cs typeface="Arial"/>
                <a:sym typeface="Arial"/>
              </a:rPr>
              <a:t> will skip any files that have already been loaded into the table, and only new files will be ingested.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h7b99a9c04b46e204_1_915"/>
          <p:cNvSpPr/>
          <p:nvPr/>
        </p:nvSpPr>
        <p:spPr>
          <a:xfrm>
            <a:off x="502920" y="914400"/>
            <a:ext cx="11154300" cy="4927800"/>
          </a:xfrm>
          <a:prstGeom prst="roundRect">
            <a:avLst>
              <a:gd fmla="val 3711" name="adj"/>
            </a:avLst>
          </a:prstGeom>
          <a:solidFill>
            <a:srgbClr val="F7F6F3"/>
          </a:solidFill>
          <a:ln cap="flat" cmpd="sng" w="9525">
            <a:solidFill>
              <a:srgbClr val="EFE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h7b99a9c04b46e204_1_915"/>
          <p:cNvSpPr/>
          <p:nvPr/>
        </p:nvSpPr>
        <p:spPr>
          <a:xfrm>
            <a:off x="502920" y="914400"/>
            <a:ext cx="11154300" cy="79800"/>
          </a:xfrm>
          <a:prstGeom prst="roundRect">
            <a:avLst>
              <a:gd fmla="val 57326" name="adj"/>
            </a:avLst>
          </a:prstGeom>
          <a:solidFill>
            <a:srgbClr val="E84C30"/>
          </a:solidFill>
          <a:ln cap="flat" cmpd="sng" w="12700">
            <a:solidFill>
              <a:srgbClr val="E84C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nSearch icon" id="1305" name="Google Shape;1305;h7b99a9c04b46e204_1_9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8182" y="1241961"/>
            <a:ext cx="484221" cy="48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h7b99a9c04b46e204_1_915"/>
          <p:cNvSpPr txBox="1"/>
          <p:nvPr/>
        </p:nvSpPr>
        <p:spPr>
          <a:xfrm>
            <a:off x="3596235" y="1113785"/>
            <a:ext cx="55827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Method 3 - Incremental Batch or Streaming -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B1B1B"/>
                </a:solidFill>
                <a:highlight>
                  <a:srgbClr val="ECECEC"/>
                </a:highlight>
                <a:latin typeface="Courier New"/>
                <a:ea typeface="Courier New"/>
                <a:cs typeface="Courier New"/>
                <a:sym typeface="Courier New"/>
              </a:rPr>
              <a:t>AUTO LOADER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h7b99a9c04b46e204_1_915"/>
          <p:cNvSpPr txBox="1"/>
          <p:nvPr/>
        </p:nvSpPr>
        <p:spPr>
          <a:xfrm>
            <a:off x="2399925" y="2082226"/>
            <a:ext cx="3885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Python Auto Loader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h7b99a9c04b46e204_1_915"/>
          <p:cNvSpPr txBox="1"/>
          <p:nvPr/>
        </p:nvSpPr>
        <p:spPr>
          <a:xfrm>
            <a:off x="6444591" y="2025259"/>
            <a:ext cx="33837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Auto Loader with SQL (Declarative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02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029"/>
                </a:solidFill>
                <a:latin typeface="Arial"/>
                <a:ea typeface="Arial"/>
                <a:cs typeface="Arial"/>
                <a:sym typeface="Arial"/>
              </a:rPr>
              <a:t>Pipelines)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h7b99a9c04b46e204_1_915"/>
          <p:cNvSpPr/>
          <p:nvPr/>
        </p:nvSpPr>
        <p:spPr>
          <a:xfrm>
            <a:off x="2399925" y="2355668"/>
            <a:ext cx="3885300" cy="3264300"/>
          </a:xfrm>
          <a:prstGeom prst="roundRect">
            <a:avLst>
              <a:gd fmla="val 1681" name="adj"/>
            </a:avLst>
          </a:prstGeom>
          <a:solidFill>
            <a:srgbClr val="F8F8F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h7b99a9c04b46e204_1_915"/>
          <p:cNvSpPr txBox="1"/>
          <p:nvPr/>
        </p:nvSpPr>
        <p:spPr>
          <a:xfrm>
            <a:off x="2570826" y="2446196"/>
            <a:ext cx="3657300" cy="30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(spark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.readStream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0" i="0" lang="en-US" sz="1100" u="none" cap="none" strike="noStrike">
                <a:solidFill>
                  <a:srgbClr val="4A90D9"/>
                </a:solidFill>
                <a:latin typeface="Courier New"/>
                <a:ea typeface="Courier New"/>
                <a:cs typeface="Courier New"/>
                <a:sym typeface="Courier New"/>
              </a:rPr>
              <a:t>format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"cloudFiles"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0" i="0" lang="en-US" sz="1100" u="none" cap="none" strike="noStrike">
                <a:solidFill>
                  <a:srgbClr val="4A90D9"/>
                </a:solidFill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"cloudFiles.format"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"json"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0" i="0" lang="en-US" sz="1100" u="none" cap="none" strike="noStrike">
                <a:solidFill>
                  <a:srgbClr val="4A90D9"/>
                </a:solidFill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"cloudFiles.schemaLocation"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9B6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100" u="none" cap="none" strike="noStrike">
                <a:solidFill>
                  <a:srgbClr val="1B1B1B"/>
                </a:solidFill>
                <a:highlight>
                  <a:srgbClr val="E8E8E8"/>
                </a:highlight>
                <a:latin typeface="Courier New"/>
                <a:ea typeface="Courier New"/>
                <a:cs typeface="Courier New"/>
                <a:sym typeface="Courier New"/>
              </a:rPr>
              <a:t>checkpoint_path</a:t>
            </a: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&gt;")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0" i="0" lang="en-US" sz="1100" u="none" cap="none" strike="noStrike">
                <a:solidFill>
                  <a:srgbClr val="4A90D9"/>
                </a:solidFill>
                <a:latin typeface="Courier New"/>
                <a:ea typeface="Courier New"/>
                <a:cs typeface="Courier New"/>
                <a:sym typeface="Courier New"/>
              </a:rPr>
              <a:t>load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"/Volumes/catalog/schema/files"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.writeStream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0" i="0" lang="en-US" sz="1100" u="none" cap="none" strike="noStrike">
                <a:solidFill>
                  <a:srgbClr val="4A90D9"/>
                </a:solidFill>
                <a:latin typeface="Courier New"/>
                <a:ea typeface="Courier New"/>
                <a:cs typeface="Courier New"/>
                <a:sym typeface="Courier New"/>
              </a:rPr>
              <a:t>option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"checkpointLocation"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9B6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100" u="none" cap="none" strike="noStrike">
                <a:solidFill>
                  <a:srgbClr val="1B1B1B"/>
                </a:solidFill>
                <a:highlight>
                  <a:srgbClr val="E8E8E8"/>
                </a:highlight>
                <a:latin typeface="Courier New"/>
                <a:ea typeface="Courier New"/>
                <a:cs typeface="Courier New"/>
                <a:sym typeface="Courier New"/>
              </a:rPr>
              <a:t>checkpoint_path</a:t>
            </a: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&gt;")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0" i="0" lang="en-US" sz="1100" u="none" cap="none" strike="noStrike">
                <a:solidFill>
                  <a:srgbClr val="4A90D9"/>
                </a:solidFill>
                <a:latin typeface="Courier New"/>
                <a:ea typeface="Courier New"/>
                <a:cs typeface="Courier New"/>
                <a:sym typeface="Courier New"/>
              </a:rPr>
              <a:t>trigger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(processingTime=</a:t>
            </a: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"5 seconds"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0" i="0" lang="en-US" sz="1100" u="none" cap="none" strike="noStrike">
                <a:solidFill>
                  <a:srgbClr val="4A90D9"/>
                </a:solidFill>
                <a:latin typeface="Courier New"/>
                <a:ea typeface="Courier New"/>
                <a:cs typeface="Courier New"/>
                <a:sym typeface="Courier New"/>
              </a:rPr>
              <a:t>toTable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"catalog.database.table"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h7b99a9c04b46e204_1_915"/>
          <p:cNvSpPr/>
          <p:nvPr/>
        </p:nvSpPr>
        <p:spPr>
          <a:xfrm>
            <a:off x="6507254" y="2623414"/>
            <a:ext cx="3258600" cy="2369700"/>
          </a:xfrm>
          <a:prstGeom prst="roundRect">
            <a:avLst>
              <a:gd fmla="val 2315" name="adj"/>
            </a:avLst>
          </a:prstGeom>
          <a:solidFill>
            <a:srgbClr val="F8F8F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h7b99a9c04b46e204_1_915"/>
          <p:cNvSpPr txBox="1"/>
          <p:nvPr/>
        </p:nvSpPr>
        <p:spPr>
          <a:xfrm>
            <a:off x="6678156" y="2754763"/>
            <a:ext cx="3030600" cy="21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urier New"/>
                <a:ea typeface="Courier New"/>
                <a:cs typeface="Courier New"/>
                <a:sym typeface="Courier New"/>
              </a:rPr>
              <a:t>CREATE OR REFRESH STREAMING TABLE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catalog.schema.table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urier New"/>
                <a:ea typeface="Courier New"/>
                <a:cs typeface="Courier New"/>
                <a:sym typeface="Courier New"/>
              </a:rPr>
              <a:t>SCHEDULE EVERY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1 HOUR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urier New"/>
                <a:ea typeface="Courier New"/>
                <a:cs typeface="Courier New"/>
                <a:sym typeface="Courier New"/>
              </a:rPr>
              <a:t>FROM STREAM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read_files(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'</a:t>
            </a: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100" u="none" cap="none" strike="noStrike">
                <a:solidFill>
                  <a:srgbClr val="1B1B1B"/>
                </a:solidFill>
                <a:highlight>
                  <a:srgbClr val="E8E8E8"/>
                </a:highlight>
                <a:latin typeface="Courier New"/>
                <a:ea typeface="Courier New"/>
                <a:cs typeface="Courier New"/>
                <a:sym typeface="Courier New"/>
              </a:rPr>
              <a:t>dir_path</a:t>
            </a: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',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  format =&gt; '</a:t>
            </a: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100" u="none" cap="none" strike="noStrike">
                <a:solidFill>
                  <a:srgbClr val="1B1B1B"/>
                </a:solidFill>
                <a:highlight>
                  <a:srgbClr val="E8E8E8"/>
                </a:highlight>
                <a:latin typeface="Courier New"/>
                <a:ea typeface="Courier New"/>
                <a:cs typeface="Courier New"/>
                <a:sym typeface="Courier New"/>
              </a:rPr>
              <a:t>file_type</a:t>
            </a:r>
            <a:r>
              <a:rPr b="0" i="0" lang="en-US" sz="1100" u="none" cap="none" strike="noStrike">
                <a:solidFill>
                  <a:srgbClr val="2E9B6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2026-10-21T04:18:34Z</dcterms:created>
  <dc:creator>PptxGenJS</dc:creator>
</cp:coreProperties>
</file>